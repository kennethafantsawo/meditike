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2857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14350" y="4139803"/>
            <a:ext cx="8115300" cy="0"/>
          </a:xfrm>
          <a:prstGeom prst="line">
            <a:avLst/>
          </a:prstGeom>
          <a:noFill/>
          <a:ln w="7144">
            <a:solidFill>
              <a:srgbClr val="F5F3E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975774" y="4854178"/>
            <a:ext cx="76634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F5F3EF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Lomé, Togo · 2026</a:t>
            </a:r>
            <a:endParaRPr lang="en-US" sz="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" y="400050"/>
            <a:ext cx="228600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14350" y="400050"/>
            <a:ext cx="26431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814388" y="417909"/>
            <a:ext cx="7815263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F5F3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MediTike</a:t>
            </a:r>
            <a:endParaRPr lang="en-US" sz="1013" dirty="0"/>
          </a:p>
        </p:txBody>
      </p:sp>
      <p:sp>
        <p:nvSpPr>
          <p:cNvPr id="8" name="Text 4"/>
          <p:cNvSpPr/>
          <p:nvPr/>
        </p:nvSpPr>
        <p:spPr>
          <a:xfrm>
            <a:off x="514350" y="1698092"/>
            <a:ext cx="8629650" cy="4497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spc="-63" kern="0" dirty="0">
                <a:solidFill>
                  <a:srgbClr val="F5F3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MediTike</a:t>
            </a:r>
            <a:endParaRPr lang="en-US" sz="3150" dirty="0"/>
          </a:p>
        </p:txBody>
      </p:sp>
      <p:sp>
        <p:nvSpPr>
          <p:cNvPr id="9" name="Text 5"/>
          <p:cNvSpPr/>
          <p:nvPr/>
        </p:nvSpPr>
        <p:spPr>
          <a:xfrm>
            <a:off x="514350" y="2175272"/>
            <a:ext cx="8521065" cy="333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2025" spc="-40" kern="0" dirty="0">
                <a:solidFill>
                  <a:srgbClr val="D4B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 santé à portée de main</a:t>
            </a:r>
            <a:endParaRPr lang="en-US" sz="2025" dirty="0"/>
          </a:p>
        </p:txBody>
      </p:sp>
      <p:sp>
        <p:nvSpPr>
          <p:cNvPr id="10" name="Text 6"/>
          <p:cNvSpPr/>
          <p:nvPr/>
        </p:nvSpPr>
        <p:spPr>
          <a:xfrm>
            <a:off x="514350" y="2655243"/>
            <a:ext cx="4286250" cy="44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13" dirty="0">
                <a:solidFill>
                  <a:srgbClr val="F5F3EF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 plateforme togolaise qui connecte les patients aux pharmacies de garde en temps réel. Une demande, plusieurs réponses, un seul déplacement.</a:t>
            </a:r>
            <a:endParaRPr lang="en-US" sz="1013" dirty="0"/>
          </a:p>
        </p:txBody>
      </p:sp>
      <p:sp>
        <p:nvSpPr>
          <p:cNvPr id="11" name="Text 7"/>
          <p:cNvSpPr/>
          <p:nvPr/>
        </p:nvSpPr>
        <p:spPr>
          <a:xfrm>
            <a:off x="514350" y="4314825"/>
            <a:ext cx="1272447" cy="272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2025" b="1" dirty="0">
                <a:solidFill>
                  <a:srgbClr val="D4B88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~100</a:t>
            </a:r>
            <a:endParaRPr lang="en-US" sz="2025" dirty="0"/>
          </a:p>
        </p:txBody>
      </p:sp>
      <p:sp>
        <p:nvSpPr>
          <p:cNvPr id="12" name="Text 8"/>
          <p:cNvSpPr/>
          <p:nvPr/>
        </p:nvSpPr>
        <p:spPr>
          <a:xfrm>
            <a:off x="514350" y="4614863"/>
            <a:ext cx="94386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5F3EF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pharmacies de garde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1662596" y="4314825"/>
            <a:ext cx="960656" cy="272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2025" b="1" dirty="0">
                <a:solidFill>
                  <a:srgbClr val="D4B88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</a:t>
            </a:r>
            <a:endParaRPr lang="en-US" sz="2025" dirty="0"/>
          </a:p>
        </p:txBody>
      </p:sp>
      <p:sp>
        <p:nvSpPr>
          <p:cNvPr id="14" name="Text 10"/>
          <p:cNvSpPr/>
          <p:nvPr/>
        </p:nvSpPr>
        <p:spPr>
          <a:xfrm>
            <a:off x="1662596" y="4614863"/>
            <a:ext cx="70368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5F3EF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villes togolaises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2605906" y="4314825"/>
            <a:ext cx="1761673" cy="272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2025" b="1" dirty="0">
                <a:solidFill>
                  <a:srgbClr val="D4B88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&lt;5min</a:t>
            </a:r>
            <a:endParaRPr lang="en-US" sz="2025" dirty="0"/>
          </a:p>
        </p:txBody>
      </p:sp>
      <p:sp>
        <p:nvSpPr>
          <p:cNvPr id="16" name="Text 12"/>
          <p:cNvSpPr/>
          <p:nvPr/>
        </p:nvSpPr>
        <p:spPr>
          <a:xfrm>
            <a:off x="2605906" y="4614863"/>
            <a:ext cx="1204182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5F3EF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pour trouver son médicament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8629650" cy="3611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723"/>
              </a:lnSpc>
              <a:buNone/>
            </a:pPr>
            <a:r>
              <a:rPr lang="en-US" sz="2475" b="1" spc="-49" kern="0" dirty="0">
                <a:solidFill>
                  <a:srgbClr val="0F51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 problème</a:t>
            </a:r>
            <a:endParaRPr lang="en-US" sz="2475" dirty="0"/>
          </a:p>
        </p:txBody>
      </p:sp>
      <p:sp>
        <p:nvSpPr>
          <p:cNvPr id="3" name="Text 1"/>
          <p:cNvSpPr/>
          <p:nvPr/>
        </p:nvSpPr>
        <p:spPr>
          <a:xfrm>
            <a:off x="514350" y="788603"/>
            <a:ext cx="8629650" cy="254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dirty="0">
                <a:solidFill>
                  <a:srgbClr val="6B7C7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Trouver un médicament urgent au Togo</a:t>
            </a:r>
            <a:endParaRPr lang="en-US" sz="1238" dirty="0"/>
          </a:p>
        </p:txBody>
      </p:sp>
      <p:sp>
        <p:nvSpPr>
          <p:cNvPr id="4" name="Text 2"/>
          <p:cNvSpPr/>
          <p:nvPr/>
        </p:nvSpPr>
        <p:spPr>
          <a:xfrm>
            <a:off x="514350" y="1252947"/>
            <a:ext cx="5572125" cy="9441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1"/>
              </a:lnSpc>
              <a:buNone/>
            </a:pPr>
            <a:r>
              <a:rPr lang="en-US" sz="1013" dirty="0">
                <a:solidFill>
                  <a:srgbClr val="1A2B2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Quand on a besoin d'un médicament en urgence — la nuit, le week-end, ou dans un quartier qu'on ne connaît pas — il faut appeler une pharmacie après l'autre. Souvent le répondeur. Souvent le médicament n'est pas disponible. On perd un temps précieux, parfois avec des conséquences graves pour les maladies chroniques.</a:t>
            </a:r>
            <a:endParaRPr lang="en-US" sz="1013" dirty="0"/>
          </a:p>
        </p:txBody>
      </p:sp>
      <p:sp>
        <p:nvSpPr>
          <p:cNvPr id="5" name="Text 3"/>
          <p:cNvSpPr/>
          <p:nvPr/>
        </p:nvSpPr>
        <p:spPr>
          <a:xfrm>
            <a:off x="514350" y="3762077"/>
            <a:ext cx="2609813" cy="981373"/>
          </a:xfrm>
          <a:prstGeom prst="roundRect">
            <a:avLst>
              <a:gd name="adj" fmla="val 1552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14350" y="3776365"/>
            <a:ext cx="2609813" cy="0"/>
          </a:xfrm>
          <a:prstGeom prst="line">
            <a:avLst/>
          </a:prstGeom>
          <a:noFill/>
          <a:ln w="28575">
            <a:solidFill>
              <a:srgbClr val="0F51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20591" y="3762077"/>
            <a:ext cx="0" cy="981373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4350" y="4739878"/>
            <a:ext cx="2609813" cy="0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7922" y="3762077"/>
            <a:ext cx="0" cy="981373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4369" y="3933527"/>
            <a:ext cx="2309775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0F513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&gt;30min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64369" y="4333577"/>
            <a:ext cx="2309775" cy="259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6B7C7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temps moyen pour trouver une pharmacie qui a le médicament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267038" y="3762077"/>
            <a:ext cx="2609813" cy="981373"/>
          </a:xfrm>
          <a:prstGeom prst="roundRect">
            <a:avLst>
              <a:gd name="adj" fmla="val 1552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267038" y="3776365"/>
            <a:ext cx="2609813" cy="0"/>
          </a:xfrm>
          <a:prstGeom prst="line">
            <a:avLst/>
          </a:prstGeom>
          <a:noFill/>
          <a:ln w="28575">
            <a:solidFill>
              <a:srgbClr val="0F513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73279" y="3762077"/>
            <a:ext cx="0" cy="981373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67038" y="4739878"/>
            <a:ext cx="2609813" cy="0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70610" y="3762077"/>
            <a:ext cx="0" cy="981373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17057" y="3933527"/>
            <a:ext cx="2309775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0F513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~100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3417057" y="4333577"/>
            <a:ext cx="2309775" cy="153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6B7C7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pharmacies qui se répartissent la garde à tour de rôle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019726" y="3762077"/>
            <a:ext cx="2609924" cy="981373"/>
          </a:xfrm>
          <a:prstGeom prst="roundRect">
            <a:avLst>
              <a:gd name="adj" fmla="val 1552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019726" y="3776365"/>
            <a:ext cx="2609924" cy="0"/>
          </a:xfrm>
          <a:prstGeom prst="line">
            <a:avLst/>
          </a:prstGeom>
          <a:noFill/>
          <a:ln w="28575">
            <a:solidFill>
              <a:srgbClr val="0F513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26078" y="3762077"/>
            <a:ext cx="0" cy="981373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19726" y="4739878"/>
            <a:ext cx="2609924" cy="0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23297" y="3762077"/>
            <a:ext cx="0" cy="981373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69744" y="3933527"/>
            <a:ext cx="2309887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0F513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</a:t>
            </a:r>
            <a:endParaRPr lang="en-US" sz="2700" dirty="0"/>
          </a:p>
        </p:txBody>
      </p:sp>
      <p:sp>
        <p:nvSpPr>
          <p:cNvPr id="25" name="Text 23"/>
          <p:cNvSpPr/>
          <p:nvPr/>
        </p:nvSpPr>
        <p:spPr>
          <a:xfrm>
            <a:off x="6169744" y="4333577"/>
            <a:ext cx="2309887" cy="153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6B7C7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villes togolaises sans solution digitale centralisée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8521065" cy="3611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723"/>
              </a:lnSpc>
              <a:buNone/>
            </a:pPr>
            <a:r>
              <a:rPr lang="en-US" sz="2475" b="1" spc="-49" kern="0" dirty="0">
                <a:solidFill>
                  <a:srgbClr val="0F51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 solution MediTike</a:t>
            </a:r>
            <a:endParaRPr lang="en-US" sz="2475" dirty="0"/>
          </a:p>
        </p:txBody>
      </p:sp>
      <p:sp>
        <p:nvSpPr>
          <p:cNvPr id="3" name="Text 1"/>
          <p:cNvSpPr/>
          <p:nvPr/>
        </p:nvSpPr>
        <p:spPr>
          <a:xfrm>
            <a:off x="514350" y="788603"/>
            <a:ext cx="8115300" cy="254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dirty="0">
                <a:solidFill>
                  <a:srgbClr val="6B7C7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Une demande. Plusieurs réponses. Un seul déplacement.</a:t>
            </a:r>
            <a:endParaRPr lang="en-US" sz="1238" dirty="0"/>
          </a:p>
        </p:txBody>
      </p:sp>
      <p:sp>
        <p:nvSpPr>
          <p:cNvPr id="4" name="Text 2"/>
          <p:cNvSpPr/>
          <p:nvPr/>
        </p:nvSpPr>
        <p:spPr>
          <a:xfrm>
            <a:off x="0" y="1963750"/>
            <a:ext cx="3832812" cy="493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600" b="1" spc="-72" kern="0" dirty="0">
                <a:solidFill>
                  <a:srgbClr val="B8996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590601" y="2535250"/>
            <a:ext cx="400050" cy="400050"/>
          </a:xfrm>
          <a:prstGeom prst="roundRect">
            <a:avLst>
              <a:gd name="adj" fmla="val 38095"/>
            </a:avLst>
          </a:prstGeom>
          <a:solidFill>
            <a:srgbClr val="0F5132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645607" y="2590257"/>
            <a:ext cx="290036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F513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➤</a:t>
            </a:r>
            <a:endParaRPr lang="en-US" sz="1969" dirty="0"/>
          </a:p>
        </p:txBody>
      </p:sp>
      <p:sp>
        <p:nvSpPr>
          <p:cNvPr id="7" name="Text 5"/>
          <p:cNvSpPr/>
          <p:nvPr/>
        </p:nvSpPr>
        <p:spPr>
          <a:xfrm>
            <a:off x="274320" y="3049600"/>
            <a:ext cx="3032723" cy="208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19"/>
              </a:lnSpc>
              <a:buNone/>
            </a:pPr>
            <a:r>
              <a:rPr lang="en-US" sz="1013" b="1" spc="-20" kern="0" dirty="0">
                <a:solidFill>
                  <a:srgbClr val="1A2B2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 patient envoie sa demande</a:t>
            </a:r>
            <a:endParaRPr lang="en-US" sz="1013" dirty="0"/>
          </a:p>
        </p:txBody>
      </p:sp>
      <p:sp>
        <p:nvSpPr>
          <p:cNvPr id="8" name="Text 6"/>
          <p:cNvSpPr/>
          <p:nvPr/>
        </p:nvSpPr>
        <p:spPr>
          <a:xfrm>
            <a:off x="514350" y="3313919"/>
            <a:ext cx="2552663" cy="351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6B7C7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Il décrit le médicament, ajoute une photo si besoin. Sa demande part à toutes les pharmacies de garde en un clic.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529814" y="1963750"/>
            <a:ext cx="4084260" cy="493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600" b="1" spc="-72" kern="0" dirty="0">
                <a:solidFill>
                  <a:srgbClr val="B8996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371863" y="2535250"/>
            <a:ext cx="400050" cy="400050"/>
          </a:xfrm>
          <a:prstGeom prst="roundRect">
            <a:avLst>
              <a:gd name="adj" fmla="val 38095"/>
            </a:avLst>
          </a:prstGeom>
          <a:solidFill>
            <a:srgbClr val="0F5132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426870" y="2590257"/>
            <a:ext cx="290036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F513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969" dirty="0"/>
          </a:p>
        </p:txBody>
      </p:sp>
      <p:sp>
        <p:nvSpPr>
          <p:cNvPr id="12" name="Text 10"/>
          <p:cNvSpPr/>
          <p:nvPr/>
        </p:nvSpPr>
        <p:spPr>
          <a:xfrm>
            <a:off x="274320" y="3049600"/>
            <a:ext cx="8595248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19"/>
              </a:lnSpc>
              <a:buNone/>
            </a:pPr>
            <a:r>
              <a:rPr lang="en-US" sz="1013" b="1" spc="-20" kern="0" dirty="0">
                <a:solidFill>
                  <a:srgbClr val="1A2B2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Les pharmacies répondent</a:t>
            </a:r>
            <a:endParaRPr lang="en-US" sz="1013" dirty="0"/>
          </a:p>
        </p:txBody>
      </p:sp>
      <p:sp>
        <p:nvSpPr>
          <p:cNvPr id="13" name="Text 11"/>
          <p:cNvSpPr/>
          <p:nvPr/>
        </p:nvSpPr>
        <p:spPr>
          <a:xfrm>
            <a:off x="3295613" y="3313919"/>
            <a:ext cx="2552663" cy="351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6B7C7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Les pharmaciens voient la demande en direct. Ils répondent : disponible, prix en FCFA, message.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311043" y="1963750"/>
            <a:ext cx="3832957" cy="493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600" b="1" spc="-72" kern="0" dirty="0">
                <a:solidFill>
                  <a:srgbClr val="B8996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7153238" y="2535250"/>
            <a:ext cx="400050" cy="400050"/>
          </a:xfrm>
          <a:prstGeom prst="roundRect">
            <a:avLst>
              <a:gd name="adj" fmla="val 38095"/>
            </a:avLst>
          </a:prstGeom>
          <a:solidFill>
            <a:srgbClr val="0F5132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208245" y="2590257"/>
            <a:ext cx="290036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F513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969" dirty="0"/>
          </a:p>
        </p:txBody>
      </p:sp>
      <p:sp>
        <p:nvSpPr>
          <p:cNvPr id="17" name="Text 15"/>
          <p:cNvSpPr/>
          <p:nvPr/>
        </p:nvSpPr>
        <p:spPr>
          <a:xfrm>
            <a:off x="5836846" y="3049600"/>
            <a:ext cx="3032834" cy="208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19"/>
              </a:lnSpc>
              <a:buNone/>
            </a:pPr>
            <a:r>
              <a:rPr lang="en-US" sz="1013" b="1" spc="-20" kern="0" dirty="0">
                <a:solidFill>
                  <a:srgbClr val="1A2B2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 patient contacte la pharmacie</a:t>
            </a:r>
            <a:endParaRPr lang="en-US" sz="1013" dirty="0"/>
          </a:p>
        </p:txBody>
      </p:sp>
      <p:sp>
        <p:nvSpPr>
          <p:cNvPr id="18" name="Text 16"/>
          <p:cNvSpPr/>
          <p:nvPr/>
        </p:nvSpPr>
        <p:spPr>
          <a:xfrm>
            <a:off x="6076876" y="3313919"/>
            <a:ext cx="2552774" cy="351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6B7C7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 clic sur WhatsApp ou Appeler. Le traitement l'attend. Moins de 5 minutes au total.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391495" y="4468416"/>
            <a:ext cx="2360898" cy="271463"/>
          </a:xfrm>
          <a:prstGeom prst="roundRect">
            <a:avLst>
              <a:gd name="adj" fmla="val 3505257"/>
            </a:avLst>
          </a:prstGeom>
          <a:solidFill>
            <a:srgbClr val="B89968">
              <a:alpha val="12000"/>
            </a:srgbClr>
          </a:solidFill>
          <a:ln w="7144">
            <a:solidFill>
              <a:srgbClr val="B8996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387923" y="4464844"/>
            <a:ext cx="2368042" cy="305671"/>
          </a:xfrm>
          <a:prstGeom prst="rect">
            <a:avLst/>
          </a:prstGeom>
          <a:noFill/>
          <a:ln/>
        </p:spPr>
        <p:txBody>
          <a:bodyPr wrap="square" lIns="142875" tIns="57150" rIns="142875" bIns="57150" rtlCol="0" anchor="t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B899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⏱ Moins de 5 minutes pour tout le parcours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8521065" cy="3611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723"/>
              </a:lnSpc>
              <a:buNone/>
            </a:pPr>
            <a:r>
              <a:rPr lang="en-US" sz="2475" b="1" spc="-49" kern="0" dirty="0">
                <a:solidFill>
                  <a:srgbClr val="0F51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Traction &amp; marché</a:t>
            </a:r>
            <a:endParaRPr lang="en-US" sz="2475" dirty="0"/>
          </a:p>
        </p:txBody>
      </p:sp>
      <p:sp>
        <p:nvSpPr>
          <p:cNvPr id="3" name="Text 1"/>
          <p:cNvSpPr/>
          <p:nvPr/>
        </p:nvSpPr>
        <p:spPr>
          <a:xfrm>
            <a:off x="514350" y="788603"/>
            <a:ext cx="8629650" cy="254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dirty="0">
                <a:solidFill>
                  <a:srgbClr val="6B7C7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Déjà en service, scalable à la sous-région</a:t>
            </a:r>
            <a:endParaRPr lang="en-US" sz="1238" dirty="0"/>
          </a:p>
        </p:txBody>
      </p:sp>
      <p:sp>
        <p:nvSpPr>
          <p:cNvPr id="4" name="Text 2"/>
          <p:cNvSpPr/>
          <p:nvPr/>
        </p:nvSpPr>
        <p:spPr>
          <a:xfrm>
            <a:off x="514350" y="1252947"/>
            <a:ext cx="4554475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spc="-20" kern="0" dirty="0">
                <a:solidFill>
                  <a:srgbClr val="1A2B2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Ce qui existe déjà</a:t>
            </a:r>
            <a:endParaRPr lang="en-US" sz="1013" dirty="0"/>
          </a:p>
        </p:txBody>
      </p:sp>
      <p:sp>
        <p:nvSpPr>
          <p:cNvPr id="5" name="Text 3"/>
          <p:cNvSpPr/>
          <p:nvPr/>
        </p:nvSpPr>
        <p:spPr>
          <a:xfrm>
            <a:off x="517922" y="1592275"/>
            <a:ext cx="2104504" cy="967197"/>
          </a:xfrm>
          <a:prstGeom prst="roundRect">
            <a:avLst>
              <a:gd name="adj" fmla="val 15757"/>
            </a:avLst>
          </a:prstGeom>
          <a:solidFill>
            <a:srgbClr val="FFFFFF"/>
          </a:solidFill>
          <a:ln w="7144">
            <a:solidFill>
              <a:srgbClr val="E5E0D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455874" y="1738722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50" dirty="0">
                <a:solidFill>
                  <a:srgbClr val="0F513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664369" y="2024472"/>
            <a:ext cx="1811610" cy="2511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856"/>
              </a:lnSpc>
              <a:buNone/>
            </a:pPr>
            <a:r>
              <a:rPr lang="en-US" sz="1238" b="1" spc="-25" kern="0" dirty="0">
                <a:solidFill>
                  <a:srgbClr val="1A2B2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 ligne</a:t>
            </a:r>
            <a:endParaRPr lang="en-US" sz="1238" dirty="0"/>
          </a:p>
        </p:txBody>
      </p:sp>
      <p:sp>
        <p:nvSpPr>
          <p:cNvPr id="8" name="Text 6"/>
          <p:cNvSpPr/>
          <p:nvPr/>
        </p:nvSpPr>
        <p:spPr>
          <a:xfrm>
            <a:off x="664369" y="2303078"/>
            <a:ext cx="1811610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6B7C7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 déployée sur Vercel, accessible 24/7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743870" y="1592275"/>
            <a:ext cx="2104504" cy="967197"/>
          </a:xfrm>
          <a:prstGeom prst="roundRect">
            <a:avLst>
              <a:gd name="adj" fmla="val 15757"/>
            </a:avLst>
          </a:prstGeom>
          <a:solidFill>
            <a:srgbClr val="FFFFFF"/>
          </a:solidFill>
          <a:ln w="7144">
            <a:solidFill>
              <a:srgbClr val="E5E0D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890317" y="1738722"/>
            <a:ext cx="1811610" cy="272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2025" b="1" dirty="0">
                <a:solidFill>
                  <a:srgbClr val="0F513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~100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2890317" y="2038759"/>
            <a:ext cx="1884075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6B7C7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pharmacies de garde répertoriées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17922" y="2680915"/>
            <a:ext cx="2104504" cy="702878"/>
          </a:xfrm>
          <a:prstGeom prst="roundRect">
            <a:avLst>
              <a:gd name="adj" fmla="val 21682"/>
            </a:avLst>
          </a:prstGeom>
          <a:solidFill>
            <a:srgbClr val="FFFFFF"/>
          </a:solidFill>
          <a:ln w="7144">
            <a:solidFill>
              <a:srgbClr val="E5E0D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64369" y="2827362"/>
            <a:ext cx="1811610" cy="272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2025" b="1" dirty="0">
                <a:solidFill>
                  <a:srgbClr val="0F513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</a:t>
            </a:r>
            <a:endParaRPr lang="en-US" sz="2025" dirty="0"/>
          </a:p>
        </p:txBody>
      </p:sp>
      <p:sp>
        <p:nvSpPr>
          <p:cNvPr id="14" name="Text 12"/>
          <p:cNvSpPr/>
          <p:nvPr/>
        </p:nvSpPr>
        <p:spPr>
          <a:xfrm>
            <a:off x="664369" y="3127400"/>
            <a:ext cx="1884075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6B7C7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villes togolaises desservies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743870" y="2680915"/>
            <a:ext cx="2104504" cy="702878"/>
          </a:xfrm>
          <a:prstGeom prst="roundRect">
            <a:avLst>
              <a:gd name="adj" fmla="val 21682"/>
            </a:avLst>
          </a:prstGeom>
          <a:solidFill>
            <a:srgbClr val="FFFFFF"/>
          </a:solidFill>
          <a:ln w="7144">
            <a:solidFill>
              <a:srgbClr val="E5E0D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890317" y="2827362"/>
            <a:ext cx="1811610" cy="272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2025" b="1" dirty="0">
                <a:solidFill>
                  <a:srgbClr val="0F513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26</a:t>
            </a:r>
            <a:endParaRPr lang="en-US" sz="2025" dirty="0"/>
          </a:p>
        </p:txBody>
      </p:sp>
      <p:sp>
        <p:nvSpPr>
          <p:cNvPr id="17" name="Text 15"/>
          <p:cNvSpPr/>
          <p:nvPr/>
        </p:nvSpPr>
        <p:spPr>
          <a:xfrm>
            <a:off x="2890317" y="3127400"/>
            <a:ext cx="1884075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6B7C7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semaines de garde programmées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080546" y="1252947"/>
            <a:ext cx="3726560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spc="-20" kern="0" dirty="0">
                <a:solidFill>
                  <a:srgbClr val="1A2B2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Marché potentiel</a:t>
            </a:r>
            <a:endParaRPr lang="en-US" sz="1013" dirty="0"/>
          </a:p>
        </p:txBody>
      </p:sp>
      <p:sp>
        <p:nvSpPr>
          <p:cNvPr id="19" name="Text 17"/>
          <p:cNvSpPr/>
          <p:nvPr/>
        </p:nvSpPr>
        <p:spPr>
          <a:xfrm>
            <a:off x="5080546" y="1588703"/>
            <a:ext cx="3549104" cy="3204753"/>
          </a:xfrm>
          <a:prstGeom prst="roundRect">
            <a:avLst>
              <a:gd name="adj" fmla="val 475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080546" y="1592275"/>
            <a:ext cx="3549104" cy="0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26078" y="1588703"/>
            <a:ext cx="0" cy="3204753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80546" y="4789884"/>
            <a:ext cx="3549104" cy="0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94833" y="1588703"/>
            <a:ext cx="0" cy="3204753"/>
          </a:xfrm>
          <a:prstGeom prst="line">
            <a:avLst/>
          </a:prstGeom>
          <a:noFill/>
          <a:ln w="28575">
            <a:solidFill>
              <a:srgbClr val="B8996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51996" y="1738722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13" dirty="0">
                <a:solidFill>
                  <a:srgbClr val="B8996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2813" dirty="0"/>
          </a:p>
        </p:txBody>
      </p:sp>
      <p:sp>
        <p:nvSpPr>
          <p:cNvPr id="25" name="Text 23"/>
          <p:cNvSpPr/>
          <p:nvPr/>
        </p:nvSpPr>
        <p:spPr>
          <a:xfrm>
            <a:off x="5251996" y="2138772"/>
            <a:ext cx="3227636" cy="786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844" b="1" dirty="0">
                <a:solidFill>
                  <a:srgbClr val="1A2B2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 millions d'habitants</a:t>
            </a:r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1A2B2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au Togo. ~100 pharmacies actives. Extension naturelle vers le Bénin, Côte d'Ivoire, Ghana — pays francophones/anglophones avec les mêmes défis d'accès aux médicaments.</a:t>
            </a:r>
            <a:endParaRPr lang="en-US" sz="844" dirty="0"/>
          </a:p>
        </p:txBody>
      </p:sp>
      <p:sp>
        <p:nvSpPr>
          <p:cNvPr id="26" name="Text 24"/>
          <p:cNvSpPr/>
          <p:nvPr/>
        </p:nvSpPr>
        <p:spPr>
          <a:xfrm>
            <a:off x="5229136" y="4391320"/>
            <a:ext cx="1465094" cy="264919"/>
          </a:xfrm>
          <a:prstGeom prst="roundRect">
            <a:avLst>
              <a:gd name="adj" fmla="val 3591843"/>
            </a:avLst>
          </a:prstGeom>
          <a:solidFill>
            <a:srgbClr val="B89968">
              <a:alpha val="12000"/>
            </a:srgbClr>
          </a:solidFill>
          <a:ln w="7144">
            <a:solidFill>
              <a:srgbClr val="B8996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251996" y="4404122"/>
            <a:ext cx="1419374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B8996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CEDEAO · 400M+ habitants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0" y="571500"/>
            <a:ext cx="3286125" cy="3286125"/>
          </a:xfrm>
          <a:prstGeom prst="ellipse">
            <a:avLst/>
          </a:prstGeom>
          <a:solidFill>
            <a:srgbClr val="B89968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-857250" y="3571875"/>
            <a:ext cx="2286000" cy="2286000"/>
          </a:xfrm>
          <a:prstGeom prst="ellipse">
            <a:avLst/>
          </a:prstGeom>
          <a:solidFill>
            <a:srgbClr val="0F5132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707231" y="2628007"/>
            <a:ext cx="2224050" cy="0"/>
          </a:xfrm>
          <a:prstGeom prst="line">
            <a:avLst/>
          </a:prstGeom>
          <a:noFill/>
          <a:ln w="7144">
            <a:solidFill>
              <a:srgbClr val="E5E0D5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707231" y="3256657"/>
            <a:ext cx="2224050" cy="0"/>
          </a:xfrm>
          <a:prstGeom prst="line">
            <a:avLst/>
          </a:prstGeom>
          <a:noFill/>
          <a:ln w="7144">
            <a:solidFill>
              <a:srgbClr val="E5E0D5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3459919" y="2628007"/>
            <a:ext cx="2224050" cy="0"/>
          </a:xfrm>
          <a:prstGeom prst="line">
            <a:avLst/>
          </a:prstGeom>
          <a:noFill/>
          <a:ln w="7144">
            <a:solidFill>
              <a:srgbClr val="E5E0D5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3459919" y="3256657"/>
            <a:ext cx="2224050" cy="0"/>
          </a:xfrm>
          <a:prstGeom prst="line">
            <a:avLst/>
          </a:prstGeom>
          <a:noFill/>
          <a:ln w="7144">
            <a:solidFill>
              <a:srgbClr val="E5E0D5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6212607" y="2628007"/>
            <a:ext cx="2224162" cy="0"/>
          </a:xfrm>
          <a:prstGeom prst="line">
            <a:avLst/>
          </a:prstGeom>
          <a:noFill/>
          <a:ln w="7144">
            <a:solidFill>
              <a:srgbClr val="E5E0D5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6212607" y="3256657"/>
            <a:ext cx="2224162" cy="0"/>
          </a:xfrm>
          <a:prstGeom prst="line">
            <a:avLst/>
          </a:prstGeom>
          <a:noFill/>
          <a:ln w="7144">
            <a:solidFill>
              <a:srgbClr val="E5E0D5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514350" y="405408"/>
            <a:ext cx="648831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36" kern="0" dirty="0">
                <a:solidFill>
                  <a:srgbClr val="B8996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— MODÈLE D'AFFAIRES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016948" y="414338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B8996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$</a:t>
            </a:r>
            <a:endParaRPr lang="en-US" sz="984" dirty="0"/>
          </a:p>
        </p:txBody>
      </p:sp>
      <p:sp>
        <p:nvSpPr>
          <p:cNvPr id="12" name="Text 10"/>
          <p:cNvSpPr/>
          <p:nvPr/>
        </p:nvSpPr>
        <p:spPr>
          <a:xfrm>
            <a:off x="7174111" y="400050"/>
            <a:ext cx="169934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54" kern="0" dirty="0">
                <a:solidFill>
                  <a:srgbClr val="6B7C7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TROIS SOURCES DE REVENUS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4350" y="614363"/>
            <a:ext cx="8521065" cy="356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99"/>
              </a:lnSpc>
              <a:buNone/>
            </a:pPr>
            <a:r>
              <a:rPr lang="en-US" sz="2475" b="1" spc="-49" kern="0" dirty="0">
                <a:solidFill>
                  <a:srgbClr val="0F51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Modèle d'affaires</a:t>
            </a:r>
            <a:endParaRPr lang="en-US" sz="2475" dirty="0"/>
          </a:p>
        </p:txBody>
      </p:sp>
      <p:sp>
        <p:nvSpPr>
          <p:cNvPr id="14" name="Text 12"/>
          <p:cNvSpPr/>
          <p:nvPr/>
        </p:nvSpPr>
        <p:spPr>
          <a:xfrm>
            <a:off x="514350" y="1109290"/>
            <a:ext cx="257175" cy="21431"/>
          </a:xfrm>
          <a:prstGeom prst="roundRect">
            <a:avLst>
              <a:gd name="adj" fmla="val 88890"/>
            </a:avLst>
          </a:prstGeom>
          <a:solidFill>
            <a:srgbClr val="B899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57250" y="1030039"/>
            <a:ext cx="7772400" cy="19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13" dirty="0">
                <a:solidFill>
                  <a:srgbClr val="6B7C7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Gratuit pour les patients, premium pour les pharmacies</a:t>
            </a:r>
            <a:endParaRPr lang="en-US" sz="1013" dirty="0"/>
          </a:p>
        </p:txBody>
      </p:sp>
      <p:sp>
        <p:nvSpPr>
          <p:cNvPr id="16" name="Text 14"/>
          <p:cNvSpPr/>
          <p:nvPr/>
        </p:nvSpPr>
        <p:spPr>
          <a:xfrm>
            <a:off x="517922" y="1413570"/>
            <a:ext cx="2602669" cy="3326309"/>
          </a:xfrm>
          <a:prstGeom prst="roundRect">
            <a:avLst>
              <a:gd name="adj" fmla="val 6587"/>
            </a:avLst>
          </a:prstGeom>
          <a:solidFill>
            <a:srgbClr val="FFFFFF"/>
          </a:solidFill>
          <a:ln w="7144">
            <a:solidFill>
              <a:srgbClr val="E5E0D5"/>
            </a:solidFill>
            <a:prstDash val="solid"/>
          </a:ln>
          <a:effectLst>
            <a:outerShdw sx="100000" sy="100000" kx="0" ky="0" algn="bl" rotWithShape="0" blurRad="171450" dist="57150" dir="5400000">
              <a:srgbClr val="0F5132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760166" y="1574304"/>
            <a:ext cx="17111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11" kern="0" dirty="0">
                <a:solidFill>
                  <a:srgbClr val="0F5132">
                    <a:alpha val="3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B2C</a:t>
            </a:r>
            <a:endParaRPr lang="en-US" sz="8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7231" y="1617166"/>
            <a:ext cx="371475" cy="371475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47951" y="1657886"/>
            <a:ext cx="290036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☻</a:t>
            </a:r>
            <a:endParaRPr lang="en-US" sz="1969" dirty="0"/>
          </a:p>
        </p:txBody>
      </p:sp>
      <p:sp>
        <p:nvSpPr>
          <p:cNvPr id="20" name="Text 17"/>
          <p:cNvSpPr/>
          <p:nvPr/>
        </p:nvSpPr>
        <p:spPr>
          <a:xfrm>
            <a:off x="707231" y="2117229"/>
            <a:ext cx="2224050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1A6B4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SOURCE 01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707231" y="2252960"/>
            <a:ext cx="2224050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spc="-20" kern="0" dirty="0">
                <a:solidFill>
                  <a:srgbClr val="0F51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Patients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707231" y="2731591"/>
            <a:ext cx="2224050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6B7C7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TARIF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707231" y="2881610"/>
            <a:ext cx="2224050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2138" b="1" spc="-43" kern="0" dirty="0">
                <a:solidFill>
                  <a:srgbClr val="0F51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Gratuit</a:t>
            </a:r>
            <a:endParaRPr lang="en-US" sz="2138" dirty="0"/>
          </a:p>
        </p:txBody>
      </p:sp>
      <p:sp>
        <p:nvSpPr>
          <p:cNvPr id="24" name="Text 21"/>
          <p:cNvSpPr/>
          <p:nvPr/>
        </p:nvSpPr>
        <p:spPr>
          <a:xfrm>
            <a:off x="707231" y="3388816"/>
            <a:ext cx="2224050" cy="117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3"/>
              </a:lnSpc>
              <a:buNone/>
            </a:pPr>
            <a:r>
              <a:rPr lang="en-US" sz="800" dirty="0">
                <a:solidFill>
                  <a:srgbClr val="2C3A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Inscription et demandes gratuites pour maximiser l'adoption. C'est le volume d'utilisateurs qui crée la valeur.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3270610" y="1413570"/>
            <a:ext cx="2602669" cy="3326309"/>
          </a:xfrm>
          <a:prstGeom prst="roundRect">
            <a:avLst>
              <a:gd name="adj" fmla="val 6587"/>
            </a:avLst>
          </a:prstGeom>
          <a:solidFill>
            <a:srgbClr val="FFFFFF"/>
          </a:solidFill>
          <a:ln w="7144">
            <a:solidFill>
              <a:srgbClr val="E5E0D5"/>
            </a:solidFill>
            <a:prstDash val="solid"/>
          </a:ln>
          <a:effectLst>
            <a:outerShdw sx="100000" sy="100000" kx="0" ky="0" algn="bl" rotWithShape="0" blurRad="171450" dist="57150" dir="5400000">
              <a:srgbClr val="0F5132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4855629" y="1574304"/>
            <a:ext cx="8283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11" kern="0" dirty="0">
                <a:solidFill>
                  <a:srgbClr val="B89968">
                    <a:alpha val="5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B2B · PRINCIPAL</a:t>
            </a:r>
            <a:endParaRPr lang="en-US" sz="800" dirty="0"/>
          </a:p>
        </p:txBody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9919" y="1617166"/>
            <a:ext cx="371475" cy="371475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3500638" y="1657886"/>
            <a:ext cx="290036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🏪</a:t>
            </a:r>
            <a:endParaRPr lang="en-US" sz="1969" dirty="0"/>
          </a:p>
        </p:txBody>
      </p:sp>
      <p:sp>
        <p:nvSpPr>
          <p:cNvPr id="29" name="Text 25"/>
          <p:cNvSpPr/>
          <p:nvPr/>
        </p:nvSpPr>
        <p:spPr>
          <a:xfrm>
            <a:off x="3459919" y="2117229"/>
            <a:ext cx="2224050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B8996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SOURCE 02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3459919" y="2252960"/>
            <a:ext cx="2224050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spc="-20" kern="0" dirty="0">
                <a:solidFill>
                  <a:srgbClr val="0F51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Pharmacies</a:t>
            </a:r>
            <a:endParaRPr lang="en-US" sz="1350" dirty="0"/>
          </a:p>
        </p:txBody>
      </p:sp>
      <p:sp>
        <p:nvSpPr>
          <p:cNvPr id="31" name="Text 27"/>
          <p:cNvSpPr/>
          <p:nvPr/>
        </p:nvSpPr>
        <p:spPr>
          <a:xfrm>
            <a:off x="3459919" y="2731591"/>
            <a:ext cx="2224050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6B7C7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TARIF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3459919" y="2881610"/>
            <a:ext cx="104352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2138" b="1" spc="-43" kern="0" dirty="0">
                <a:solidFill>
                  <a:srgbClr val="B8996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5 000</a:t>
            </a:r>
            <a:endParaRPr lang="en-US" sz="2138" dirty="0"/>
          </a:p>
        </p:txBody>
      </p:sp>
      <p:sp>
        <p:nvSpPr>
          <p:cNvPr id="33" name="Text 29"/>
          <p:cNvSpPr/>
          <p:nvPr/>
        </p:nvSpPr>
        <p:spPr>
          <a:xfrm>
            <a:off x="4169271" y="3010198"/>
            <a:ext cx="151469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5" kern="0" dirty="0">
                <a:solidFill>
                  <a:srgbClr val="6B7C7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 / mois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3459919" y="3388816"/>
            <a:ext cx="2224050" cy="117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3"/>
              </a:lnSpc>
              <a:buNone/>
            </a:pPr>
            <a:r>
              <a:rPr lang="en-US" sz="800" dirty="0">
                <a:solidFill>
                  <a:srgbClr val="2C3A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Abonnement mensuel pour recevoir les demandes en temps réel, statistiques, et visibilité prioritaire. Équivalent à une seule vente de médicament.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6023297" y="1413570"/>
            <a:ext cx="2602781" cy="3326309"/>
          </a:xfrm>
          <a:prstGeom prst="roundRect">
            <a:avLst>
              <a:gd name="adj" fmla="val 6587"/>
            </a:avLst>
          </a:prstGeom>
          <a:solidFill>
            <a:srgbClr val="FFFFFF"/>
          </a:solidFill>
          <a:ln w="7144">
            <a:solidFill>
              <a:srgbClr val="E5E0D5"/>
            </a:solidFill>
            <a:prstDash val="solid"/>
          </a:ln>
          <a:effectLst>
            <a:outerShdw sx="100000" sy="100000" kx="0" ky="0" algn="bl" rotWithShape="0" blurRad="171450" dist="57150" dir="5400000">
              <a:srgbClr val="0F5132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2"/>
          <p:cNvSpPr/>
          <p:nvPr/>
        </p:nvSpPr>
        <p:spPr>
          <a:xfrm>
            <a:off x="7927553" y="1574304"/>
            <a:ext cx="50921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11" kern="0" dirty="0">
                <a:solidFill>
                  <a:srgbClr val="0F5132">
                    <a:alpha val="3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B2G · ONG</a:t>
            </a:r>
            <a:endParaRPr lang="en-US" sz="800" dirty="0"/>
          </a:p>
        </p:txBody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2607" y="1617166"/>
            <a:ext cx="371475" cy="371475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6253326" y="1657886"/>
            <a:ext cx="290036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✻</a:t>
            </a:r>
            <a:endParaRPr lang="en-US" sz="1969" dirty="0"/>
          </a:p>
        </p:txBody>
      </p:sp>
      <p:sp>
        <p:nvSpPr>
          <p:cNvPr id="39" name="Text 34"/>
          <p:cNvSpPr/>
          <p:nvPr/>
        </p:nvSpPr>
        <p:spPr>
          <a:xfrm>
            <a:off x="6212607" y="2117229"/>
            <a:ext cx="2224162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1A6B4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SOURCE 03</a:t>
            </a:r>
            <a:endParaRPr lang="en-US" sz="800" dirty="0"/>
          </a:p>
        </p:txBody>
      </p:sp>
      <p:sp>
        <p:nvSpPr>
          <p:cNvPr id="40" name="Text 35"/>
          <p:cNvSpPr/>
          <p:nvPr/>
        </p:nvSpPr>
        <p:spPr>
          <a:xfrm>
            <a:off x="6212607" y="2252960"/>
            <a:ext cx="2224162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spc="-20" kern="0" dirty="0">
                <a:solidFill>
                  <a:srgbClr val="0F51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Partenariats</a:t>
            </a:r>
            <a:endParaRPr lang="en-US" sz="1350" dirty="0"/>
          </a:p>
        </p:txBody>
      </p:sp>
      <p:sp>
        <p:nvSpPr>
          <p:cNvPr id="41" name="Text 36"/>
          <p:cNvSpPr/>
          <p:nvPr/>
        </p:nvSpPr>
        <p:spPr>
          <a:xfrm>
            <a:off x="6212607" y="2731591"/>
            <a:ext cx="2224162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6B7C7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TARIF</a:t>
            </a:r>
            <a:endParaRPr lang="en-US" sz="800" dirty="0"/>
          </a:p>
        </p:txBody>
      </p:sp>
      <p:sp>
        <p:nvSpPr>
          <p:cNvPr id="42" name="Text 37"/>
          <p:cNvSpPr/>
          <p:nvPr/>
        </p:nvSpPr>
        <p:spPr>
          <a:xfrm>
            <a:off x="6212607" y="2881610"/>
            <a:ext cx="2224162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2138" b="1" spc="-43" kern="0" dirty="0">
                <a:solidFill>
                  <a:srgbClr val="0F51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Sur devis</a:t>
            </a:r>
            <a:endParaRPr lang="en-US" sz="2138" dirty="0"/>
          </a:p>
        </p:txBody>
      </p:sp>
      <p:sp>
        <p:nvSpPr>
          <p:cNvPr id="43" name="Text 38"/>
          <p:cNvSpPr/>
          <p:nvPr/>
        </p:nvSpPr>
        <p:spPr>
          <a:xfrm>
            <a:off x="6212607" y="3388816"/>
            <a:ext cx="2224162" cy="117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3"/>
              </a:lnSpc>
              <a:buNone/>
            </a:pPr>
            <a:r>
              <a:rPr lang="en-US" sz="800" dirty="0">
                <a:solidFill>
                  <a:srgbClr val="2C3A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Ministère de la Santé, ONG, assurance maladie. Données agrégées anonymisées, intégration API, campagnes de santé publique.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43750" y="428625"/>
            <a:ext cx="2714625" cy="2714625"/>
          </a:xfrm>
          <a:prstGeom prst="ellipse">
            <a:avLst/>
          </a:prstGeom>
          <a:solidFill>
            <a:srgbClr val="0F5132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514350" y="7162502"/>
            <a:ext cx="8115300" cy="0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26078" y="7158930"/>
            <a:ext cx="0" cy="557213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4350" y="7712571"/>
            <a:ext cx="8115300" cy="0"/>
          </a:xfrm>
          <a:prstGeom prst="line">
            <a:avLst/>
          </a:prstGeom>
          <a:noFill/>
          <a:ln w="7144">
            <a:solidFill>
              <a:srgbClr val="E5E0D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8638" y="7158930"/>
            <a:ext cx="0" cy="557213"/>
          </a:xfrm>
          <a:prstGeom prst="line">
            <a:avLst/>
          </a:prstGeom>
          <a:noFill/>
          <a:ln w="28575">
            <a:solidFill>
              <a:srgbClr val="B899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4350" y="405408"/>
            <a:ext cx="676725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36" kern="0" dirty="0">
                <a:solidFill>
                  <a:srgbClr val="B8996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— CONCURRENCE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295890" y="414338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B8996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lang="en-US" sz="984" dirty="0"/>
          </a:p>
        </p:txBody>
      </p:sp>
      <p:sp>
        <p:nvSpPr>
          <p:cNvPr id="9" name="Text 7"/>
          <p:cNvSpPr/>
          <p:nvPr/>
        </p:nvSpPr>
        <p:spPr>
          <a:xfrm>
            <a:off x="7453052" y="400050"/>
            <a:ext cx="145839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54" kern="0" dirty="0">
                <a:solidFill>
                  <a:srgbClr val="6B7C7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ANALYSE COMPARATIVE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4350" y="614363"/>
            <a:ext cx="8521065" cy="356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99"/>
              </a:lnSpc>
              <a:buNone/>
            </a:pPr>
            <a:r>
              <a:rPr lang="en-US" sz="2475" b="1" spc="-49" kern="0" dirty="0">
                <a:solidFill>
                  <a:srgbClr val="0F51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 concurrence</a:t>
            </a:r>
            <a:endParaRPr lang="en-US" sz="2475" dirty="0"/>
          </a:p>
        </p:txBody>
      </p:sp>
      <p:sp>
        <p:nvSpPr>
          <p:cNvPr id="11" name="Text 9"/>
          <p:cNvSpPr/>
          <p:nvPr/>
        </p:nvSpPr>
        <p:spPr>
          <a:xfrm>
            <a:off x="514350" y="1109290"/>
            <a:ext cx="257175" cy="21431"/>
          </a:xfrm>
          <a:prstGeom prst="roundRect">
            <a:avLst>
              <a:gd name="adj" fmla="val 88890"/>
            </a:avLst>
          </a:prstGeom>
          <a:solidFill>
            <a:srgbClr val="B899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57250" y="1030039"/>
            <a:ext cx="7772400" cy="19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13" dirty="0">
                <a:solidFill>
                  <a:srgbClr val="6B7C7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MediTike est la seule solution temps réel centrée patient</a:t>
            </a:r>
            <a:endParaRPr lang="en-US" sz="1013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4350" y="1381423"/>
          <a:ext cx="8115300" cy="914400"/>
        </p:xfrm>
        <a:graphic>
          <a:graphicData uri="http://schemas.openxmlformats.org/drawingml/2006/table">
            <a:tbl>
              <a:tblPr/>
              <a:tblGrid>
                <a:gridCol w="2268252"/>
                <a:gridCol w="2916324"/>
                <a:gridCol w="291643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7C72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Critère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128588" marT="128588" marB="100013" anchor="ctr">
                    <a:lnL w="7144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7C72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Solutions actuelles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128588" marT="128588" marB="100013" anchor="ctr">
                    <a:lnL w="7144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B8996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MediTike⚡TEMPS RÉEL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128588" marT="128588" marB="100013" anchor="ctr">
                    <a:lnL w="7144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9968">
                        <a:alpha val="10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C3A32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▤Liste de garde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128588" marT="128588" marB="100013" anchor="ctr">
                    <a:lnL w="7144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3A32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PDF Ministère, difficile à trouver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128588" marT="128588" marB="100013" anchor="ctr">
                    <a:lnL w="7144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3A32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⚡Temps réel dans l'app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128588" marT="128588" marB="100013" anchor="ctr">
                    <a:lnL w="7144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C3A32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☎Contact pharmacie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128588" marT="128588" marB="100013" anchor="ctr">
                    <a:lnL w="7144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3A32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Appels un par un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128588" marT="128588" marB="100013" anchor="ctr">
                    <a:lnL w="7144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3A32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⚡Une demande → toutes les pharmacies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128588" marT="128588" marB="100013" anchor="ctr">
                    <a:lnL w="7144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C3A32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◯Disponibilité médicament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128588" marT="128588" marB="100013" anchor="ctr">
                    <a:lnL w="7144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3A32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Inconnue avant déplacement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128588" marT="128588" marB="100013" anchor="ctr">
                    <a:lnL w="7144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3A32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⚡Réponse en direct avec prix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128588" marT="128588" marB="100013" anchor="ctr">
                    <a:lnL w="7144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C3A32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◯Couverture géographique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128588" marT="128588" marB="100013" anchor="ctr">
                    <a:lnL w="7144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3A32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Lomé principalement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128588" marT="128588" marB="100013" anchor="ctr">
                    <a:lnL w="7144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3A32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⚡7 villes + extension CEDEAO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128588" marT="128588" marB="100013" anchor="ctr">
                    <a:lnL w="7144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C3A32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◉Photos ordonnance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128588" marT="128588" marB="100013" anchor="ctr">
                    <a:lnL w="7144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3A32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Non supporté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128588" marT="128588" marB="100013" anchor="ctr">
                    <a:lnL w="7144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3A32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⚡Auto-supprimées 72h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128588" marT="128588" marB="100013" anchor="ctr">
                    <a:lnL w="7144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5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514350" y="7158930"/>
            <a:ext cx="8115300" cy="557213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5132">
                <a:alpha val="3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700088" y="7280374"/>
            <a:ext cx="27985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2475" b="1" dirty="0">
                <a:solidFill>
                  <a:srgbClr val="B899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</a:t>
            </a:r>
            <a:endParaRPr lang="en-US" sz="2475" dirty="0"/>
          </a:p>
        </p:txBody>
      </p:sp>
      <p:sp>
        <p:nvSpPr>
          <p:cNvPr id="16" name="Text 13"/>
          <p:cNvSpPr/>
          <p:nvPr/>
        </p:nvSpPr>
        <p:spPr>
          <a:xfrm>
            <a:off x="989298" y="7360072"/>
            <a:ext cx="747604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b="1" i="1" dirty="0">
                <a:solidFill>
                  <a:srgbClr val="0F51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MediTike</a:t>
            </a:r>
            <a:pPr algn="l" indent="0" marL="0">
              <a:lnSpc>
                <a:spcPts val="1221"/>
              </a:lnSpc>
              <a:buNone/>
            </a:pPr>
            <a:r>
              <a:rPr lang="en-US" sz="800" i="1" dirty="0">
                <a:solidFill>
                  <a:srgbClr val="1A2B2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est la première plateforme togolaise à digitaliser le circuit complet de demande de médicaments, du patient à la pharmacie.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28575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14925"/>
            <a:ext cx="9144000" cy="2857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000250" y="0"/>
            <a:ext cx="5143500" cy="5143500"/>
          </a:xfrm>
          <a:prstGeom prst="ellipse">
            <a:avLst/>
          </a:prstGeom>
          <a:solidFill>
            <a:srgbClr val="B89968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-714375" y="-714375"/>
            <a:ext cx="2571750" cy="2571750"/>
          </a:xfrm>
          <a:prstGeom prst="ellipse">
            <a:avLst/>
          </a:prstGeom>
          <a:solidFill>
            <a:srgbClr val="0F5132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2"/>
          <p:cNvSpPr/>
          <p:nvPr/>
        </p:nvSpPr>
        <p:spPr>
          <a:xfrm>
            <a:off x="721519" y="3154747"/>
            <a:ext cx="3543300" cy="0"/>
          </a:xfrm>
          <a:prstGeom prst="line">
            <a:avLst/>
          </a:prstGeom>
          <a:noFill/>
          <a:ln w="7144">
            <a:solidFill>
              <a:srgbClr val="F5F3EF"/>
            </a:solidFill>
            <a:prstDash val="dash"/>
          </a:ln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794" y="457200"/>
            <a:ext cx="271463" cy="27146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086582" y="478988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＋</a:t>
            </a:r>
            <a:endParaRPr lang="en-US" sz="1547" dirty="0"/>
          </a:p>
        </p:txBody>
      </p:sp>
      <p:sp>
        <p:nvSpPr>
          <p:cNvPr id="9" name="Text 4"/>
          <p:cNvSpPr/>
          <p:nvPr/>
        </p:nvSpPr>
        <p:spPr>
          <a:xfrm>
            <a:off x="4329985" y="475059"/>
            <a:ext cx="841105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6"/>
              </a:lnSpc>
              <a:buNone/>
            </a:pPr>
            <a:r>
              <a:rPr lang="en-US" sz="1238" b="1" spc="-12" kern="0" dirty="0">
                <a:solidFill>
                  <a:srgbClr val="F5F3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MediTike</a:t>
            </a:r>
            <a:endParaRPr lang="en-US" sz="1238" dirty="0"/>
          </a:p>
        </p:txBody>
      </p:sp>
      <p:sp>
        <p:nvSpPr>
          <p:cNvPr id="10" name="Text 5"/>
          <p:cNvSpPr/>
          <p:nvPr/>
        </p:nvSpPr>
        <p:spPr>
          <a:xfrm>
            <a:off x="0" y="871538"/>
            <a:ext cx="8636000" cy="432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3150" b="1" spc="-79" kern="0" dirty="0">
                <a:solidFill>
                  <a:srgbClr val="F5F3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Parlons-nous</a:t>
            </a:r>
            <a:endParaRPr lang="en-US" sz="3150" dirty="0"/>
          </a:p>
        </p:txBody>
      </p:sp>
      <p:sp>
        <p:nvSpPr>
          <p:cNvPr id="11" name="Text 6"/>
          <p:cNvSpPr/>
          <p:nvPr/>
        </p:nvSpPr>
        <p:spPr>
          <a:xfrm>
            <a:off x="3180755" y="1468710"/>
            <a:ext cx="200025" cy="14288"/>
          </a:xfrm>
          <a:prstGeom prst="roundRect">
            <a:avLst>
              <a:gd name="adj" fmla="val 133329"/>
            </a:avLst>
          </a:prstGeom>
          <a:solidFill>
            <a:srgbClr val="B899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7"/>
          <p:cNvSpPr/>
          <p:nvPr/>
        </p:nvSpPr>
        <p:spPr>
          <a:xfrm>
            <a:off x="274320" y="1385888"/>
            <a:ext cx="8595360" cy="19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18"/>
              </a:lnSpc>
              <a:buNone/>
            </a:pPr>
            <a:r>
              <a:rPr lang="en-US" sz="1013" dirty="0">
                <a:solidFill>
                  <a:srgbClr val="F5F3EF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MediTike — La santé à portée de main</a:t>
            </a:r>
            <a:endParaRPr lang="en-US" sz="1013" dirty="0"/>
          </a:p>
        </p:txBody>
      </p:sp>
      <p:sp>
        <p:nvSpPr>
          <p:cNvPr id="13" name="Text 8"/>
          <p:cNvSpPr/>
          <p:nvPr/>
        </p:nvSpPr>
        <p:spPr>
          <a:xfrm>
            <a:off x="5763220" y="1468710"/>
            <a:ext cx="200025" cy="14288"/>
          </a:xfrm>
          <a:prstGeom prst="roundRect">
            <a:avLst>
              <a:gd name="adj" fmla="val 133329"/>
            </a:avLst>
          </a:prstGeom>
          <a:solidFill>
            <a:srgbClr val="B899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9"/>
          <p:cNvSpPr/>
          <p:nvPr/>
        </p:nvSpPr>
        <p:spPr>
          <a:xfrm>
            <a:off x="517922" y="1769418"/>
            <a:ext cx="3950494" cy="2841873"/>
          </a:xfrm>
          <a:prstGeom prst="roundRect">
            <a:avLst>
              <a:gd name="adj" fmla="val 6033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5F3E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0"/>
          <p:cNvSpPr/>
          <p:nvPr/>
        </p:nvSpPr>
        <p:spPr>
          <a:xfrm>
            <a:off x="721519" y="1958727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D4B8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1125" dirty="0"/>
          </a:p>
        </p:txBody>
      </p:sp>
      <p:sp>
        <p:nvSpPr>
          <p:cNvPr id="16" name="Text 11"/>
          <p:cNvSpPr/>
          <p:nvPr/>
        </p:nvSpPr>
        <p:spPr>
          <a:xfrm>
            <a:off x="892969" y="1962299"/>
            <a:ext cx="33718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24" kern="0" dirty="0">
                <a:solidFill>
                  <a:srgbClr val="D4B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NOTRE VISION</a:t>
            </a:r>
            <a:endParaRPr lang="en-US" sz="800" dirty="0"/>
          </a:p>
        </p:txBody>
      </p:sp>
      <p:sp>
        <p:nvSpPr>
          <p:cNvPr id="17" name="Text 12"/>
          <p:cNvSpPr/>
          <p:nvPr/>
        </p:nvSpPr>
        <p:spPr>
          <a:xfrm>
            <a:off x="721519" y="2158752"/>
            <a:ext cx="3543300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b="1" spc="-19" kern="0" dirty="0">
                <a:solidFill>
                  <a:srgbClr val="F5F3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Notre vision</a:t>
            </a:r>
            <a:endParaRPr lang="en-US" sz="1238" dirty="0"/>
          </a:p>
        </p:txBody>
      </p:sp>
      <p:sp>
        <p:nvSpPr>
          <p:cNvPr id="18" name="Text 13"/>
          <p:cNvSpPr/>
          <p:nvPr/>
        </p:nvSpPr>
        <p:spPr>
          <a:xfrm>
            <a:off x="721519" y="2494508"/>
            <a:ext cx="3543300" cy="570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7"/>
              </a:lnSpc>
              <a:buNone/>
            </a:pPr>
            <a:r>
              <a:rPr lang="en-US" sz="816" dirty="0">
                <a:solidFill>
                  <a:srgbClr val="F5F3EF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Devenir la plateforme de référence pour l'accès aux médicaments en </a:t>
            </a:r>
            <a:pPr algn="l" indent="0" marL="0">
              <a:lnSpc>
                <a:spcPts val="1387"/>
              </a:lnSpc>
              <a:buNone/>
            </a:pPr>
            <a:r>
              <a:rPr lang="en-US" sz="816" dirty="0">
                <a:solidFill>
                  <a:srgbClr val="D4B888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Afrique de l'Ouest</a:t>
            </a:r>
            <a:pPr algn="l" indent="0" marL="0">
              <a:lnSpc>
                <a:spcPts val="1387"/>
              </a:lnSpc>
              <a:buNone/>
            </a:pPr>
            <a:r>
              <a:rPr lang="en-US" sz="816" dirty="0">
                <a:solidFill>
                  <a:srgbClr val="F5F3EF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En 5 ans : 5 pays, 1000 pharmacies, 1 million de patients servis.</a:t>
            </a:r>
            <a:endParaRPr lang="en-US" sz="816" dirty="0"/>
          </a:p>
        </p:txBody>
      </p:sp>
      <p:sp>
        <p:nvSpPr>
          <p:cNvPr id="19" name="Text 14"/>
          <p:cNvSpPr/>
          <p:nvPr/>
        </p:nvSpPr>
        <p:spPr>
          <a:xfrm>
            <a:off x="721519" y="3286906"/>
            <a:ext cx="159484" cy="200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463" b="1" spc="-29" kern="0" dirty="0">
                <a:solidFill>
                  <a:srgbClr val="D4B88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1463" dirty="0"/>
          </a:p>
        </p:txBody>
      </p:sp>
      <p:sp>
        <p:nvSpPr>
          <p:cNvPr id="20" name="Text 15"/>
          <p:cNvSpPr/>
          <p:nvPr/>
        </p:nvSpPr>
        <p:spPr>
          <a:xfrm>
            <a:off x="721519" y="3515506"/>
            <a:ext cx="1127895" cy="142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800" spc="25" kern="0" dirty="0">
                <a:solidFill>
                  <a:srgbClr val="F5F3EF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PAYS · HORIZON 5 ANS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1926357" y="3286906"/>
            <a:ext cx="637401" cy="200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463" b="1" spc="-29" kern="0" dirty="0">
                <a:solidFill>
                  <a:srgbClr val="D4B88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1000</a:t>
            </a:r>
            <a:endParaRPr lang="en-US" sz="1463" dirty="0"/>
          </a:p>
        </p:txBody>
      </p:sp>
      <p:sp>
        <p:nvSpPr>
          <p:cNvPr id="22" name="Text 17"/>
          <p:cNvSpPr/>
          <p:nvPr/>
        </p:nvSpPr>
        <p:spPr>
          <a:xfrm>
            <a:off x="1926357" y="3515506"/>
            <a:ext cx="1281931" cy="204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800" spc="25" kern="0" dirty="0">
                <a:solidFill>
                  <a:srgbClr val="F5F3EF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PHARMACIES PARTENAIRES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3131307" y="3286906"/>
            <a:ext cx="396108" cy="20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463" b="1" spc="-29" kern="0" dirty="0">
                <a:solidFill>
                  <a:srgbClr val="D4B88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1M</a:t>
            </a:r>
            <a:endParaRPr lang="en-US" sz="1463" dirty="0"/>
          </a:p>
        </p:txBody>
      </p:sp>
      <p:sp>
        <p:nvSpPr>
          <p:cNvPr id="24" name="Text 19"/>
          <p:cNvSpPr/>
          <p:nvPr/>
        </p:nvSpPr>
        <p:spPr>
          <a:xfrm>
            <a:off x="3131307" y="3515506"/>
            <a:ext cx="876267" cy="142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800" spc="25" kern="0" dirty="0">
                <a:solidFill>
                  <a:srgbClr val="F5F3EF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PATIENTS SERVIS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4675584" y="1769418"/>
            <a:ext cx="3950494" cy="2841873"/>
          </a:xfrm>
          <a:prstGeom prst="roundRect">
            <a:avLst>
              <a:gd name="adj" fmla="val 6033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5F3E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1"/>
          <p:cNvSpPr/>
          <p:nvPr/>
        </p:nvSpPr>
        <p:spPr>
          <a:xfrm>
            <a:off x="4879181" y="1958727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D4B8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✉</a:t>
            </a:r>
            <a:endParaRPr lang="en-US" sz="1125" dirty="0"/>
          </a:p>
        </p:txBody>
      </p:sp>
      <p:sp>
        <p:nvSpPr>
          <p:cNvPr id="27" name="Text 22"/>
          <p:cNvSpPr/>
          <p:nvPr/>
        </p:nvSpPr>
        <p:spPr>
          <a:xfrm>
            <a:off x="5050631" y="1962299"/>
            <a:ext cx="33718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24" kern="0" dirty="0">
                <a:solidFill>
                  <a:srgbClr val="D4B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CONTACT</a:t>
            </a:r>
            <a:endParaRPr lang="en-US" sz="800" dirty="0"/>
          </a:p>
        </p:txBody>
      </p:sp>
      <p:sp>
        <p:nvSpPr>
          <p:cNvPr id="28" name="Text 23"/>
          <p:cNvSpPr/>
          <p:nvPr/>
        </p:nvSpPr>
        <p:spPr>
          <a:xfrm>
            <a:off x="4879181" y="2158752"/>
            <a:ext cx="3543300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b="1" spc="-19" kern="0" dirty="0">
                <a:solidFill>
                  <a:srgbClr val="F5F3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Contact</a:t>
            </a:r>
            <a:endParaRPr lang="en-US" sz="1238" dirty="0"/>
          </a:p>
        </p:txBody>
      </p:sp>
      <p:sp>
        <p:nvSpPr>
          <p:cNvPr id="29" name="Text 24"/>
          <p:cNvSpPr/>
          <p:nvPr/>
        </p:nvSpPr>
        <p:spPr>
          <a:xfrm>
            <a:off x="4879181" y="2523083"/>
            <a:ext cx="3543300" cy="1395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223"/>
              </a:lnSpc>
              <a:buSzPct val="100000"/>
              <a:buChar char="•"/>
            </a:pPr>
            <a:r>
              <a:rPr lang="en-US" sz="816" dirty="0">
                <a:solidFill>
                  <a:srgbClr val="F5F3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☎ Téléphone +228 96 41 72 70</a:t>
            </a:r>
            <a:endParaRPr lang="en-US" sz="816" dirty="0"/>
          </a:p>
          <a:p>
            <a:pPr algn="l" marL="342900" indent="-342900">
              <a:lnSpc>
                <a:spcPts val="1223"/>
              </a:lnSpc>
              <a:buSzPct val="100000"/>
              <a:buChar char="•"/>
            </a:pPr>
            <a:r>
              <a:rPr lang="en-US" sz="816" dirty="0">
                <a:solidFill>
                  <a:srgbClr val="F5F3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✉ Email contact@meditike.tg</a:t>
            </a:r>
            <a:endParaRPr lang="en-US" sz="816" dirty="0"/>
          </a:p>
          <a:p>
            <a:pPr algn="l" marL="342900" indent="-342900">
              <a:lnSpc>
                <a:spcPts val="1223"/>
              </a:lnSpc>
              <a:buSzPct val="100000"/>
              <a:buChar char="•"/>
            </a:pPr>
            <a:r>
              <a:rPr lang="en-US" sz="816" dirty="0">
                <a:solidFill>
                  <a:srgbClr val="F5F3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◎ Localisation Lomé, Togo</a:t>
            </a:r>
            <a:endParaRPr lang="en-US" sz="816" dirty="0"/>
          </a:p>
        </p:txBody>
      </p:sp>
      <p:sp>
        <p:nvSpPr>
          <p:cNvPr id="30" name="Text 25"/>
          <p:cNvSpPr/>
          <p:nvPr/>
        </p:nvSpPr>
        <p:spPr>
          <a:xfrm>
            <a:off x="4882753" y="3957191"/>
            <a:ext cx="1801341" cy="250031"/>
          </a:xfrm>
          <a:prstGeom prst="roundRect">
            <a:avLst>
              <a:gd name="adj" fmla="val 3805718"/>
            </a:avLst>
          </a:prstGeom>
          <a:solidFill>
            <a:srgbClr val="B89968">
              <a:alpha val="15000"/>
            </a:srgbClr>
          </a:solidFill>
          <a:ln w="7144">
            <a:solidFill>
              <a:srgbClr val="B8996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6"/>
          <p:cNvSpPr/>
          <p:nvPr/>
        </p:nvSpPr>
        <p:spPr>
          <a:xfrm>
            <a:off x="5157788" y="4032200"/>
            <a:ext cx="1422722" cy="128016"/>
          </a:xfrm>
          <a:prstGeom prst="rect">
            <a:avLst/>
          </a:prstGeom>
          <a:noFill/>
          <a:ln/>
        </p:spPr>
        <p:txBody>
          <a:bodyPr wrap="none" lIns="100013" tIns="57150" rIns="100013" bIns="5715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41" kern="0" dirty="0">
                <a:solidFill>
                  <a:srgbClr val="D4B88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 Android disponible</a:t>
            </a:r>
            <a:endParaRPr lang="en-US" sz="800" dirty="0"/>
          </a:p>
        </p:txBody>
      </p:sp>
      <p:sp>
        <p:nvSpPr>
          <p:cNvPr id="32" name="Text 27"/>
          <p:cNvSpPr/>
          <p:nvPr/>
        </p:nvSpPr>
        <p:spPr>
          <a:xfrm>
            <a:off x="4986338" y="4025057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D4B8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33" name="Text 28"/>
          <p:cNvSpPr/>
          <p:nvPr/>
        </p:nvSpPr>
        <p:spPr>
          <a:xfrm>
            <a:off x="3929397" y="4432697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F5F3E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914" dirty="0"/>
          </a:p>
        </p:txBody>
      </p:sp>
      <p:sp>
        <p:nvSpPr>
          <p:cNvPr id="34" name="Text 29"/>
          <p:cNvSpPr/>
          <p:nvPr/>
        </p:nvSpPr>
        <p:spPr>
          <a:xfrm>
            <a:off x="3953056" y="4414838"/>
            <a:ext cx="138790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spc="41" kern="0" dirty="0">
                <a:solidFill>
                  <a:srgbClr val="F5F3EF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medi-tike.vercel.app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2026-07-06T14:07:12Z</dcterms:created>
  <dcterms:modified xsi:type="dcterms:W3CDTF">2026-07-06T14:07:12Z</dcterms:modified>
</cp:coreProperties>
</file>