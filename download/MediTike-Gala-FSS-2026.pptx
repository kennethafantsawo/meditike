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Présenter MediTike en une phrase : plateforme numérique de demande de médicaments reliant patients et pharmacies de garde.
- Contexte : projet soumis au Gala Scientifique de la Faculté des Sciences de Santé 2026.
- Indiquer les coordonnées de contact pour les questions du jury.
- Souligner l'ancrage togolais (Lomé) et l'ambition nationale.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Décrire la situation actuelle : appel successif à plusieurs pharmacies en urgence.
- Insister sur les retards thérapeutiques pour pathologies chroniques, pédiatrie et paludisme.
- Donner les chiffres clés : 1348 pharmacies, 26 semaines, délai &gt; 30 min.
- Souligner que la liste officielle existe mais reste peu accessible en urgence.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Formuler l'hypothèse : digitalisation + diffusion temps réel = réduction des délais.
- Objectif 1 : passer de plusieurs dizaines de minutes à moins de 5 minutes.
- Objectif 2 : automatiser la liste officielle hebdomadaire du Ministère.
- Objectif 3 : confidentialité via auto-suppression des photos à 72h.
- Objectif 4 : accessibilité sur connexions modestes (web +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Présenter les 3 acteurs : Patient, Pharmacien, Admin et le flux entre eux.
- Insister sur la simplicité du parcours patient (envoi → réponse → contact).
- Mettre en avant la réponse en 1 clic côté pharmacien.
- Souligner la sécurité admin : URL secrète 32 caractères +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Décrire les 3 étapes : envoi de la demande, réception des réponses, contact direct.
- Insister sur la simplicité du parcours : moins de 30 secondes d'action côté patient.
- Mettre en avant le temps réel : notifications push instantanées côté pharmacien.
- Souligner l'auto-suppression des photos 72h après réponse (confidentialité).
- Conclure sur le temps total &lt; 5 minutes vs &gt; 30 minutes en situation actuelle.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Décrire la stack en 4 couches : Frontend, API &amp; Auth, Base de données, Storage &amp; Cron.
- Insister sur la sécurité : bcrypt, HMAC-SHA256, cookies HTTP-only, URL admin dynamique.
- Mentionner la scalabilité : Prisma ORM, PostgreSQL Supabase, migrations versionnées.
- Souligner l'auto-suppression des photos via cron (72h/7j).
- Donner les chiffres clés : 8 modèles, 14 routes, 142 fichiers, 100%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Insister sur l'auto-suppression des photos à 72h, aspect RGPD-friendly.
 - Mentionner l'URL admin secrète de 32 caractères comme mesure anti-énumération.
 - Rappeler que toutes les actions admin sont journalisées avec IP horodatée.
 - Souligner le hash bcrypt 12 rounds + HMAC-SHA256 sur les cookies.
 - Préciser que HTTPS est forcé en production via les certificats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Mettre en avant la réduction de 90% du délai patient-pharmacie de garde.
 - Insister sur l'innovation frugale et l'adaptation aux réalités togolaises.
 - Mentionner la couverture nationale : 7 villes desservies dès le lancement.
 - Rappeler l'importance de l'auto-suppression 72h pour la confidentialité.
 - Souligner les 1348 pharmacies officielles importées du Ministère.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Insister sur le fait que le projet est RÉEL et FONCTIONNEL, pas un simple concept.
 - Mentionner Vercel + Supabase (Frankfurt) et le code source sur GitHub.
 - Mettre en avant les 1348 pharmacies déjà importées et les comptes démo créés.
 - Présenter la feuille de route : court terme WhatsApp, moyen terme Mobile Money, long terme IA.
 - Souligner la documentation DEPLOYMENT.md comme preuve de maturité.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Faire le lien explicite avec les 4 critères du jury : pertinence, faisabilité, impact, qualité.
 - Cette slide est cruciale : elle synthétise la valeur scientifique du projet.
 - Souligner les notes attribuées : ÉLEVÉE, DÉMONTRÉE, MAJEUR, PROFESSIONNELLE.
 - Mettre en avant l'innovation frugale adaptable à la sous-région CEDEAO.
 - Conclure sur la citation finale pour marquer l'auditoire.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Remercier le jury pour son attention et le temps accordé à la présentation.
 - Réaffirmer la mission : santé pour tous au Togo via le numérique.
 - Donner oralement les 3 contacts : téléphone, email, localisation Lomé.
 - Laisser une impression positive et solennelle de clôture.
 - Mentionner que le code source est open sur GitHub pour transparence.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6858000" y="2857500"/>
            <a:ext cx="3429000" cy="3429000"/>
          </a:xfrm>
          <a:prstGeom prst="ellipse">
            <a:avLst/>
          </a:prstGeom>
          <a:solidFill>
            <a:srgbClr val="B89968">
              <a:alpha val="8000"/>
            </a:srgbClr>
          </a:solidFill>
          <a:ln/>
        </p:spPr>
        <p:txBody>
          <a:bodyPr wrap="square" rtlCol="0" anchor="ctr"/>
          <a:lstStyle/>
          <a:p>
            <a:pPr indent="0" marL="0">
              <a:buNone/>
            </a:pPr>
            <a:endParaRPr lang="en-US" dirty="0"/>
          </a:p>
        </p:txBody>
      </p:sp>
      <p:sp>
        <p:nvSpPr>
          <p:cNvPr id="4" name="Text 1"/>
          <p:cNvSpPr/>
          <p:nvPr/>
        </p:nvSpPr>
        <p:spPr>
          <a:xfrm>
            <a:off x="6572250" y="571500"/>
            <a:ext cx="2000250" cy="2000250"/>
          </a:xfrm>
          <a:prstGeom prst="rect">
            <a:avLst/>
          </a:prstGeom>
          <a:solidFill>
            <a:srgbClr val="FFFFFF">
              <a:alpha val="0"/>
            </a:srgbClr>
          </a:solidFill>
          <a:ln/>
        </p:spPr>
        <p:txBody>
          <a:bodyPr wrap="square" rtlCol="0" anchor="ctr"/>
          <a:lstStyle/>
          <a:p>
            <a:pPr indent="0" marL="0">
              <a:buNone/>
            </a:pPr>
            <a:endParaRPr lang="en-US" dirty="0"/>
          </a:p>
        </p:txBody>
      </p:sp>
      <p:sp>
        <p:nvSpPr>
          <p:cNvPr id="5" name="Text 2"/>
          <p:cNvSpPr/>
          <p:nvPr/>
        </p:nvSpPr>
        <p:spPr>
          <a:xfrm>
            <a:off x="517922" y="403622"/>
            <a:ext cx="1542380" cy="232172"/>
          </a:xfrm>
          <a:prstGeom prst="roundRect">
            <a:avLst>
              <a:gd name="adj" fmla="val 4098459"/>
            </a:avLst>
          </a:prstGeom>
          <a:solidFill>
            <a:srgbClr val="B89968">
              <a:alpha val="12000"/>
            </a:srgbClr>
          </a:solidFill>
          <a:ln w="7144">
            <a:solidFill>
              <a:srgbClr val="B89968"/>
            </a:solidFill>
            <a:prstDash val="solid"/>
          </a:ln>
        </p:spPr>
        <p:txBody>
          <a:bodyPr wrap="square" rtlCol="0" anchor="ctr"/>
          <a:lstStyle/>
          <a:p>
            <a:pPr indent="0" marL="0">
              <a:buNone/>
            </a:pPr>
            <a:endParaRPr lang="en-US" dirty="0"/>
          </a:p>
        </p:txBody>
      </p:sp>
      <p:sp>
        <p:nvSpPr>
          <p:cNvPr id="6" name="Text 3"/>
          <p:cNvSpPr/>
          <p:nvPr/>
        </p:nvSpPr>
        <p:spPr>
          <a:xfrm>
            <a:off x="764381" y="464344"/>
            <a:ext cx="6720260" cy="126609"/>
          </a:xfrm>
          <a:prstGeom prst="rect">
            <a:avLst/>
          </a:prstGeom>
          <a:noFill/>
          <a:ln/>
        </p:spPr>
        <p:txBody>
          <a:bodyPr wrap="none" lIns="100013" tIns="42863" rIns="100013" bIns="42863" rtlCol="0" anchor="t"/>
          <a:lstStyle/>
          <a:p>
            <a:pPr algn="l" indent="0" marL="0">
              <a:lnSpc>
                <a:spcPts val="1097"/>
              </a:lnSpc>
              <a:buNone/>
            </a:pPr>
            <a:r>
              <a:rPr lang="en-US" sz="800" b="1" dirty="0">
                <a:solidFill>
                  <a:srgbClr val="B89968"/>
                </a:solidFill>
                <a:latin typeface="Liberation Sans Narrow" pitchFamily="34" charset="0"/>
                <a:ea typeface="Liberation Sans Narrow" pitchFamily="34" charset="-122"/>
                <a:cs typeface="Liberation Sans Narrow" pitchFamily="34" charset="-120"/>
              </a:rPr>
              <a:t>Gala Scientifique FSS 2026</a:t>
            </a:r>
            <a:endParaRPr lang="en-US" sz="800" dirty="0"/>
          </a:p>
        </p:txBody>
      </p:sp>
      <p:sp>
        <p:nvSpPr>
          <p:cNvPr id="7" name="Text 4"/>
          <p:cNvSpPr/>
          <p:nvPr/>
        </p:nvSpPr>
        <p:spPr>
          <a:xfrm>
            <a:off x="621506" y="469702"/>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pic>
        <p:nvPicPr>
          <p:cNvPr id="8" name="Image 1" descr="preencoded.png">    </p:cNvPr>
          <p:cNvPicPr>
            <a:picLocks noChangeAspect="1"/>
          </p:cNvPicPr>
          <p:nvPr/>
        </p:nvPicPr>
        <p:blipFill>
          <a:blip r:embed="rId2"/>
          <a:stretch>
            <a:fillRect/>
          </a:stretch>
        </p:blipFill>
        <p:spPr>
          <a:xfrm>
            <a:off x="7498928" y="400050"/>
            <a:ext cx="371475" cy="371475"/>
          </a:xfrm>
          <a:prstGeom prst="rect">
            <a:avLst/>
          </a:prstGeom>
        </p:spPr>
      </p:pic>
      <p:sp>
        <p:nvSpPr>
          <p:cNvPr id="9" name="Text 5"/>
          <p:cNvSpPr/>
          <p:nvPr/>
        </p:nvSpPr>
        <p:spPr>
          <a:xfrm>
            <a:off x="7529289" y="430411"/>
            <a:ext cx="310753" cy="310753"/>
          </a:xfrm>
          <a:prstGeom prst="rect">
            <a:avLst/>
          </a:prstGeom>
          <a:noFill/>
          <a:ln/>
        </p:spPr>
        <p:txBody>
          <a:bodyPr wrap="none" lIns="0" tIns="0" rIns="0" bIns="0" rtlCol="0" anchor="ctr"/>
          <a:lstStyle/>
          <a:p>
            <a:pPr algn="ctr" indent="0" marL="0">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10" name="Text 6"/>
          <p:cNvSpPr/>
          <p:nvPr/>
        </p:nvSpPr>
        <p:spPr>
          <a:xfrm>
            <a:off x="7956128" y="441127"/>
            <a:ext cx="862108" cy="144018"/>
          </a:xfrm>
          <a:prstGeom prst="rect">
            <a:avLst/>
          </a:prstGeom>
          <a:noFill/>
          <a:ln/>
        </p:spPr>
        <p:txBody>
          <a:bodyPr wrap="none" lIns="0" tIns="0" rIns="0" bIns="0" rtlCol="0" anchor="t">
            <a:normAutofit/>
          </a:bodyPr>
          <a:lstStyle/>
          <a:p>
            <a:pPr algn="l" indent="0" marL="0">
              <a:lnSpc>
                <a:spcPts val="1125"/>
              </a:lnSpc>
              <a:buNone/>
            </a:pPr>
            <a:r>
              <a:rPr lang="en-US" sz="1125" b="1" spc="-23" kern="0" dirty="0">
                <a:solidFill>
                  <a:srgbClr val="0F5132"/>
                </a:solidFill>
                <a:latin typeface="Carlito" pitchFamily="34" charset="0"/>
                <a:ea typeface="Carlito" pitchFamily="34" charset="-122"/>
                <a:cs typeface="Carlito" pitchFamily="34" charset="-120"/>
              </a:rPr>
              <a:t>MediTike</a:t>
            </a:r>
            <a:endParaRPr lang="en-US" sz="1125" dirty="0"/>
          </a:p>
        </p:txBody>
      </p:sp>
      <p:sp>
        <p:nvSpPr>
          <p:cNvPr id="11" name="Text 7"/>
          <p:cNvSpPr/>
          <p:nvPr/>
        </p:nvSpPr>
        <p:spPr>
          <a:xfrm>
            <a:off x="7956128" y="612577"/>
            <a:ext cx="85187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6B7C72"/>
                </a:solidFill>
                <a:latin typeface="Carlito" pitchFamily="34" charset="0"/>
                <a:ea typeface="Carlito" pitchFamily="34" charset="-122"/>
                <a:cs typeface="Carlito" pitchFamily="34" charset="-120"/>
              </a:rPr>
              <a:t>SANTÉ · TOGO</a:t>
            </a:r>
            <a:endParaRPr lang="en-US" sz="800" dirty="0"/>
          </a:p>
        </p:txBody>
      </p:sp>
      <p:sp>
        <p:nvSpPr>
          <p:cNvPr id="12" name="Text 8"/>
          <p:cNvSpPr/>
          <p:nvPr/>
        </p:nvSpPr>
        <p:spPr>
          <a:xfrm>
            <a:off x="514350" y="1534232"/>
            <a:ext cx="342900" cy="14288"/>
          </a:xfrm>
          <a:prstGeom prst="rect">
            <a:avLst/>
          </a:prstGeom>
          <a:solidFill>
            <a:srgbClr val="B89968"/>
          </a:solidFill>
          <a:ln/>
        </p:spPr>
        <p:txBody>
          <a:bodyPr wrap="square" rtlCol="0" anchor="ctr"/>
          <a:lstStyle/>
          <a:p>
            <a:pPr indent="0" marL="0">
              <a:buNone/>
            </a:pPr>
            <a:endParaRPr lang="en-US" dirty="0"/>
          </a:p>
        </p:txBody>
      </p:sp>
      <p:sp>
        <p:nvSpPr>
          <p:cNvPr id="13" name="Text 9"/>
          <p:cNvSpPr/>
          <p:nvPr/>
        </p:nvSpPr>
        <p:spPr>
          <a:xfrm>
            <a:off x="957263" y="1477082"/>
            <a:ext cx="6129338" cy="164592"/>
          </a:xfrm>
          <a:prstGeom prst="rect">
            <a:avLst/>
          </a:prstGeom>
          <a:noFill/>
          <a:ln/>
        </p:spPr>
        <p:txBody>
          <a:bodyPr wrap="none" lIns="0" tIns="0" rIns="0" bIns="0" rtlCol="0" anchor="t"/>
          <a:lstStyle/>
          <a:p>
            <a:pPr algn="l" indent="0" marL="0">
              <a:lnSpc>
                <a:spcPts val="1013"/>
              </a:lnSpc>
              <a:buNone/>
            </a:pPr>
            <a:r>
              <a:rPr lang="en-US" sz="800" b="1" spc="149" kern="0" dirty="0">
                <a:solidFill>
                  <a:srgbClr val="B89968"/>
                </a:solidFill>
                <a:latin typeface="Carlito" pitchFamily="34" charset="0"/>
                <a:ea typeface="Carlito" pitchFamily="34" charset="-122"/>
                <a:cs typeface="Carlito" pitchFamily="34" charset="-120"/>
              </a:rPr>
              <a:t>PLATEFORME DE DEMANDE DE MÉDICAMENTS</a:t>
            </a:r>
            <a:endParaRPr lang="en-US" sz="800" dirty="0"/>
          </a:p>
        </p:txBody>
      </p:sp>
      <p:sp>
        <p:nvSpPr>
          <p:cNvPr id="14" name="Text 10"/>
          <p:cNvSpPr/>
          <p:nvPr/>
        </p:nvSpPr>
        <p:spPr>
          <a:xfrm>
            <a:off x="514350" y="1705682"/>
            <a:ext cx="8412480" cy="432054"/>
          </a:xfrm>
          <a:prstGeom prst="rect">
            <a:avLst/>
          </a:prstGeom>
          <a:noFill/>
          <a:ln/>
        </p:spPr>
        <p:txBody>
          <a:bodyPr wrap="none" lIns="0" tIns="0" rIns="0" bIns="0" rtlCol="0" anchor="t"/>
          <a:lstStyle/>
          <a:p>
            <a:pPr algn="l" indent="0" marL="0">
              <a:lnSpc>
                <a:spcPts val="3150"/>
              </a:lnSpc>
              <a:buNone/>
            </a:pPr>
            <a:r>
              <a:rPr lang="en-US" sz="3150" b="1" spc="-63" kern="0" dirty="0">
                <a:solidFill>
                  <a:srgbClr val="0F5132"/>
                </a:solidFill>
                <a:latin typeface="Carlito" pitchFamily="34" charset="0"/>
                <a:ea typeface="Carlito" pitchFamily="34" charset="-122"/>
                <a:cs typeface="Carlito" pitchFamily="34" charset="-120"/>
              </a:rPr>
              <a:t>MediTike</a:t>
            </a:r>
            <a:endParaRPr lang="en-US" sz="3150" dirty="0"/>
          </a:p>
        </p:txBody>
      </p:sp>
      <p:sp>
        <p:nvSpPr>
          <p:cNvPr id="15" name="Text 11"/>
          <p:cNvSpPr/>
          <p:nvPr/>
        </p:nvSpPr>
        <p:spPr>
          <a:xfrm>
            <a:off x="514350" y="2262894"/>
            <a:ext cx="6286500" cy="780687"/>
          </a:xfrm>
          <a:prstGeom prst="rect">
            <a:avLst/>
          </a:prstGeom>
          <a:noFill/>
          <a:ln/>
        </p:spPr>
        <p:txBody>
          <a:bodyPr wrap="square" lIns="0" tIns="0" rIns="0" bIns="0" rtlCol="0" anchor="t"/>
          <a:lstStyle/>
          <a:p>
            <a:pPr algn="l" indent="0" marL="0">
              <a:lnSpc>
                <a:spcPts val="2846"/>
              </a:lnSpc>
              <a:buNone/>
            </a:pPr>
            <a:r>
              <a:rPr lang="en-US" sz="2475" b="1" spc="-37" kern="0" dirty="0">
                <a:solidFill>
                  <a:srgbClr val="1A2B22"/>
                </a:solidFill>
                <a:latin typeface="Carlito" pitchFamily="34" charset="0"/>
                <a:ea typeface="Carlito" pitchFamily="34" charset="-122"/>
                <a:cs typeface="Carlito" pitchFamily="34" charset="-120"/>
              </a:rPr>
              <a:t>Connecter patients et pharmacies pour un meilleur accès aux médicaments au Togo</a:t>
            </a:r>
            <a:endParaRPr lang="en-US" sz="2475" dirty="0"/>
          </a:p>
        </p:txBody>
      </p:sp>
      <p:sp>
        <p:nvSpPr>
          <p:cNvPr id="16" name="Text 12"/>
          <p:cNvSpPr/>
          <p:nvPr/>
        </p:nvSpPr>
        <p:spPr>
          <a:xfrm>
            <a:off x="514350" y="3128628"/>
            <a:ext cx="5572125" cy="407221"/>
          </a:xfrm>
          <a:prstGeom prst="rect">
            <a:avLst/>
          </a:prstGeom>
          <a:noFill/>
          <a:ln/>
        </p:spPr>
        <p:txBody>
          <a:bodyPr wrap="square" lIns="0" tIns="0" rIns="0" bIns="0" rtlCol="0" anchor="t"/>
          <a:lstStyle/>
          <a:p>
            <a:pPr algn="l" indent="0" marL="0">
              <a:lnSpc>
                <a:spcPts val="1485"/>
              </a:lnSpc>
              <a:buNone/>
            </a:pPr>
            <a:r>
              <a:rPr lang="en-US" sz="900" dirty="0">
                <a:solidFill>
                  <a:srgbClr val="6B7C72"/>
                </a:solidFill>
                <a:latin typeface="Carlito" pitchFamily="34" charset="0"/>
                <a:ea typeface="Carlito" pitchFamily="34" charset="-122"/>
                <a:cs typeface="Carlito" pitchFamily="34" charset="-120"/>
              </a:rPr>
              <a:t>Une plateforme numérique scientifique et sécurisée, conçue pour réduire les délais d'accès aux médicaments et améliorer l'efficacité du système de garde pharmaceutique togolais.</a:t>
            </a:r>
            <a:endParaRPr lang="en-US" sz="900" dirty="0"/>
          </a:p>
        </p:txBody>
      </p:sp>
      <p:sp>
        <p:nvSpPr>
          <p:cNvPr id="17" name="Text 13"/>
          <p:cNvSpPr/>
          <p:nvPr/>
        </p:nvSpPr>
        <p:spPr>
          <a:xfrm>
            <a:off x="514350" y="4223742"/>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18" name="Text 14"/>
          <p:cNvSpPr/>
          <p:nvPr/>
        </p:nvSpPr>
        <p:spPr>
          <a:xfrm>
            <a:off x="685800" y="4211241"/>
            <a:ext cx="1399851" cy="164592"/>
          </a:xfrm>
          <a:prstGeom prst="rect">
            <a:avLst/>
          </a:prstGeom>
          <a:noFill/>
          <a:ln/>
        </p:spPr>
        <p:txBody>
          <a:bodyPr wrap="none" lIns="0" tIns="0" rIns="0" bIns="0" rtlCol="0" anchor="t"/>
          <a:lstStyle/>
          <a:p>
            <a:pPr algn="l" indent="0" marL="0">
              <a:lnSpc>
                <a:spcPts val="1097"/>
              </a:lnSpc>
              <a:buNone/>
            </a:pPr>
            <a:r>
              <a:rPr lang="en-US" sz="800" dirty="0">
                <a:solidFill>
                  <a:srgbClr val="6B7C72"/>
                </a:solidFill>
                <a:latin typeface="Carlito" pitchFamily="34" charset="0"/>
                <a:ea typeface="Carlito" pitchFamily="34" charset="-122"/>
                <a:cs typeface="Carlito" pitchFamily="34" charset="-120"/>
              </a:rPr>
              <a:t>Téléphone :</a:t>
            </a:r>
            <a:pPr algn="l" indent="0" marL="0">
              <a:lnSpc>
                <a:spcPts val="1097"/>
              </a:lnSpc>
              <a:buNone/>
            </a:pPr>
            <a:r>
              <a:rPr lang="en-US" sz="800" dirty="0">
                <a:solidFill>
                  <a:srgbClr val="1A2B22"/>
                </a:solidFill>
                <a:latin typeface="Liberation Sans Narrow" pitchFamily="34" charset="0"/>
                <a:ea typeface="Liberation Sans Narrow" pitchFamily="34" charset="-122"/>
                <a:cs typeface="Liberation Sans Narrow" pitchFamily="34" charset="-120"/>
              </a:rPr>
              <a:t> +228 96 41 72 70</a:t>
            </a:r>
            <a:endParaRPr lang="en-US" sz="800" dirty="0"/>
          </a:p>
        </p:txBody>
      </p:sp>
      <p:sp>
        <p:nvSpPr>
          <p:cNvPr id="19" name="Text 15"/>
          <p:cNvSpPr/>
          <p:nvPr/>
        </p:nvSpPr>
        <p:spPr>
          <a:xfrm>
            <a:off x="514350" y="4420195"/>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20" name="Text 16"/>
          <p:cNvSpPr/>
          <p:nvPr/>
        </p:nvSpPr>
        <p:spPr>
          <a:xfrm>
            <a:off x="685800" y="4407694"/>
            <a:ext cx="1272592" cy="164592"/>
          </a:xfrm>
          <a:prstGeom prst="rect">
            <a:avLst/>
          </a:prstGeom>
          <a:noFill/>
          <a:ln/>
        </p:spPr>
        <p:txBody>
          <a:bodyPr wrap="square" lIns="0" tIns="0" rIns="0" bIns="0" rtlCol="0" anchor="t"/>
          <a:lstStyle/>
          <a:p>
            <a:pPr algn="l" indent="0" marL="0">
              <a:lnSpc>
                <a:spcPts val="1097"/>
              </a:lnSpc>
              <a:buNone/>
            </a:pPr>
            <a:r>
              <a:rPr lang="en-US" sz="800" dirty="0">
                <a:solidFill>
                  <a:srgbClr val="6B7C72"/>
                </a:solidFill>
                <a:latin typeface="Carlito" pitchFamily="34" charset="0"/>
                <a:ea typeface="Carlito" pitchFamily="34" charset="-122"/>
                <a:cs typeface="Carlito" pitchFamily="34" charset="-120"/>
              </a:rPr>
              <a:t>Email :</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 contact@meditike.tg</a:t>
            </a:r>
            <a:endParaRPr lang="en-US" sz="800" dirty="0"/>
          </a:p>
        </p:txBody>
      </p:sp>
      <p:sp>
        <p:nvSpPr>
          <p:cNvPr id="21" name="Text 17"/>
          <p:cNvSpPr/>
          <p:nvPr/>
        </p:nvSpPr>
        <p:spPr>
          <a:xfrm>
            <a:off x="514350" y="4616648"/>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22" name="Text 18"/>
          <p:cNvSpPr/>
          <p:nvPr/>
        </p:nvSpPr>
        <p:spPr>
          <a:xfrm>
            <a:off x="685800" y="4604147"/>
            <a:ext cx="1272592" cy="164592"/>
          </a:xfrm>
          <a:prstGeom prst="rect">
            <a:avLst/>
          </a:prstGeom>
          <a:noFill/>
          <a:ln/>
        </p:spPr>
        <p:txBody>
          <a:bodyPr wrap="none" lIns="0" tIns="0" rIns="0" bIns="0" rtlCol="0" anchor="t"/>
          <a:lstStyle/>
          <a:p>
            <a:pPr algn="l" indent="0" marL="0">
              <a:lnSpc>
                <a:spcPts val="1097"/>
              </a:lnSpc>
              <a:buNone/>
            </a:pPr>
            <a:r>
              <a:rPr lang="en-US" sz="800" dirty="0">
                <a:solidFill>
                  <a:srgbClr val="6B7C72"/>
                </a:solidFill>
                <a:latin typeface="Carlito" pitchFamily="34" charset="0"/>
                <a:ea typeface="Carlito" pitchFamily="34" charset="-122"/>
                <a:cs typeface="Carlito" pitchFamily="34" charset="-120"/>
              </a:rPr>
              <a:t>Localisation :</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 Lomé, Togo</a:t>
            </a:r>
            <a:endParaRPr lang="en-US" sz="800" dirty="0"/>
          </a:p>
        </p:txBody>
      </p:sp>
      <p:sp>
        <p:nvSpPr>
          <p:cNvPr id="23" name="Text 19"/>
          <p:cNvSpPr/>
          <p:nvPr/>
        </p:nvSpPr>
        <p:spPr>
          <a:xfrm>
            <a:off x="6343650" y="4499893"/>
            <a:ext cx="2286000" cy="340094"/>
          </a:xfrm>
          <a:prstGeom prst="rect">
            <a:avLst/>
          </a:prstGeom>
          <a:noFill/>
          <a:ln/>
        </p:spPr>
        <p:txBody>
          <a:bodyPr wrap="square" lIns="0" tIns="0" rIns="0" bIns="0" rtlCol="0" anchor="t"/>
          <a:lstStyle/>
          <a:p>
            <a:pPr algn="r" indent="0" marL="0">
              <a:lnSpc>
                <a:spcPts val="959"/>
              </a:lnSpc>
              <a:buNone/>
            </a:pPr>
            <a:r>
              <a:rPr lang="en-US" sz="800" dirty="0">
                <a:solidFill>
                  <a:srgbClr val="6B7C72"/>
                </a:solidFill>
                <a:latin typeface="Carlito" pitchFamily="34" charset="0"/>
                <a:ea typeface="Carlito" pitchFamily="34" charset="-122"/>
                <a:cs typeface="Carlito" pitchFamily="34" charset="-120"/>
              </a:rPr>
              <a:t>Projet soumis dans le cadre du Gala Scientifique de la Faculté des Sciences de Santé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14350" y="400050"/>
            <a:ext cx="769918"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B89968"/>
                </a:solidFill>
                <a:latin typeface="Liberation Sans Narrow" pitchFamily="34" charset="0"/>
                <a:ea typeface="Liberation Sans Narrow" pitchFamily="34" charset="-122"/>
                <a:cs typeface="Liberation Sans Narrow" pitchFamily="34" charset="-120"/>
              </a:rPr>
              <a:t>01</a:t>
            </a:r>
            <a:endParaRPr lang="en-US" sz="3600" dirty="0"/>
          </a:p>
        </p:txBody>
      </p:sp>
      <p:sp>
        <p:nvSpPr>
          <p:cNvPr id="3" name="Text 1"/>
          <p:cNvSpPr/>
          <p:nvPr/>
        </p:nvSpPr>
        <p:spPr>
          <a:xfrm>
            <a:off x="1109849" y="678656"/>
            <a:ext cx="449520" cy="164592"/>
          </a:xfrm>
          <a:prstGeom prst="rect">
            <a:avLst/>
          </a:prstGeom>
          <a:noFill/>
          <a:ln/>
        </p:spPr>
        <p:txBody>
          <a:bodyPr wrap="none" lIns="0" tIns="0" rIns="0" bIns="0" rtlCol="0" anchor="t"/>
          <a:lstStyle/>
          <a:p>
            <a:pPr algn="l" indent="0" marL="0">
              <a:lnSpc>
                <a:spcPts val="1181"/>
              </a:lnSpc>
              <a:buNone/>
            </a:pPr>
            <a:r>
              <a:rPr lang="en-US" sz="800" b="1" spc="79" kern="0" dirty="0">
                <a:solidFill>
                  <a:srgbClr val="6B7C72"/>
                </a:solidFill>
                <a:latin typeface="Liberation Sans Narrow" pitchFamily="34" charset="0"/>
                <a:ea typeface="Liberation Sans Narrow" pitchFamily="34" charset="-122"/>
                <a:cs typeface="Liberation Sans Narrow" pitchFamily="34" charset="-120"/>
              </a:rPr>
              <a:t>/ 06</a:t>
            </a:r>
            <a:endParaRPr lang="en-US" sz="800" dirty="0"/>
          </a:p>
        </p:txBody>
      </p:sp>
      <p:pic>
        <p:nvPicPr>
          <p:cNvPr id="4" name="Image 0" descr="preencoded.png">    </p:cNvPr>
          <p:cNvPicPr>
            <a:picLocks noChangeAspect="1"/>
          </p:cNvPicPr>
          <p:nvPr/>
        </p:nvPicPr>
        <p:blipFill>
          <a:blip r:embed="rId1"/>
          <a:stretch>
            <a:fillRect/>
          </a:stretch>
        </p:blipFill>
        <p:spPr>
          <a:xfrm>
            <a:off x="7731435" y="448270"/>
            <a:ext cx="300038" cy="21431"/>
          </a:xfrm>
          <a:prstGeom prst="rect">
            <a:avLst/>
          </a:prstGeom>
        </p:spPr>
      </p:pic>
      <p:sp>
        <p:nvSpPr>
          <p:cNvPr id="5" name="Text 2"/>
          <p:cNvSpPr/>
          <p:nvPr/>
        </p:nvSpPr>
        <p:spPr>
          <a:xfrm>
            <a:off x="8088623" y="400050"/>
            <a:ext cx="767836"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C72"/>
                </a:solidFill>
                <a:latin typeface="Carlito" pitchFamily="34" charset="0"/>
                <a:ea typeface="Carlito" pitchFamily="34" charset="-122"/>
                <a:cs typeface="Carlito" pitchFamily="34" charset="-120"/>
              </a:rPr>
              <a:t>CONTEXTE</a:t>
            </a:r>
            <a:endParaRPr lang="en-US" sz="800" dirty="0"/>
          </a:p>
        </p:txBody>
      </p:sp>
      <p:sp>
        <p:nvSpPr>
          <p:cNvPr id="6" name="Text 3"/>
          <p:cNvSpPr/>
          <p:nvPr/>
        </p:nvSpPr>
        <p:spPr>
          <a:xfrm>
            <a:off x="514350" y="985838"/>
            <a:ext cx="8629650"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0F5132"/>
                </a:solidFill>
                <a:latin typeface="Carlito" pitchFamily="34" charset="0"/>
                <a:ea typeface="Carlito" pitchFamily="34" charset="-122"/>
                <a:cs typeface="Carlito" pitchFamily="34" charset="-120"/>
              </a:rPr>
              <a:t>Problématique</a:t>
            </a:r>
            <a:endParaRPr lang="en-US" sz="2475" dirty="0"/>
          </a:p>
        </p:txBody>
      </p:sp>
      <p:sp>
        <p:nvSpPr>
          <p:cNvPr id="7" name="Text 4"/>
          <p:cNvSpPr/>
          <p:nvPr/>
        </p:nvSpPr>
        <p:spPr>
          <a:xfrm>
            <a:off x="514350" y="1402966"/>
            <a:ext cx="8115300" cy="229046"/>
          </a:xfrm>
          <a:prstGeom prst="rect">
            <a:avLst/>
          </a:prstGeom>
          <a:noFill/>
          <a:ln/>
        </p:spPr>
        <p:txBody>
          <a:bodyPr wrap="square" lIns="0" tIns="0" rIns="0" bIns="0" rtlCol="0" anchor="t"/>
          <a:lstStyle/>
          <a:p>
            <a:pPr algn="l" indent="0" marL="0">
              <a:lnSpc>
                <a:spcPts val="1671"/>
              </a:lnSpc>
              <a:buNone/>
            </a:pPr>
            <a:r>
              <a:rPr lang="en-US" sz="1238" dirty="0">
                <a:solidFill>
                  <a:srgbClr val="6B7C72"/>
                </a:solidFill>
                <a:latin typeface="Carlito" pitchFamily="34" charset="0"/>
                <a:ea typeface="Carlito" pitchFamily="34" charset="-122"/>
                <a:cs typeface="Carlito" pitchFamily="34" charset="-120"/>
              </a:rPr>
              <a:t>L'accès aux médicaments au Togo : un défi de santé publique</a:t>
            </a:r>
            <a:endParaRPr lang="en-US" sz="1238" dirty="0"/>
          </a:p>
        </p:txBody>
      </p:sp>
      <p:sp>
        <p:nvSpPr>
          <p:cNvPr id="8" name="Text 5"/>
          <p:cNvSpPr/>
          <p:nvPr/>
        </p:nvSpPr>
        <p:spPr>
          <a:xfrm>
            <a:off x="514350" y="1815071"/>
            <a:ext cx="21431" cy="1025351"/>
          </a:xfrm>
          <a:prstGeom prst="roundRect">
            <a:avLst>
              <a:gd name="adj" fmla="val 88890"/>
            </a:avLst>
          </a:prstGeom>
          <a:solidFill>
            <a:srgbClr val="0F5132"/>
          </a:solidFill>
          <a:ln/>
        </p:spPr>
        <p:txBody>
          <a:bodyPr wrap="square" rtlCol="0" anchor="ctr"/>
          <a:lstStyle/>
          <a:p>
            <a:pPr indent="0" marL="0">
              <a:buNone/>
            </a:pPr>
            <a:endParaRPr lang="en-US" dirty="0"/>
          </a:p>
        </p:txBody>
      </p:sp>
      <p:sp>
        <p:nvSpPr>
          <p:cNvPr id="9" name="Text 6"/>
          <p:cNvSpPr/>
          <p:nvPr/>
        </p:nvSpPr>
        <p:spPr>
          <a:xfrm>
            <a:off x="650081" y="1815071"/>
            <a:ext cx="3807619" cy="1107379"/>
          </a:xfrm>
          <a:prstGeom prst="rect">
            <a:avLst/>
          </a:prstGeom>
          <a:noFill/>
          <a:ln/>
        </p:spPr>
        <p:txBody>
          <a:bodyPr wrap="square" lIns="0" tIns="0" rIns="0" bIns="0" rtlCol="0" anchor="t"/>
          <a:lstStyle/>
          <a:p>
            <a:pPr algn="l" indent="0" marL="0">
              <a:lnSpc>
                <a:spcPts val="1346"/>
              </a:lnSpc>
              <a:buNone/>
            </a:pPr>
            <a:r>
              <a:rPr lang="en-US" sz="816" dirty="0">
                <a:solidFill>
                  <a:srgbClr val="1A2B22"/>
                </a:solidFill>
                <a:latin typeface="Carlito" pitchFamily="34" charset="0"/>
                <a:ea typeface="Carlito" pitchFamily="34" charset="-122"/>
                <a:cs typeface="Carlito" pitchFamily="34" charset="-120"/>
              </a:rPr>
              <a:t>Au Togo, l'accès aux médicaments en dehors des heures d'ouverture classiques demeure un défi majeur de santé publique. Lorsqu'un patient a besoin d'un médicament en urgence — particulièrement la nuit, le week-end, ou dans les zones mal couvertes — il doit appeler successivement plusieurs pharmacies pour identifier celle qui dispose du produit recherché.</a:t>
            </a:r>
            <a:endParaRPr lang="en-US" sz="816" dirty="0"/>
          </a:p>
        </p:txBody>
      </p:sp>
      <p:sp>
        <p:nvSpPr>
          <p:cNvPr id="10" name="Text 7"/>
          <p:cNvSpPr/>
          <p:nvPr/>
        </p:nvSpPr>
        <p:spPr>
          <a:xfrm>
            <a:off x="4686300" y="1815071"/>
            <a:ext cx="21431" cy="1025351"/>
          </a:xfrm>
          <a:prstGeom prst="roundRect">
            <a:avLst>
              <a:gd name="adj" fmla="val 88890"/>
            </a:avLst>
          </a:prstGeom>
          <a:solidFill>
            <a:srgbClr val="B89968"/>
          </a:solidFill>
          <a:ln/>
        </p:spPr>
        <p:txBody>
          <a:bodyPr wrap="square" rtlCol="0" anchor="ctr"/>
          <a:lstStyle/>
          <a:p>
            <a:pPr indent="0" marL="0">
              <a:buNone/>
            </a:pPr>
            <a:endParaRPr lang="en-US" dirty="0"/>
          </a:p>
        </p:txBody>
      </p:sp>
      <p:sp>
        <p:nvSpPr>
          <p:cNvPr id="11" name="Text 8"/>
          <p:cNvSpPr/>
          <p:nvPr/>
        </p:nvSpPr>
        <p:spPr>
          <a:xfrm>
            <a:off x="4822031" y="1815071"/>
            <a:ext cx="3807619" cy="1107379"/>
          </a:xfrm>
          <a:prstGeom prst="rect">
            <a:avLst/>
          </a:prstGeom>
          <a:noFill/>
          <a:ln/>
        </p:spPr>
        <p:txBody>
          <a:bodyPr wrap="square" lIns="0" tIns="0" rIns="0" bIns="0" rtlCol="0" anchor="t"/>
          <a:lstStyle/>
          <a:p>
            <a:pPr algn="l" indent="0" marL="0">
              <a:lnSpc>
                <a:spcPts val="1346"/>
              </a:lnSpc>
              <a:buNone/>
            </a:pPr>
            <a:r>
              <a:rPr lang="en-US" sz="816" dirty="0">
                <a:solidFill>
                  <a:srgbClr val="1A2B22"/>
                </a:solidFill>
                <a:latin typeface="Carlito" pitchFamily="34" charset="0"/>
                <a:ea typeface="Carlito" pitchFamily="34" charset="-122"/>
                <a:cs typeface="Carlito" pitchFamily="34" charset="-120"/>
              </a:rPr>
              <a:t>Cette situation engendre des retards préjudiciables à la prise en charge thérapeutique, particulièrement pour les pathologies chroniques (diabète, hypertension, infections), les urgences pédiatriques et les traitements antipaludiques. Le Ministère de la Santé publie hebdomadairement la liste officielle des pharmacies de garde, mais cette information reste difficilement accessible aux citoyens dans le feu de l'urgence.</a:t>
            </a:r>
            <a:endParaRPr lang="en-US" sz="816" dirty="0"/>
          </a:p>
        </p:txBody>
      </p:sp>
      <p:sp>
        <p:nvSpPr>
          <p:cNvPr id="12" name="Text 9"/>
          <p:cNvSpPr/>
          <p:nvPr/>
        </p:nvSpPr>
        <p:spPr>
          <a:xfrm>
            <a:off x="517922" y="3058306"/>
            <a:ext cx="2602669" cy="1069777"/>
          </a:xfrm>
          <a:prstGeom prst="roundRect">
            <a:avLst>
              <a:gd name="adj" fmla="val 14246"/>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13" name="Text 10"/>
          <p:cNvSpPr/>
          <p:nvPr/>
        </p:nvSpPr>
        <p:spPr>
          <a:xfrm>
            <a:off x="821531" y="3204753"/>
            <a:ext cx="1196201" cy="119703"/>
          </a:xfrm>
          <a:prstGeom prst="rect">
            <a:avLst/>
          </a:prstGeom>
          <a:noFill/>
          <a:ln/>
        </p:spPr>
        <p:txBody>
          <a:bodyPr wrap="none" lIns="0" tIns="0" rIns="0" bIns="0" rtlCol="0" anchor="t"/>
          <a:lstStyle/>
          <a:p>
            <a:pPr algn="l" indent="0" marL="0">
              <a:lnSpc>
                <a:spcPts val="928"/>
              </a:lnSpc>
              <a:buNone/>
            </a:pPr>
            <a:r>
              <a:rPr lang="en-US" sz="800" b="1" spc="99" kern="0" dirty="0">
                <a:solidFill>
                  <a:srgbClr val="B89968"/>
                </a:solidFill>
                <a:latin typeface="Carlito" pitchFamily="34" charset="0"/>
                <a:ea typeface="Carlito" pitchFamily="34" charset="-122"/>
                <a:cs typeface="Carlito" pitchFamily="34" charset="-120"/>
              </a:rPr>
              <a:t>RÉFÉRENCEMENT</a:t>
            </a:r>
            <a:endParaRPr lang="en-US" sz="800" dirty="0"/>
          </a:p>
        </p:txBody>
      </p:sp>
      <p:sp>
        <p:nvSpPr>
          <p:cNvPr id="14" name="Text 11"/>
          <p:cNvSpPr/>
          <p:nvPr/>
        </p:nvSpPr>
        <p:spPr>
          <a:xfrm>
            <a:off x="664369" y="3199395"/>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15" name="Text 12"/>
          <p:cNvSpPr/>
          <p:nvPr/>
        </p:nvSpPr>
        <p:spPr>
          <a:xfrm>
            <a:off x="664369" y="3365488"/>
            <a:ext cx="2309775" cy="339471"/>
          </a:xfrm>
          <a:prstGeom prst="rect">
            <a:avLst/>
          </a:prstGeom>
          <a:noFill/>
          <a:ln/>
        </p:spPr>
        <p:txBody>
          <a:bodyPr wrap="none" lIns="0" tIns="0" rIns="0" bIns="0" rtlCol="0" anchor="t"/>
          <a:lstStyle/>
          <a:p>
            <a:pPr algn="l" indent="0" marL="0">
              <a:lnSpc>
                <a:spcPts val="2475"/>
              </a:lnSpc>
              <a:buNone/>
            </a:pPr>
            <a:r>
              <a:rPr lang="en-US" sz="2475" b="1" dirty="0">
                <a:solidFill>
                  <a:srgbClr val="0F5132"/>
                </a:solidFill>
                <a:latin typeface="Liberation Sans Narrow" pitchFamily="34" charset="0"/>
                <a:ea typeface="Liberation Sans Narrow" pitchFamily="34" charset="-122"/>
                <a:cs typeface="Liberation Sans Narrow" pitchFamily="34" charset="-120"/>
              </a:rPr>
              <a:t>1348</a:t>
            </a:r>
            <a:endParaRPr lang="en-US" sz="2475" dirty="0"/>
          </a:p>
        </p:txBody>
      </p:sp>
      <p:sp>
        <p:nvSpPr>
          <p:cNvPr id="16" name="Text 13"/>
          <p:cNvSpPr/>
          <p:nvPr/>
        </p:nvSpPr>
        <p:spPr>
          <a:xfrm>
            <a:off x="664369" y="3736963"/>
            <a:ext cx="2309775" cy="258961"/>
          </a:xfrm>
          <a:prstGeom prst="rect">
            <a:avLst/>
          </a:prstGeom>
          <a:noFill/>
          <a:ln/>
        </p:spPr>
        <p:txBody>
          <a:bodyPr wrap="square" lIns="0" tIns="0" rIns="0" bIns="0" rtlCol="0" anchor="t"/>
          <a:lstStyle/>
          <a:p>
            <a:pPr algn="l" indent="0" marL="0">
              <a:lnSpc>
                <a:spcPts val="1020"/>
              </a:lnSpc>
              <a:buNone/>
            </a:pPr>
            <a:r>
              <a:rPr lang="en-US" sz="800" dirty="0">
                <a:solidFill>
                  <a:srgbClr val="6B7C72"/>
                </a:solidFill>
                <a:latin typeface="Carlito" pitchFamily="34" charset="0"/>
                <a:ea typeface="Carlito" pitchFamily="34" charset="-122"/>
                <a:cs typeface="Carlito" pitchFamily="34" charset="-120"/>
              </a:rPr>
              <a:t>pharmacies de garde référencées dans le fichier officiel Ministère 2026-2027</a:t>
            </a:r>
            <a:endParaRPr lang="en-US" sz="800" dirty="0"/>
          </a:p>
        </p:txBody>
      </p:sp>
      <p:sp>
        <p:nvSpPr>
          <p:cNvPr id="17" name="Text 14"/>
          <p:cNvSpPr/>
          <p:nvPr/>
        </p:nvSpPr>
        <p:spPr>
          <a:xfrm>
            <a:off x="3270610" y="3058306"/>
            <a:ext cx="2602669" cy="1069777"/>
          </a:xfrm>
          <a:prstGeom prst="roundRect">
            <a:avLst>
              <a:gd name="adj" fmla="val 14246"/>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18" name="Text 15"/>
          <p:cNvSpPr/>
          <p:nvPr/>
        </p:nvSpPr>
        <p:spPr>
          <a:xfrm>
            <a:off x="3574219" y="3204753"/>
            <a:ext cx="1206015" cy="119703"/>
          </a:xfrm>
          <a:prstGeom prst="rect">
            <a:avLst/>
          </a:prstGeom>
          <a:noFill/>
          <a:ln/>
        </p:spPr>
        <p:txBody>
          <a:bodyPr wrap="none" lIns="0" tIns="0" rIns="0" bIns="0" rtlCol="0" anchor="t"/>
          <a:lstStyle/>
          <a:p>
            <a:pPr algn="l" indent="0" marL="0">
              <a:lnSpc>
                <a:spcPts val="928"/>
              </a:lnSpc>
              <a:buNone/>
            </a:pPr>
            <a:r>
              <a:rPr lang="en-US" sz="800" b="1" spc="99" kern="0" dirty="0">
                <a:solidFill>
                  <a:srgbClr val="B89968"/>
                </a:solidFill>
                <a:latin typeface="Carlito" pitchFamily="34" charset="0"/>
                <a:ea typeface="Carlito" pitchFamily="34" charset="-122"/>
                <a:cs typeface="Carlito" pitchFamily="34" charset="-120"/>
              </a:rPr>
              <a:t>PROGRAMMATION</a:t>
            </a:r>
            <a:endParaRPr lang="en-US" sz="800" dirty="0"/>
          </a:p>
        </p:txBody>
      </p:sp>
      <p:sp>
        <p:nvSpPr>
          <p:cNvPr id="19" name="Text 16"/>
          <p:cNvSpPr/>
          <p:nvPr/>
        </p:nvSpPr>
        <p:spPr>
          <a:xfrm>
            <a:off x="3417057" y="3199395"/>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20" name="Text 17"/>
          <p:cNvSpPr/>
          <p:nvPr/>
        </p:nvSpPr>
        <p:spPr>
          <a:xfrm>
            <a:off x="3417057" y="3365488"/>
            <a:ext cx="2309775" cy="339471"/>
          </a:xfrm>
          <a:prstGeom prst="rect">
            <a:avLst/>
          </a:prstGeom>
          <a:noFill/>
          <a:ln/>
        </p:spPr>
        <p:txBody>
          <a:bodyPr wrap="none" lIns="0" tIns="0" rIns="0" bIns="0" rtlCol="0" anchor="t"/>
          <a:lstStyle/>
          <a:p>
            <a:pPr algn="l" indent="0" marL="0">
              <a:lnSpc>
                <a:spcPts val="2475"/>
              </a:lnSpc>
              <a:buNone/>
            </a:pPr>
            <a:r>
              <a:rPr lang="en-US" sz="2475" b="1" dirty="0">
                <a:solidFill>
                  <a:srgbClr val="0F5132"/>
                </a:solidFill>
                <a:latin typeface="Liberation Sans Narrow" pitchFamily="34" charset="0"/>
                <a:ea typeface="Liberation Sans Narrow" pitchFamily="34" charset="-122"/>
                <a:cs typeface="Liberation Sans Narrow" pitchFamily="34" charset="-120"/>
              </a:rPr>
              <a:t>26</a:t>
            </a:r>
            <a:endParaRPr lang="en-US" sz="2475" dirty="0"/>
          </a:p>
        </p:txBody>
      </p:sp>
      <p:sp>
        <p:nvSpPr>
          <p:cNvPr id="21" name="Text 18"/>
          <p:cNvSpPr/>
          <p:nvPr/>
        </p:nvSpPr>
        <p:spPr>
          <a:xfrm>
            <a:off x="3417057" y="3736963"/>
            <a:ext cx="2419503" cy="159106"/>
          </a:xfrm>
          <a:prstGeom prst="rect">
            <a:avLst/>
          </a:prstGeom>
          <a:noFill/>
          <a:ln/>
        </p:spPr>
        <p:txBody>
          <a:bodyPr wrap="square" lIns="0" tIns="0" rIns="0" bIns="0" rtlCol="0" anchor="t"/>
          <a:lstStyle/>
          <a:p>
            <a:pPr algn="l" indent="0" marL="0">
              <a:lnSpc>
                <a:spcPts val="1020"/>
              </a:lnSpc>
              <a:buNone/>
            </a:pPr>
            <a:r>
              <a:rPr lang="en-US" sz="800" dirty="0">
                <a:solidFill>
                  <a:srgbClr val="6B7C72"/>
                </a:solidFill>
                <a:latin typeface="Carlito" pitchFamily="34" charset="0"/>
                <a:ea typeface="Carlito" pitchFamily="34" charset="-122"/>
                <a:cs typeface="Carlito" pitchFamily="34" charset="-120"/>
              </a:rPr>
              <a:t>semaines de garde programmées annuellement</a:t>
            </a:r>
            <a:endParaRPr lang="en-US" sz="800" dirty="0"/>
          </a:p>
        </p:txBody>
      </p:sp>
      <p:sp>
        <p:nvSpPr>
          <p:cNvPr id="22" name="Text 19"/>
          <p:cNvSpPr/>
          <p:nvPr/>
        </p:nvSpPr>
        <p:spPr>
          <a:xfrm>
            <a:off x="6023297" y="3058306"/>
            <a:ext cx="2602781" cy="1069777"/>
          </a:xfrm>
          <a:prstGeom prst="roundRect">
            <a:avLst>
              <a:gd name="adj" fmla="val 14246"/>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23" name="Text 20"/>
          <p:cNvSpPr/>
          <p:nvPr/>
        </p:nvSpPr>
        <p:spPr>
          <a:xfrm>
            <a:off x="6326907" y="3204753"/>
            <a:ext cx="939818" cy="119703"/>
          </a:xfrm>
          <a:prstGeom prst="rect">
            <a:avLst/>
          </a:prstGeom>
          <a:noFill/>
          <a:ln/>
        </p:spPr>
        <p:txBody>
          <a:bodyPr wrap="none" lIns="0" tIns="0" rIns="0" bIns="0" rtlCol="0" anchor="t"/>
          <a:lstStyle/>
          <a:p>
            <a:pPr algn="l" indent="0" marL="0">
              <a:lnSpc>
                <a:spcPts val="928"/>
              </a:lnSpc>
              <a:buNone/>
            </a:pPr>
            <a:r>
              <a:rPr lang="en-US" sz="800" b="1" spc="99" kern="0" dirty="0">
                <a:solidFill>
                  <a:srgbClr val="B89968"/>
                </a:solidFill>
                <a:latin typeface="Carlito" pitchFamily="34" charset="0"/>
                <a:ea typeface="Carlito" pitchFamily="34" charset="-122"/>
                <a:cs typeface="Carlito" pitchFamily="34" charset="-120"/>
              </a:rPr>
              <a:t>DÉLAI MOYEN</a:t>
            </a:r>
            <a:endParaRPr lang="en-US" sz="800" dirty="0"/>
          </a:p>
        </p:txBody>
      </p:sp>
      <p:sp>
        <p:nvSpPr>
          <p:cNvPr id="24" name="Text 21"/>
          <p:cNvSpPr/>
          <p:nvPr/>
        </p:nvSpPr>
        <p:spPr>
          <a:xfrm>
            <a:off x="6169744" y="3199395"/>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25" name="Text 22"/>
          <p:cNvSpPr/>
          <p:nvPr/>
        </p:nvSpPr>
        <p:spPr>
          <a:xfrm>
            <a:off x="6169744" y="3365488"/>
            <a:ext cx="2309887" cy="339471"/>
          </a:xfrm>
          <a:prstGeom prst="rect">
            <a:avLst/>
          </a:prstGeom>
          <a:noFill/>
          <a:ln/>
        </p:spPr>
        <p:txBody>
          <a:bodyPr wrap="none" lIns="0" tIns="0" rIns="0" bIns="0" rtlCol="0" anchor="t"/>
          <a:lstStyle/>
          <a:p>
            <a:pPr algn="l" indent="0" marL="0">
              <a:lnSpc>
                <a:spcPts val="2475"/>
              </a:lnSpc>
              <a:buNone/>
            </a:pPr>
            <a:r>
              <a:rPr lang="en-US" sz="2475" b="1" dirty="0">
                <a:solidFill>
                  <a:srgbClr val="0F5132"/>
                </a:solidFill>
                <a:latin typeface="Liberation Sans Narrow" pitchFamily="34" charset="0"/>
                <a:ea typeface="Liberation Sans Narrow" pitchFamily="34" charset="-122"/>
                <a:cs typeface="Liberation Sans Narrow" pitchFamily="34" charset="-120"/>
              </a:rPr>
              <a:t>&gt;30 min</a:t>
            </a:r>
            <a:endParaRPr lang="en-US" sz="2475" dirty="0"/>
          </a:p>
        </p:txBody>
      </p:sp>
      <p:sp>
        <p:nvSpPr>
          <p:cNvPr id="26" name="Text 23"/>
          <p:cNvSpPr/>
          <p:nvPr/>
        </p:nvSpPr>
        <p:spPr>
          <a:xfrm>
            <a:off x="6169744" y="3736963"/>
            <a:ext cx="2309887" cy="258961"/>
          </a:xfrm>
          <a:prstGeom prst="rect">
            <a:avLst/>
          </a:prstGeom>
          <a:noFill/>
          <a:ln/>
        </p:spPr>
        <p:txBody>
          <a:bodyPr wrap="square" lIns="0" tIns="0" rIns="0" bIns="0" rtlCol="0" anchor="t"/>
          <a:lstStyle/>
          <a:p>
            <a:pPr algn="l" indent="0" marL="0">
              <a:lnSpc>
                <a:spcPts val="1020"/>
              </a:lnSpc>
              <a:buNone/>
            </a:pPr>
            <a:r>
              <a:rPr lang="en-US" sz="800" dirty="0">
                <a:solidFill>
                  <a:srgbClr val="6B7C72"/>
                </a:solidFill>
                <a:latin typeface="Carlito" pitchFamily="34" charset="0"/>
                <a:ea typeface="Carlito" pitchFamily="34" charset="-122"/>
                <a:cs typeface="Carlito" pitchFamily="34" charset="-120"/>
              </a:rPr>
              <a:t>délai moyen actuel pour trouver une pharmacie disposant du médicament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14350" y="400050"/>
            <a:ext cx="769918"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B89968"/>
                </a:solidFill>
                <a:latin typeface="Liberation Sans Narrow" pitchFamily="34" charset="0"/>
                <a:ea typeface="Liberation Sans Narrow" pitchFamily="34" charset="-122"/>
                <a:cs typeface="Liberation Sans Narrow" pitchFamily="34" charset="-120"/>
              </a:rPr>
              <a:t>02</a:t>
            </a:r>
            <a:endParaRPr lang="en-US" sz="3600" dirty="0"/>
          </a:p>
        </p:txBody>
      </p:sp>
      <p:sp>
        <p:nvSpPr>
          <p:cNvPr id="3" name="Text 1"/>
          <p:cNvSpPr/>
          <p:nvPr/>
        </p:nvSpPr>
        <p:spPr>
          <a:xfrm>
            <a:off x="1109849" y="678656"/>
            <a:ext cx="449520" cy="164592"/>
          </a:xfrm>
          <a:prstGeom prst="rect">
            <a:avLst/>
          </a:prstGeom>
          <a:noFill/>
          <a:ln/>
        </p:spPr>
        <p:txBody>
          <a:bodyPr wrap="none" lIns="0" tIns="0" rIns="0" bIns="0" rtlCol="0" anchor="t"/>
          <a:lstStyle/>
          <a:p>
            <a:pPr algn="l" indent="0" marL="0">
              <a:lnSpc>
                <a:spcPts val="1181"/>
              </a:lnSpc>
              <a:buNone/>
            </a:pPr>
            <a:r>
              <a:rPr lang="en-US" sz="800" b="1" spc="79" kern="0" dirty="0">
                <a:solidFill>
                  <a:srgbClr val="6B7C72"/>
                </a:solidFill>
                <a:latin typeface="Liberation Sans Narrow" pitchFamily="34" charset="0"/>
                <a:ea typeface="Liberation Sans Narrow" pitchFamily="34" charset="-122"/>
                <a:cs typeface="Liberation Sans Narrow" pitchFamily="34" charset="-120"/>
              </a:rPr>
              <a:t>/ 06</a:t>
            </a:r>
            <a:endParaRPr lang="en-US" sz="800" dirty="0"/>
          </a:p>
        </p:txBody>
      </p:sp>
      <p:pic>
        <p:nvPicPr>
          <p:cNvPr id="4" name="Image 0" descr="preencoded.png">    </p:cNvPr>
          <p:cNvPicPr>
            <a:picLocks noChangeAspect="1"/>
          </p:cNvPicPr>
          <p:nvPr/>
        </p:nvPicPr>
        <p:blipFill>
          <a:blip r:embed="rId1"/>
          <a:stretch>
            <a:fillRect/>
          </a:stretch>
        </p:blipFill>
        <p:spPr>
          <a:xfrm>
            <a:off x="7170762" y="448270"/>
            <a:ext cx="300038" cy="21431"/>
          </a:xfrm>
          <a:prstGeom prst="rect">
            <a:avLst/>
          </a:prstGeom>
        </p:spPr>
      </p:pic>
      <p:sp>
        <p:nvSpPr>
          <p:cNvPr id="5" name="Text 2"/>
          <p:cNvSpPr/>
          <p:nvPr/>
        </p:nvSpPr>
        <p:spPr>
          <a:xfrm>
            <a:off x="7527950" y="400050"/>
            <a:ext cx="144457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C72"/>
                </a:solidFill>
                <a:latin typeface="Carlito" pitchFamily="34" charset="0"/>
                <a:ea typeface="Carlito" pitchFamily="34" charset="-122"/>
                <a:cs typeface="Carlito" pitchFamily="34" charset="-120"/>
              </a:rPr>
              <a:t>CADRE SCIENTIFIQUE</a:t>
            </a:r>
            <a:endParaRPr lang="en-US" sz="800" dirty="0"/>
          </a:p>
        </p:txBody>
      </p:sp>
      <p:sp>
        <p:nvSpPr>
          <p:cNvPr id="6" name="Text 3"/>
          <p:cNvSpPr/>
          <p:nvPr/>
        </p:nvSpPr>
        <p:spPr>
          <a:xfrm>
            <a:off x="514350" y="985838"/>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0F5132"/>
                </a:solidFill>
                <a:latin typeface="Carlito" pitchFamily="34" charset="0"/>
                <a:ea typeface="Carlito" pitchFamily="34" charset="-122"/>
                <a:cs typeface="Carlito" pitchFamily="34" charset="-120"/>
              </a:rPr>
              <a:t>Hypothèse &amp; Objectifs</a:t>
            </a:r>
            <a:endParaRPr lang="en-US" sz="2475" dirty="0"/>
          </a:p>
        </p:txBody>
      </p:sp>
      <p:sp>
        <p:nvSpPr>
          <p:cNvPr id="7" name="Text 4"/>
          <p:cNvSpPr/>
          <p:nvPr/>
        </p:nvSpPr>
        <p:spPr>
          <a:xfrm>
            <a:off x="514350" y="1502978"/>
            <a:ext cx="3943350" cy="3240472"/>
          </a:xfrm>
          <a:prstGeom prst="roundRect">
            <a:avLst>
              <a:gd name="adj" fmla="val 4703"/>
            </a:avLst>
          </a:prstGeom>
          <a:solidFill>
            <a:srgbClr val="FFFFFF"/>
          </a:solidFill>
          <a:ln/>
        </p:spPr>
        <p:txBody>
          <a:bodyPr wrap="square" rtlCol="0" anchor="ctr"/>
          <a:lstStyle/>
          <a:p>
            <a:pPr indent="0" marL="0">
              <a:buNone/>
            </a:pPr>
            <a:endParaRPr lang="en-US" dirty="0"/>
          </a:p>
        </p:txBody>
      </p:sp>
      <p:sp>
        <p:nvSpPr>
          <p:cNvPr id="8" name="Shape 5"/>
          <p:cNvSpPr/>
          <p:nvPr/>
        </p:nvSpPr>
        <p:spPr>
          <a:xfrm>
            <a:off x="514350" y="1506550"/>
            <a:ext cx="3943350" cy="0"/>
          </a:xfrm>
          <a:prstGeom prst="line">
            <a:avLst/>
          </a:prstGeom>
          <a:noFill/>
          <a:ln w="7144">
            <a:solidFill>
              <a:srgbClr val="E5E0D5"/>
            </a:solidFill>
            <a:prstDash val="solid"/>
          </a:ln>
        </p:spPr>
      </p:sp>
      <p:sp>
        <p:nvSpPr>
          <p:cNvPr id="9" name="Shape 6"/>
          <p:cNvSpPr/>
          <p:nvPr/>
        </p:nvSpPr>
        <p:spPr>
          <a:xfrm>
            <a:off x="4454128" y="1502978"/>
            <a:ext cx="0" cy="3240472"/>
          </a:xfrm>
          <a:prstGeom prst="line">
            <a:avLst/>
          </a:prstGeom>
          <a:noFill/>
          <a:ln w="7144">
            <a:solidFill>
              <a:srgbClr val="E5E0D5"/>
            </a:solidFill>
            <a:prstDash val="solid"/>
          </a:ln>
        </p:spPr>
      </p:sp>
      <p:sp>
        <p:nvSpPr>
          <p:cNvPr id="10" name="Shape 7"/>
          <p:cNvSpPr/>
          <p:nvPr/>
        </p:nvSpPr>
        <p:spPr>
          <a:xfrm>
            <a:off x="514350" y="4739878"/>
            <a:ext cx="3943350" cy="0"/>
          </a:xfrm>
          <a:prstGeom prst="line">
            <a:avLst/>
          </a:prstGeom>
          <a:noFill/>
          <a:ln w="7144">
            <a:solidFill>
              <a:srgbClr val="E5E0D5"/>
            </a:solidFill>
            <a:prstDash val="solid"/>
          </a:ln>
        </p:spPr>
      </p:sp>
      <p:sp>
        <p:nvSpPr>
          <p:cNvPr id="11" name="Shape 8"/>
          <p:cNvSpPr/>
          <p:nvPr/>
        </p:nvSpPr>
        <p:spPr>
          <a:xfrm>
            <a:off x="528638" y="1502978"/>
            <a:ext cx="0" cy="3240472"/>
          </a:xfrm>
          <a:prstGeom prst="line">
            <a:avLst/>
          </a:prstGeom>
          <a:noFill/>
          <a:ln w="28575">
            <a:solidFill>
              <a:srgbClr val="B89968"/>
            </a:solidFill>
            <a:prstDash val="solid"/>
          </a:ln>
        </p:spPr>
      </p:sp>
      <p:sp>
        <p:nvSpPr>
          <p:cNvPr id="12" name="Text 9"/>
          <p:cNvSpPr/>
          <p:nvPr/>
        </p:nvSpPr>
        <p:spPr>
          <a:xfrm>
            <a:off x="742950" y="1710147"/>
            <a:ext cx="157163" cy="157163"/>
          </a:xfrm>
          <a:prstGeom prst="rect">
            <a:avLst/>
          </a:prstGeom>
          <a:noFill/>
          <a:ln/>
        </p:spPr>
        <p:txBody>
          <a:bodyPr wrap="none" lIns="0" tIns="0" rIns="0" bIns="0" rtlCol="0" anchor="ctr"/>
          <a:lstStyle/>
          <a:p>
            <a:pPr algn="ctr" indent="0" marL="0">
              <a:buNone/>
            </a:pPr>
            <a:r>
              <a:rPr lang="en-US" sz="1547" dirty="0">
                <a:solidFill>
                  <a:srgbClr val="B89968"/>
                </a:solidFill>
                <a:latin typeface="Segoe UI Symbol" pitchFamily="34" charset="0"/>
                <a:ea typeface="Segoe UI Symbol" pitchFamily="34" charset="-122"/>
                <a:cs typeface="Segoe UI Symbol" pitchFamily="34" charset="-120"/>
              </a:rPr>
              <a:t>◆</a:t>
            </a:r>
            <a:endParaRPr lang="en-US" sz="1547" dirty="0"/>
          </a:p>
        </p:txBody>
      </p:sp>
      <p:sp>
        <p:nvSpPr>
          <p:cNvPr id="13" name="Text 10"/>
          <p:cNvSpPr/>
          <p:nvPr/>
        </p:nvSpPr>
        <p:spPr>
          <a:xfrm>
            <a:off x="957263" y="1729792"/>
            <a:ext cx="3293269" cy="164592"/>
          </a:xfrm>
          <a:prstGeom prst="rect">
            <a:avLst/>
          </a:prstGeom>
          <a:noFill/>
          <a:ln/>
        </p:spPr>
        <p:txBody>
          <a:bodyPr wrap="none" lIns="0" tIns="0" rIns="0" bIns="0" rtlCol="0" anchor="t"/>
          <a:lstStyle/>
          <a:p>
            <a:pPr algn="l" indent="0" marL="0">
              <a:lnSpc>
                <a:spcPts val="928"/>
              </a:lnSpc>
              <a:buNone/>
            </a:pPr>
            <a:r>
              <a:rPr lang="en-US" sz="800" b="1" spc="111" kern="0" dirty="0">
                <a:solidFill>
                  <a:srgbClr val="B89968"/>
                </a:solidFill>
                <a:latin typeface="Carlito" pitchFamily="34" charset="0"/>
                <a:ea typeface="Carlito" pitchFamily="34" charset="-122"/>
                <a:cs typeface="Carlito" pitchFamily="34" charset="-120"/>
              </a:rPr>
              <a:t>POSTULAT DE RECHERCHE</a:t>
            </a:r>
            <a:endParaRPr lang="en-US" sz="800" dirty="0"/>
          </a:p>
        </p:txBody>
      </p:sp>
      <p:sp>
        <p:nvSpPr>
          <p:cNvPr id="14" name="Text 11"/>
          <p:cNvSpPr/>
          <p:nvPr/>
        </p:nvSpPr>
        <p:spPr>
          <a:xfrm>
            <a:off x="742950" y="1967322"/>
            <a:ext cx="3507581" cy="283897"/>
          </a:xfrm>
          <a:prstGeom prst="rect">
            <a:avLst/>
          </a:prstGeom>
          <a:noFill/>
          <a:ln/>
        </p:spPr>
        <p:txBody>
          <a:bodyPr wrap="none" lIns="0" tIns="0" rIns="0" bIns="0" rtlCol="0" anchor="t"/>
          <a:lstStyle/>
          <a:p>
            <a:pPr algn="l" indent="0" marL="0">
              <a:lnSpc>
                <a:spcPts val="2070"/>
              </a:lnSpc>
              <a:buNone/>
            </a:pPr>
            <a:r>
              <a:rPr lang="en-US" sz="1800" b="1" spc="-36" kern="0" dirty="0">
                <a:solidFill>
                  <a:srgbClr val="0F5132"/>
                </a:solidFill>
                <a:latin typeface="Carlito" pitchFamily="34" charset="0"/>
                <a:ea typeface="Carlito" pitchFamily="34" charset="-122"/>
                <a:cs typeface="Carlito" pitchFamily="34" charset="-120"/>
              </a:rPr>
              <a:t>Hypothèse</a:t>
            </a:r>
            <a:endParaRPr lang="en-US" sz="1800" dirty="0"/>
          </a:p>
        </p:txBody>
      </p:sp>
      <p:sp>
        <p:nvSpPr>
          <p:cNvPr id="15" name="Text 12"/>
          <p:cNvSpPr/>
          <p:nvPr/>
        </p:nvSpPr>
        <p:spPr>
          <a:xfrm>
            <a:off x="742950" y="2358777"/>
            <a:ext cx="3507581" cy="786956"/>
          </a:xfrm>
          <a:prstGeom prst="rect">
            <a:avLst/>
          </a:prstGeom>
          <a:noFill/>
          <a:ln/>
        </p:spPr>
        <p:txBody>
          <a:bodyPr wrap="square" lIns="0" tIns="0" rIns="0" bIns="0" rtlCol="0" anchor="t"/>
          <a:lstStyle/>
          <a:p>
            <a:pPr algn="l" indent="0" marL="0">
              <a:lnSpc>
                <a:spcPts val="1434"/>
              </a:lnSpc>
              <a:buNone/>
            </a:pPr>
            <a:r>
              <a:rPr lang="en-US" sz="844" dirty="0">
                <a:solidFill>
                  <a:srgbClr val="1A2B22"/>
                </a:solidFill>
                <a:latin typeface="Carlito" pitchFamily="34" charset="0"/>
                <a:ea typeface="Carlito" pitchFamily="34" charset="-122"/>
                <a:cs typeface="Carlito" pitchFamily="34" charset="-120"/>
              </a:rPr>
              <a:t>La digitalisation du circuit de demande de médicaments, couplée à une diffusion en temps réel de la liste officielle des pharmacies de garde, permettrait de réduire significativement les délais d'accès au traitement tout en optimisant la charge opérationnelle des officines.</a:t>
            </a:r>
            <a:endParaRPr lang="en-US" sz="844" dirty="0"/>
          </a:p>
        </p:txBody>
      </p:sp>
      <p:sp>
        <p:nvSpPr>
          <p:cNvPr id="16" name="Shape 13"/>
          <p:cNvSpPr/>
          <p:nvPr/>
        </p:nvSpPr>
        <p:spPr>
          <a:xfrm>
            <a:off x="742950" y="4275534"/>
            <a:ext cx="3507581" cy="0"/>
          </a:xfrm>
          <a:prstGeom prst="line">
            <a:avLst/>
          </a:prstGeom>
          <a:noFill/>
          <a:ln w="7144">
            <a:solidFill>
              <a:srgbClr val="E5E0D5"/>
            </a:solidFill>
            <a:prstDash val="dash"/>
          </a:ln>
        </p:spPr>
      </p:sp>
      <p:sp>
        <p:nvSpPr>
          <p:cNvPr id="17" name="Text 14"/>
          <p:cNvSpPr/>
          <p:nvPr/>
        </p:nvSpPr>
        <p:spPr>
          <a:xfrm>
            <a:off x="742950" y="4414838"/>
            <a:ext cx="114300" cy="114300"/>
          </a:xfrm>
          <a:prstGeom prst="rect">
            <a:avLst/>
          </a:prstGeom>
          <a:noFill/>
          <a:ln/>
        </p:spPr>
        <p:txBody>
          <a:bodyPr wrap="none" lIns="0" tIns="0" rIns="0" bIns="0" rtlCol="0" anchor="ctr"/>
          <a:lstStyle/>
          <a:p>
            <a:pPr algn="ctr" indent="0" marL="0">
              <a:buNone/>
            </a:pPr>
            <a:r>
              <a:rPr lang="en-US" sz="1125" dirty="0">
                <a:solidFill>
                  <a:srgbClr val="0F5132"/>
                </a:solidFill>
                <a:latin typeface="Segoe UI Symbol" pitchFamily="34" charset="0"/>
                <a:ea typeface="Segoe UI Symbol" pitchFamily="34" charset="-122"/>
                <a:cs typeface="Segoe UI Symbol" pitchFamily="34" charset="-120"/>
              </a:rPr>
              <a:t>✓</a:t>
            </a:r>
            <a:endParaRPr lang="en-US" sz="1125" dirty="0"/>
          </a:p>
        </p:txBody>
      </p:sp>
      <p:sp>
        <p:nvSpPr>
          <p:cNvPr id="18" name="Text 15"/>
          <p:cNvSpPr/>
          <p:nvPr/>
        </p:nvSpPr>
        <p:spPr>
          <a:xfrm>
            <a:off x="928688" y="4407694"/>
            <a:ext cx="3321844" cy="128588"/>
          </a:xfrm>
          <a:prstGeom prst="rect">
            <a:avLst/>
          </a:prstGeom>
          <a:noFill/>
          <a:ln/>
        </p:spPr>
        <p:txBody>
          <a:bodyPr wrap="none" lIns="0" tIns="0" rIns="0" bIns="0" rtlCol="0" anchor="t"/>
          <a:lstStyle/>
          <a:p>
            <a:pPr algn="l" indent="0" marL="0">
              <a:lnSpc>
                <a:spcPts val="1013"/>
              </a:lnSpc>
              <a:buNone/>
            </a:pPr>
            <a:r>
              <a:rPr lang="en-US" sz="800" dirty="0">
                <a:solidFill>
                  <a:srgbClr val="6B7C72"/>
                </a:solidFill>
                <a:latin typeface="Carlito" pitchFamily="34" charset="0"/>
                <a:ea typeface="Carlito" pitchFamily="34" charset="-122"/>
                <a:cs typeface="Carlito" pitchFamily="34" charset="-120"/>
              </a:rPr>
              <a:t>Vérifiable · Mesurable · Reproductible</a:t>
            </a:r>
            <a:endParaRPr lang="en-US" sz="800" dirty="0"/>
          </a:p>
        </p:txBody>
      </p:sp>
      <p:sp>
        <p:nvSpPr>
          <p:cNvPr id="19" name="Text 16"/>
          <p:cNvSpPr/>
          <p:nvPr/>
        </p:nvSpPr>
        <p:spPr>
          <a:xfrm>
            <a:off x="4686300" y="1535125"/>
            <a:ext cx="128588" cy="128588"/>
          </a:xfrm>
          <a:prstGeom prst="rect">
            <a:avLst/>
          </a:prstGeom>
          <a:noFill/>
          <a:ln/>
        </p:spPr>
        <p:txBody>
          <a:bodyPr wrap="none" lIns="0" tIns="0" rIns="0" bIns="0" rtlCol="0" anchor="ctr"/>
          <a:lstStyle/>
          <a:p>
            <a:pPr algn="ctr" indent="0" marL="0">
              <a:buNone/>
            </a:pPr>
            <a:r>
              <a:rPr lang="en-US" sz="1266" dirty="0">
                <a:solidFill>
                  <a:srgbClr val="0F5132"/>
                </a:solidFill>
                <a:latin typeface="Segoe UI Symbol" pitchFamily="34" charset="0"/>
                <a:ea typeface="Segoe UI Symbol" pitchFamily="34" charset="-122"/>
                <a:cs typeface="Segoe UI Symbol" pitchFamily="34" charset="-120"/>
              </a:rPr>
              <a:t>⚑</a:t>
            </a:r>
            <a:endParaRPr lang="en-US" sz="1266" dirty="0"/>
          </a:p>
        </p:txBody>
      </p:sp>
      <p:sp>
        <p:nvSpPr>
          <p:cNvPr id="20" name="Text 17"/>
          <p:cNvSpPr/>
          <p:nvPr/>
        </p:nvSpPr>
        <p:spPr>
          <a:xfrm>
            <a:off x="4872038" y="1502978"/>
            <a:ext cx="3757613" cy="208312"/>
          </a:xfrm>
          <a:prstGeom prst="rect">
            <a:avLst/>
          </a:prstGeom>
          <a:noFill/>
          <a:ln/>
        </p:spPr>
        <p:txBody>
          <a:bodyPr wrap="none" lIns="0" tIns="0" rIns="0" bIns="0" rtlCol="0" anchor="t"/>
          <a:lstStyle/>
          <a:p>
            <a:pPr algn="l" indent="0" marL="0">
              <a:lnSpc>
                <a:spcPts val="1519"/>
              </a:lnSpc>
              <a:buNone/>
            </a:pPr>
            <a:r>
              <a:rPr lang="en-US" sz="1013" b="1" spc="-20" kern="0" dirty="0">
                <a:solidFill>
                  <a:srgbClr val="0F5132"/>
                </a:solidFill>
                <a:latin typeface="Carlito" pitchFamily="34" charset="0"/>
                <a:ea typeface="Carlito" pitchFamily="34" charset="-122"/>
                <a:cs typeface="Carlito" pitchFamily="34" charset="-120"/>
              </a:rPr>
              <a:t>Objectifs spécifiques</a:t>
            </a:r>
            <a:endParaRPr lang="en-US" sz="1013" dirty="0"/>
          </a:p>
        </p:txBody>
      </p:sp>
      <p:sp>
        <p:nvSpPr>
          <p:cNvPr id="21" name="Text 18"/>
          <p:cNvSpPr/>
          <p:nvPr/>
        </p:nvSpPr>
        <p:spPr>
          <a:xfrm>
            <a:off x="4689872" y="1785156"/>
            <a:ext cx="3936206" cy="485775"/>
          </a:xfrm>
          <a:prstGeom prst="roundRect">
            <a:avLst>
              <a:gd name="adj" fmla="val 31373"/>
            </a:avLst>
          </a:prstGeom>
          <a:solidFill>
            <a:srgbClr val="FFFFFF"/>
          </a:solidFill>
          <a:ln w="7144">
            <a:solidFill>
              <a:srgbClr val="E5E0D5"/>
            </a:solidFill>
            <a:prstDash val="solid"/>
          </a:ln>
        </p:spPr>
        <p:txBody>
          <a:bodyPr wrap="square" rtlCol="0" anchor="ctr"/>
          <a:lstStyle/>
          <a:p>
            <a:pPr indent="0" marL="0">
              <a:buNone/>
            </a:pPr>
            <a:endParaRPr lang="en-US" dirty="0"/>
          </a:p>
        </p:txBody>
      </p:sp>
      <p:pic>
        <p:nvPicPr>
          <p:cNvPr id="22" name="Image 1" descr="preencoded.png">    </p:cNvPr>
          <p:cNvPicPr>
            <a:picLocks noChangeAspect="1"/>
          </p:cNvPicPr>
          <p:nvPr/>
        </p:nvPicPr>
        <p:blipFill>
          <a:blip r:embed="rId2"/>
          <a:stretch>
            <a:fillRect/>
          </a:stretch>
        </p:blipFill>
        <p:spPr>
          <a:xfrm>
            <a:off x="4793456" y="1874453"/>
            <a:ext cx="228600" cy="228600"/>
          </a:xfrm>
          <a:prstGeom prst="rect">
            <a:avLst/>
          </a:prstGeom>
        </p:spPr>
      </p:pic>
      <p:sp>
        <p:nvSpPr>
          <p:cNvPr id="23" name="Text 19"/>
          <p:cNvSpPr/>
          <p:nvPr/>
        </p:nvSpPr>
        <p:spPr>
          <a:xfrm>
            <a:off x="4793456" y="1874453"/>
            <a:ext cx="271463"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24" name="Text 20"/>
          <p:cNvSpPr/>
          <p:nvPr/>
        </p:nvSpPr>
        <p:spPr>
          <a:xfrm>
            <a:off x="5107781" y="1874453"/>
            <a:ext cx="3414713" cy="307181"/>
          </a:xfrm>
          <a:prstGeom prst="rect">
            <a:avLst/>
          </a:prstGeom>
          <a:noFill/>
          <a:ln/>
        </p:spPr>
        <p:txBody>
          <a:bodyPr wrap="square" lIns="0" tIns="28575" rIns="0" bIns="0" rtlCol="0" anchor="t"/>
          <a:lstStyle/>
          <a:p>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Réduire le délai moyen de contact patient-pharmacie de garde de plusieurs dizaines de minutes à </a:t>
            </a:r>
            <a:pPr algn="l" indent="0" marL="0">
              <a:lnSpc>
                <a:spcPts val="1097"/>
              </a:lnSpc>
              <a:buNone/>
            </a:pPr>
            <a:r>
              <a:rPr lang="en-US" sz="800" b="1" dirty="0">
                <a:solidFill>
                  <a:srgbClr val="0F5132"/>
                </a:solidFill>
                <a:latin typeface="Liberation Sans Narrow" pitchFamily="34" charset="0"/>
                <a:ea typeface="Liberation Sans Narrow" pitchFamily="34" charset="-122"/>
                <a:cs typeface="Liberation Sans Narrow" pitchFamily="34" charset="-120"/>
              </a:rPr>
              <a:t>moins de 5 minutes</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a:t>
            </a:r>
            <a:endParaRPr lang="en-US" sz="800" dirty="0"/>
          </a:p>
        </p:txBody>
      </p:sp>
      <p:sp>
        <p:nvSpPr>
          <p:cNvPr id="25" name="Text 21"/>
          <p:cNvSpPr/>
          <p:nvPr/>
        </p:nvSpPr>
        <p:spPr>
          <a:xfrm>
            <a:off x="4689872" y="2349512"/>
            <a:ext cx="3936206" cy="485775"/>
          </a:xfrm>
          <a:prstGeom prst="roundRect">
            <a:avLst>
              <a:gd name="adj" fmla="val 31373"/>
            </a:avLst>
          </a:prstGeom>
          <a:solidFill>
            <a:srgbClr val="FFFFFF"/>
          </a:solidFill>
          <a:ln w="7144">
            <a:solidFill>
              <a:srgbClr val="E5E0D5"/>
            </a:solidFill>
            <a:prstDash val="solid"/>
          </a:ln>
        </p:spPr>
        <p:txBody>
          <a:bodyPr wrap="square" rtlCol="0" anchor="ctr"/>
          <a:lstStyle/>
          <a:p>
            <a:pPr indent="0" marL="0">
              <a:buNone/>
            </a:pPr>
            <a:endParaRPr lang="en-US" dirty="0"/>
          </a:p>
        </p:txBody>
      </p:sp>
      <p:pic>
        <p:nvPicPr>
          <p:cNvPr id="26" name="Image 2" descr="preencoded.png">    </p:cNvPr>
          <p:cNvPicPr>
            <a:picLocks noChangeAspect="1"/>
          </p:cNvPicPr>
          <p:nvPr/>
        </p:nvPicPr>
        <p:blipFill>
          <a:blip r:embed="rId3"/>
          <a:stretch>
            <a:fillRect/>
          </a:stretch>
        </p:blipFill>
        <p:spPr>
          <a:xfrm>
            <a:off x="4793456" y="2438809"/>
            <a:ext cx="228600" cy="228600"/>
          </a:xfrm>
          <a:prstGeom prst="rect">
            <a:avLst/>
          </a:prstGeom>
        </p:spPr>
      </p:pic>
      <p:sp>
        <p:nvSpPr>
          <p:cNvPr id="27" name="Text 22"/>
          <p:cNvSpPr/>
          <p:nvPr/>
        </p:nvSpPr>
        <p:spPr>
          <a:xfrm>
            <a:off x="4793456" y="2438809"/>
            <a:ext cx="271463"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8" name="Text 23"/>
          <p:cNvSpPr/>
          <p:nvPr/>
        </p:nvSpPr>
        <p:spPr>
          <a:xfrm>
            <a:off x="5107781" y="2438809"/>
            <a:ext cx="3414713" cy="307181"/>
          </a:xfrm>
          <a:prstGeom prst="rect">
            <a:avLst/>
          </a:prstGeom>
          <a:noFill/>
          <a:ln/>
        </p:spPr>
        <p:txBody>
          <a:bodyPr wrap="square" lIns="0" tIns="28575" rIns="0" bIns="0" rtlCol="0" anchor="t"/>
          <a:lstStyle/>
          <a:p>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Centraliser et actualiser automatiquement la </a:t>
            </a:r>
            <a:pPr algn="l" indent="0" marL="0">
              <a:lnSpc>
                <a:spcPts val="1097"/>
              </a:lnSpc>
              <a:buNone/>
            </a:pPr>
            <a:r>
              <a:rPr lang="en-US" sz="800" b="1" dirty="0">
                <a:solidFill>
                  <a:srgbClr val="0F5132"/>
                </a:solidFill>
                <a:latin typeface="Carlito" pitchFamily="34" charset="0"/>
                <a:ea typeface="Carlito" pitchFamily="34" charset="-122"/>
                <a:cs typeface="Carlito" pitchFamily="34" charset="-120"/>
              </a:rPr>
              <a:t>liste officielle hebdomadaire</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 du Ministère de la Santé.</a:t>
            </a:r>
            <a:endParaRPr lang="en-US" sz="800" dirty="0"/>
          </a:p>
        </p:txBody>
      </p:sp>
      <p:sp>
        <p:nvSpPr>
          <p:cNvPr id="29" name="Text 24"/>
          <p:cNvSpPr/>
          <p:nvPr/>
        </p:nvSpPr>
        <p:spPr>
          <a:xfrm>
            <a:off x="4689872" y="2913869"/>
            <a:ext cx="3936206" cy="485775"/>
          </a:xfrm>
          <a:prstGeom prst="roundRect">
            <a:avLst>
              <a:gd name="adj" fmla="val 31373"/>
            </a:avLst>
          </a:prstGeom>
          <a:solidFill>
            <a:srgbClr val="FFFFFF"/>
          </a:solidFill>
          <a:ln w="7144">
            <a:solidFill>
              <a:srgbClr val="E5E0D5"/>
            </a:solidFill>
            <a:prstDash val="solid"/>
          </a:ln>
        </p:spPr>
        <p:txBody>
          <a:bodyPr wrap="square" rtlCol="0" anchor="ctr"/>
          <a:lstStyle/>
          <a:p>
            <a:pPr indent="0" marL="0">
              <a:buNone/>
            </a:pPr>
            <a:endParaRPr lang="en-US" dirty="0"/>
          </a:p>
        </p:txBody>
      </p:sp>
      <p:pic>
        <p:nvPicPr>
          <p:cNvPr id="30" name="Image 3" descr="preencoded.png">    </p:cNvPr>
          <p:cNvPicPr>
            <a:picLocks noChangeAspect="1"/>
          </p:cNvPicPr>
          <p:nvPr/>
        </p:nvPicPr>
        <p:blipFill>
          <a:blip r:embed="rId4"/>
          <a:stretch>
            <a:fillRect/>
          </a:stretch>
        </p:blipFill>
        <p:spPr>
          <a:xfrm>
            <a:off x="4793456" y="3003166"/>
            <a:ext cx="228600" cy="228600"/>
          </a:xfrm>
          <a:prstGeom prst="rect">
            <a:avLst/>
          </a:prstGeom>
        </p:spPr>
      </p:pic>
      <p:sp>
        <p:nvSpPr>
          <p:cNvPr id="31" name="Text 25"/>
          <p:cNvSpPr/>
          <p:nvPr/>
        </p:nvSpPr>
        <p:spPr>
          <a:xfrm>
            <a:off x="4793456" y="3003166"/>
            <a:ext cx="271463"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32" name="Text 26"/>
          <p:cNvSpPr/>
          <p:nvPr/>
        </p:nvSpPr>
        <p:spPr>
          <a:xfrm>
            <a:off x="5107781" y="3003166"/>
            <a:ext cx="3414713" cy="307181"/>
          </a:xfrm>
          <a:prstGeom prst="rect">
            <a:avLst/>
          </a:prstGeom>
          <a:noFill/>
          <a:ln/>
        </p:spPr>
        <p:txBody>
          <a:bodyPr wrap="square" lIns="0" tIns="28575" rIns="0" bIns="0" rtlCol="0" anchor="t"/>
          <a:lstStyle/>
          <a:p>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Garantir la confidentialité des données patients via </a:t>
            </a:r>
            <a:pPr algn="l" indent="0" marL="0">
              <a:lnSpc>
                <a:spcPts val="1097"/>
              </a:lnSpc>
              <a:buNone/>
            </a:pPr>
            <a:r>
              <a:rPr lang="en-US" sz="800" b="1" dirty="0">
                <a:solidFill>
                  <a:srgbClr val="0F5132"/>
                </a:solidFill>
                <a:latin typeface="Carlito" pitchFamily="34" charset="0"/>
                <a:ea typeface="Carlito" pitchFamily="34" charset="-122"/>
                <a:cs typeface="Carlito" pitchFamily="34" charset="-120"/>
              </a:rPr>
              <a:t>auto-suppression des photos après 72 heures</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a:t>
            </a:r>
            <a:endParaRPr lang="en-US" sz="800" dirty="0"/>
          </a:p>
        </p:txBody>
      </p:sp>
      <p:sp>
        <p:nvSpPr>
          <p:cNvPr id="33" name="Text 27"/>
          <p:cNvSpPr/>
          <p:nvPr/>
        </p:nvSpPr>
        <p:spPr>
          <a:xfrm>
            <a:off x="4689872" y="3478225"/>
            <a:ext cx="3936206" cy="485775"/>
          </a:xfrm>
          <a:prstGeom prst="roundRect">
            <a:avLst>
              <a:gd name="adj" fmla="val 31373"/>
            </a:avLst>
          </a:prstGeom>
          <a:solidFill>
            <a:srgbClr val="FFFFFF"/>
          </a:solidFill>
          <a:ln w="7144">
            <a:solidFill>
              <a:srgbClr val="E5E0D5"/>
            </a:solidFill>
            <a:prstDash val="solid"/>
          </a:ln>
        </p:spPr>
        <p:txBody>
          <a:bodyPr wrap="square" rtlCol="0" anchor="ctr"/>
          <a:lstStyle/>
          <a:p>
            <a:pPr indent="0" marL="0">
              <a:buNone/>
            </a:pPr>
            <a:endParaRPr lang="en-US" dirty="0"/>
          </a:p>
        </p:txBody>
      </p:sp>
      <p:pic>
        <p:nvPicPr>
          <p:cNvPr id="34" name="Image 4" descr="preencoded.png">    </p:cNvPr>
          <p:cNvPicPr>
            <a:picLocks noChangeAspect="1"/>
          </p:cNvPicPr>
          <p:nvPr/>
        </p:nvPicPr>
        <p:blipFill>
          <a:blip r:embed="rId5"/>
          <a:stretch>
            <a:fillRect/>
          </a:stretch>
        </p:blipFill>
        <p:spPr>
          <a:xfrm>
            <a:off x="4793456" y="3567522"/>
            <a:ext cx="228600" cy="228600"/>
          </a:xfrm>
          <a:prstGeom prst="rect">
            <a:avLst/>
          </a:prstGeom>
        </p:spPr>
      </p:pic>
      <p:sp>
        <p:nvSpPr>
          <p:cNvPr id="35" name="Text 28"/>
          <p:cNvSpPr/>
          <p:nvPr/>
        </p:nvSpPr>
        <p:spPr>
          <a:xfrm>
            <a:off x="4793456" y="3567522"/>
            <a:ext cx="271463"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36" name="Text 29"/>
          <p:cNvSpPr/>
          <p:nvPr/>
        </p:nvSpPr>
        <p:spPr>
          <a:xfrm>
            <a:off x="5107781" y="3567522"/>
            <a:ext cx="3414713" cy="307181"/>
          </a:xfrm>
          <a:prstGeom prst="rect">
            <a:avLst/>
          </a:prstGeom>
          <a:noFill/>
          <a:ln/>
        </p:spPr>
        <p:txBody>
          <a:bodyPr wrap="square" lIns="0" tIns="28575" rIns="0" bIns="0" rtlCol="0" anchor="t"/>
          <a:lstStyle/>
          <a:p>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Fournir un outil accessible (web + mobile) fonctionnant même sur </a:t>
            </a:r>
            <a:pPr algn="l" indent="0" marL="0">
              <a:lnSpc>
                <a:spcPts val="1097"/>
              </a:lnSpc>
              <a:buNone/>
            </a:pPr>
            <a:r>
              <a:rPr lang="en-US" sz="800" b="1" dirty="0">
                <a:solidFill>
                  <a:srgbClr val="0F5132"/>
                </a:solidFill>
                <a:latin typeface="Carlito" pitchFamily="34" charset="0"/>
                <a:ea typeface="Carlito" pitchFamily="34" charset="-122"/>
                <a:cs typeface="Carlito" pitchFamily="34" charset="-120"/>
              </a:rPr>
              <a:t>connexions modestes</a:t>
            </a:r>
            <a:pPr algn="l" indent="0" marL="0">
              <a:lnSpc>
                <a:spcPts val="1097"/>
              </a:lnSpc>
              <a:buNone/>
            </a:pPr>
            <a:r>
              <a:rPr lang="en-US" sz="800" dirty="0">
                <a:solidFill>
                  <a:srgbClr val="1A2B22"/>
                </a:solidFill>
                <a:latin typeface="Carlito" pitchFamily="34" charset="0"/>
                <a:ea typeface="Carlito" pitchFamily="34" charset="-122"/>
                <a:cs typeface="Carlito" pitchFamily="34" charset="-120"/>
              </a:rPr>
              <a: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14350" y="400050"/>
            <a:ext cx="769918"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B89968"/>
                </a:solidFill>
                <a:latin typeface="Liberation Sans Narrow" pitchFamily="34" charset="0"/>
                <a:ea typeface="Liberation Sans Narrow" pitchFamily="34" charset="-122"/>
                <a:cs typeface="Liberation Sans Narrow" pitchFamily="34" charset="-120"/>
              </a:rPr>
              <a:t>03</a:t>
            </a:r>
            <a:endParaRPr lang="en-US" sz="3600" dirty="0"/>
          </a:p>
        </p:txBody>
      </p:sp>
      <p:sp>
        <p:nvSpPr>
          <p:cNvPr id="3" name="Text 1"/>
          <p:cNvSpPr/>
          <p:nvPr/>
        </p:nvSpPr>
        <p:spPr>
          <a:xfrm>
            <a:off x="1109849" y="678656"/>
            <a:ext cx="449520" cy="164592"/>
          </a:xfrm>
          <a:prstGeom prst="rect">
            <a:avLst/>
          </a:prstGeom>
          <a:noFill/>
          <a:ln/>
        </p:spPr>
        <p:txBody>
          <a:bodyPr wrap="none" lIns="0" tIns="0" rIns="0" bIns="0" rtlCol="0" anchor="t"/>
          <a:lstStyle/>
          <a:p>
            <a:pPr algn="l" indent="0" marL="0">
              <a:lnSpc>
                <a:spcPts val="1181"/>
              </a:lnSpc>
              <a:buNone/>
            </a:pPr>
            <a:r>
              <a:rPr lang="en-US" sz="800" b="1" spc="79" kern="0" dirty="0">
                <a:solidFill>
                  <a:srgbClr val="6B7C72"/>
                </a:solidFill>
                <a:latin typeface="Liberation Sans Narrow" pitchFamily="34" charset="0"/>
                <a:ea typeface="Liberation Sans Narrow" pitchFamily="34" charset="-122"/>
                <a:cs typeface="Liberation Sans Narrow" pitchFamily="34" charset="-120"/>
              </a:rPr>
              <a:t>/ 06</a:t>
            </a:r>
            <a:endParaRPr lang="en-US" sz="800" dirty="0"/>
          </a:p>
        </p:txBody>
      </p:sp>
      <p:pic>
        <p:nvPicPr>
          <p:cNvPr id="4" name="Image 0" descr="preencoded.png">    </p:cNvPr>
          <p:cNvPicPr>
            <a:picLocks noChangeAspect="1"/>
          </p:cNvPicPr>
          <p:nvPr/>
        </p:nvPicPr>
        <p:blipFill>
          <a:blip r:embed="rId1"/>
          <a:stretch>
            <a:fillRect/>
          </a:stretch>
        </p:blipFill>
        <p:spPr>
          <a:xfrm>
            <a:off x="7757554" y="448270"/>
            <a:ext cx="300038" cy="21431"/>
          </a:xfrm>
          <a:prstGeom prst="rect">
            <a:avLst/>
          </a:prstGeom>
        </p:spPr>
      </p:pic>
      <p:sp>
        <p:nvSpPr>
          <p:cNvPr id="5" name="Text 2"/>
          <p:cNvSpPr/>
          <p:nvPr/>
        </p:nvSpPr>
        <p:spPr>
          <a:xfrm>
            <a:off x="8114742" y="400050"/>
            <a:ext cx="730767"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C72"/>
                </a:solidFill>
                <a:latin typeface="Carlito" pitchFamily="34" charset="0"/>
                <a:ea typeface="Carlito" pitchFamily="34" charset="-122"/>
                <a:cs typeface="Carlito" pitchFamily="34" charset="-120"/>
              </a:rPr>
              <a:t>SOLUTION</a:t>
            </a:r>
            <a:endParaRPr lang="en-US" sz="800" dirty="0"/>
          </a:p>
        </p:txBody>
      </p:sp>
      <p:sp>
        <p:nvSpPr>
          <p:cNvPr id="6" name="Text 3"/>
          <p:cNvSpPr/>
          <p:nvPr/>
        </p:nvSpPr>
        <p:spPr>
          <a:xfrm>
            <a:off x="514350" y="957263"/>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0F5132"/>
                </a:solidFill>
                <a:latin typeface="Carlito" pitchFamily="34" charset="0"/>
                <a:ea typeface="Carlito" pitchFamily="34" charset="-122"/>
                <a:cs typeface="Carlito" pitchFamily="34" charset="-120"/>
              </a:rPr>
              <a:t>La solution MediTike</a:t>
            </a:r>
            <a:endParaRPr lang="en-US" sz="2475" dirty="0"/>
          </a:p>
        </p:txBody>
      </p:sp>
      <p:sp>
        <p:nvSpPr>
          <p:cNvPr id="7" name="Text 4"/>
          <p:cNvSpPr/>
          <p:nvPr/>
        </p:nvSpPr>
        <p:spPr>
          <a:xfrm>
            <a:off x="514350" y="1360103"/>
            <a:ext cx="8629650" cy="254603"/>
          </a:xfrm>
          <a:prstGeom prst="rect">
            <a:avLst/>
          </a:prstGeom>
          <a:noFill/>
          <a:ln/>
        </p:spPr>
        <p:txBody>
          <a:bodyPr wrap="square" lIns="0" tIns="0" rIns="0" bIns="0" rtlCol="0" anchor="t"/>
          <a:lstStyle/>
          <a:p>
            <a:pPr algn="l" indent="0" marL="0">
              <a:lnSpc>
                <a:spcPts val="1856"/>
              </a:lnSpc>
              <a:buNone/>
            </a:pPr>
            <a:r>
              <a:rPr lang="en-US" sz="1238" dirty="0">
                <a:solidFill>
                  <a:srgbClr val="6B7C72"/>
                </a:solidFill>
                <a:latin typeface="Carlito" pitchFamily="34" charset="0"/>
                <a:ea typeface="Carlito" pitchFamily="34" charset="-122"/>
                <a:cs typeface="Carlito" pitchFamily="34" charset="-120"/>
              </a:rPr>
              <a:t>Une plateforme à 3 acteurs pour un flux temps réel</a:t>
            </a:r>
            <a:endParaRPr lang="en-US" sz="1238" dirty="0"/>
          </a:p>
        </p:txBody>
      </p:sp>
      <p:sp>
        <p:nvSpPr>
          <p:cNvPr id="8" name="Text 5"/>
          <p:cNvSpPr/>
          <p:nvPr/>
        </p:nvSpPr>
        <p:spPr>
          <a:xfrm>
            <a:off x="517922" y="1756581"/>
            <a:ext cx="2602669" cy="2983297"/>
          </a:xfrm>
          <a:prstGeom prst="roundRect">
            <a:avLst>
              <a:gd name="adj" fmla="val 5856"/>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9" name="Text 6"/>
          <p:cNvSpPr/>
          <p:nvPr/>
        </p:nvSpPr>
        <p:spPr>
          <a:xfrm>
            <a:off x="521494" y="1760153"/>
            <a:ext cx="2595525" cy="21431"/>
          </a:xfrm>
          <a:prstGeom prst="rect">
            <a:avLst/>
          </a:prstGeom>
          <a:solidFill>
            <a:srgbClr val="0F5132"/>
          </a:solidFill>
          <a:ln/>
        </p:spPr>
        <p:txBody>
          <a:bodyPr wrap="square" rtlCol="0" anchor="ctr"/>
          <a:lstStyle/>
          <a:p>
            <a:pPr indent="0" marL="0">
              <a:buNone/>
            </a:pPr>
            <a:endParaRPr lang="en-US" dirty="0"/>
          </a:p>
        </p:txBody>
      </p:sp>
      <p:pic>
        <p:nvPicPr>
          <p:cNvPr id="10" name="Image 1" descr="preencoded.png">    </p:cNvPr>
          <p:cNvPicPr>
            <a:picLocks noChangeAspect="1"/>
          </p:cNvPicPr>
          <p:nvPr/>
        </p:nvPicPr>
        <p:blipFill>
          <a:blip r:embed="rId2"/>
          <a:stretch>
            <a:fillRect/>
          </a:stretch>
        </p:blipFill>
        <p:spPr>
          <a:xfrm>
            <a:off x="678656" y="1931603"/>
            <a:ext cx="342900" cy="342900"/>
          </a:xfrm>
          <a:prstGeom prst="rect">
            <a:avLst/>
          </a:prstGeom>
        </p:spPr>
      </p:pic>
      <p:sp>
        <p:nvSpPr>
          <p:cNvPr id="11" name="Text 7"/>
          <p:cNvSpPr/>
          <p:nvPr/>
        </p:nvSpPr>
        <p:spPr>
          <a:xfrm>
            <a:off x="715447" y="1968393"/>
            <a:ext cx="269319" cy="269319"/>
          </a:xfrm>
          <a:prstGeom prst="rect">
            <a:avLst/>
          </a:prstGeom>
          <a:noFill/>
          <a:ln/>
        </p:spPr>
        <p:txBody>
          <a:bodyPr wrap="none" lIns="0" tIns="0" rIns="0" bIns="0" rtlCol="0" anchor="ctr"/>
          <a:lstStyle/>
          <a:p>
            <a:pPr algn="ctr" indent="0" marL="0">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12" name="Text 8"/>
          <p:cNvSpPr/>
          <p:nvPr/>
        </p:nvSpPr>
        <p:spPr>
          <a:xfrm>
            <a:off x="1107281" y="1961071"/>
            <a:ext cx="1379633" cy="91440"/>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0F5132"/>
                </a:solidFill>
                <a:latin typeface="Liberation Sans Narrow" pitchFamily="34" charset="0"/>
                <a:ea typeface="Liberation Sans Narrow" pitchFamily="34" charset="-122"/>
                <a:cs typeface="Liberation Sans Narrow" pitchFamily="34" charset="-120"/>
              </a:rPr>
              <a:t>ACTEUR 01</a:t>
            </a:r>
            <a:endParaRPr lang="en-US" sz="800" dirty="0"/>
          </a:p>
        </p:txBody>
      </p:sp>
      <p:sp>
        <p:nvSpPr>
          <p:cNvPr id="13" name="Text 9"/>
          <p:cNvSpPr/>
          <p:nvPr/>
        </p:nvSpPr>
        <p:spPr>
          <a:xfrm>
            <a:off x="1107281" y="2073585"/>
            <a:ext cx="1144413" cy="185166"/>
          </a:xfrm>
          <a:prstGeom prst="rect">
            <a:avLst/>
          </a:prstGeom>
          <a:noFill/>
          <a:ln/>
        </p:spPr>
        <p:txBody>
          <a:bodyPr wrap="none" lIns="0" tIns="0" rIns="0" bIns="0" rtlCol="0" anchor="t"/>
          <a:lstStyle/>
          <a:p>
            <a:pPr algn="l" indent="0" marL="0">
              <a:lnSpc>
                <a:spcPts val="1350"/>
              </a:lnSpc>
              <a:buNone/>
            </a:pPr>
            <a:r>
              <a:rPr lang="en-US" sz="1125" b="1" spc="-23" kern="0" dirty="0">
                <a:solidFill>
                  <a:srgbClr val="1A2B22"/>
                </a:solidFill>
                <a:latin typeface="Carlito" pitchFamily="34" charset="0"/>
                <a:ea typeface="Carlito" pitchFamily="34" charset="-122"/>
                <a:cs typeface="Carlito" pitchFamily="34" charset="-120"/>
              </a:rPr>
              <a:t>Espace Patient</a:t>
            </a:r>
            <a:endParaRPr lang="en-US" sz="1125" dirty="0"/>
          </a:p>
        </p:txBody>
      </p:sp>
      <p:sp>
        <p:nvSpPr>
          <p:cNvPr id="14" name="Text 10"/>
          <p:cNvSpPr/>
          <p:nvPr/>
        </p:nvSpPr>
        <p:spPr>
          <a:xfrm>
            <a:off x="678656" y="2374516"/>
            <a:ext cx="2281200" cy="680314"/>
          </a:xfrm>
          <a:prstGeom prst="rect">
            <a:avLst/>
          </a:prstGeom>
          <a:noFill/>
          <a:ln/>
        </p:spPr>
        <p:txBody>
          <a:bodyPr wrap="square" lIns="0" tIns="0" rIns="0" bIns="0" rtlCol="0" anchor="t"/>
          <a:lstStyle/>
          <a:p>
            <a:pPr algn="l" indent="0" marL="0">
              <a:lnSpc>
                <a:spcPts val="1090"/>
              </a:lnSpc>
              <a:buNone/>
            </a:pPr>
            <a:r>
              <a:rPr lang="en-US" sz="800" dirty="0">
                <a:solidFill>
                  <a:srgbClr val="1A2B22"/>
                </a:solidFill>
                <a:latin typeface="Carlito" pitchFamily="34" charset="0"/>
                <a:ea typeface="Carlito" pitchFamily="34" charset="-122"/>
                <a:cs typeface="Carlito" pitchFamily="34" charset="-120"/>
              </a:rPr>
              <a:t>Le client crée une demande avec nom du médicament + photo optionnelle (ordonnance, boîte). Sa demande est envoyée instantanément à toutes les pharmacies de garde.</a:t>
            </a:r>
            <a:endParaRPr lang="en-US" sz="800" dirty="0"/>
          </a:p>
        </p:txBody>
      </p:sp>
      <p:sp>
        <p:nvSpPr>
          <p:cNvPr id="15" name="Text 11"/>
          <p:cNvSpPr/>
          <p:nvPr/>
        </p:nvSpPr>
        <p:spPr>
          <a:xfrm>
            <a:off x="678656" y="3013881"/>
            <a:ext cx="2281200" cy="7144"/>
          </a:xfrm>
          <a:prstGeom prst="rect">
            <a:avLst/>
          </a:prstGeom>
          <a:solidFill>
            <a:srgbClr val="E5E0D5"/>
          </a:solidFill>
          <a:ln/>
        </p:spPr>
        <p:txBody>
          <a:bodyPr wrap="square" rtlCol="0" anchor="ctr"/>
          <a:lstStyle/>
          <a:p>
            <a:pPr indent="0" marL="0">
              <a:buNone/>
            </a:pPr>
            <a:endParaRPr lang="en-US" dirty="0"/>
          </a:p>
        </p:txBody>
      </p:sp>
      <p:sp>
        <p:nvSpPr>
          <p:cNvPr id="16" name="Text 12"/>
          <p:cNvSpPr/>
          <p:nvPr/>
        </p:nvSpPr>
        <p:spPr>
          <a:xfrm>
            <a:off x="678656" y="3092462"/>
            <a:ext cx="2281200" cy="724376"/>
          </a:xfrm>
          <a:prstGeom prst="rect">
            <a:avLst/>
          </a:prstGeom>
          <a:noFill/>
          <a:ln/>
        </p:spPr>
        <p:txBody>
          <a:bodyPr wrap="square" lIns="0" tIns="0" rIns="0" bIns="0" rtlCol="0" anchor="t"/>
          <a:lstStyle/>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✓Inscription sécurisée téléphone + mot de passe</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✓Upload photos max 2 Mo</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✓Réception des réponses en temps réel</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✓Contact direct WhatsApp/Appeler</a:t>
            </a:r>
            <a:endParaRPr lang="en-US" sz="800" dirty="0"/>
          </a:p>
        </p:txBody>
      </p:sp>
      <p:sp>
        <p:nvSpPr>
          <p:cNvPr id="17" name="Text 13"/>
          <p:cNvSpPr/>
          <p:nvPr/>
        </p:nvSpPr>
        <p:spPr>
          <a:xfrm>
            <a:off x="3270610" y="1756581"/>
            <a:ext cx="2602669" cy="2983297"/>
          </a:xfrm>
          <a:prstGeom prst="roundRect">
            <a:avLst>
              <a:gd name="adj" fmla="val 5856"/>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18" name="Text 14"/>
          <p:cNvSpPr/>
          <p:nvPr/>
        </p:nvSpPr>
        <p:spPr>
          <a:xfrm>
            <a:off x="3274182" y="1760153"/>
            <a:ext cx="2595525" cy="21431"/>
          </a:xfrm>
          <a:prstGeom prst="rect">
            <a:avLst/>
          </a:prstGeom>
          <a:solidFill>
            <a:srgbClr val="B89968"/>
          </a:solidFill>
          <a:ln/>
        </p:spPr>
        <p:txBody>
          <a:bodyPr wrap="square" rtlCol="0" anchor="ctr"/>
          <a:lstStyle/>
          <a:p>
            <a:pPr indent="0" marL="0">
              <a:buNone/>
            </a:pPr>
            <a:endParaRPr lang="en-US" dirty="0"/>
          </a:p>
        </p:txBody>
      </p:sp>
      <p:pic>
        <p:nvPicPr>
          <p:cNvPr id="19" name="Image 2" descr="preencoded.png">    </p:cNvPr>
          <p:cNvPicPr>
            <a:picLocks noChangeAspect="1"/>
          </p:cNvPicPr>
          <p:nvPr/>
        </p:nvPicPr>
        <p:blipFill>
          <a:blip r:embed="rId3"/>
          <a:stretch>
            <a:fillRect/>
          </a:stretch>
        </p:blipFill>
        <p:spPr>
          <a:xfrm>
            <a:off x="3431344" y="1931603"/>
            <a:ext cx="342900" cy="342900"/>
          </a:xfrm>
          <a:prstGeom prst="rect">
            <a:avLst/>
          </a:prstGeom>
        </p:spPr>
      </p:pic>
      <p:sp>
        <p:nvSpPr>
          <p:cNvPr id="20" name="Text 15"/>
          <p:cNvSpPr/>
          <p:nvPr/>
        </p:nvSpPr>
        <p:spPr>
          <a:xfrm>
            <a:off x="3468134" y="1968393"/>
            <a:ext cx="269319" cy="269319"/>
          </a:xfrm>
          <a:prstGeom prst="rect">
            <a:avLst/>
          </a:prstGeom>
          <a:noFill/>
          <a:ln/>
        </p:spPr>
        <p:txBody>
          <a:bodyPr wrap="none" lIns="0" tIns="0" rIns="0" bIns="0" rtlCol="0" anchor="ctr"/>
          <a:lstStyle/>
          <a:p>
            <a:pPr algn="ctr" indent="0" marL="0">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21" name="Text 16"/>
          <p:cNvSpPr/>
          <p:nvPr/>
        </p:nvSpPr>
        <p:spPr>
          <a:xfrm>
            <a:off x="3859969" y="1961071"/>
            <a:ext cx="1839038" cy="91440"/>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B89968"/>
                </a:solidFill>
                <a:latin typeface="Liberation Sans Narrow" pitchFamily="34" charset="0"/>
                <a:ea typeface="Liberation Sans Narrow" pitchFamily="34" charset="-122"/>
                <a:cs typeface="Liberation Sans Narrow" pitchFamily="34" charset="-120"/>
              </a:rPr>
              <a:t>ACTEUR 02</a:t>
            </a:r>
            <a:endParaRPr lang="en-US" sz="800" dirty="0"/>
          </a:p>
        </p:txBody>
      </p:sp>
      <p:sp>
        <p:nvSpPr>
          <p:cNvPr id="22" name="Text 17"/>
          <p:cNvSpPr/>
          <p:nvPr/>
        </p:nvSpPr>
        <p:spPr>
          <a:xfrm>
            <a:off x="3859969" y="2073585"/>
            <a:ext cx="1525491" cy="185166"/>
          </a:xfrm>
          <a:prstGeom prst="rect">
            <a:avLst/>
          </a:prstGeom>
          <a:noFill/>
          <a:ln/>
        </p:spPr>
        <p:txBody>
          <a:bodyPr wrap="none" lIns="0" tIns="0" rIns="0" bIns="0" rtlCol="0" anchor="t"/>
          <a:lstStyle/>
          <a:p>
            <a:pPr algn="l" indent="0" marL="0">
              <a:lnSpc>
                <a:spcPts val="1350"/>
              </a:lnSpc>
              <a:buNone/>
            </a:pPr>
            <a:r>
              <a:rPr lang="en-US" sz="1125" b="1" spc="-23" kern="0" dirty="0">
                <a:solidFill>
                  <a:srgbClr val="1A2B22"/>
                </a:solidFill>
                <a:latin typeface="Carlito" pitchFamily="34" charset="0"/>
                <a:ea typeface="Carlito" pitchFamily="34" charset="-122"/>
                <a:cs typeface="Carlito" pitchFamily="34" charset="-120"/>
              </a:rPr>
              <a:t>Espace Pharmacien</a:t>
            </a:r>
            <a:endParaRPr lang="en-US" sz="1125" dirty="0"/>
          </a:p>
        </p:txBody>
      </p:sp>
      <p:sp>
        <p:nvSpPr>
          <p:cNvPr id="23" name="Text 18"/>
          <p:cNvSpPr/>
          <p:nvPr/>
        </p:nvSpPr>
        <p:spPr>
          <a:xfrm>
            <a:off x="3431344" y="2374516"/>
            <a:ext cx="2281200" cy="510235"/>
          </a:xfrm>
          <a:prstGeom prst="rect">
            <a:avLst/>
          </a:prstGeom>
          <a:noFill/>
          <a:ln/>
        </p:spPr>
        <p:txBody>
          <a:bodyPr wrap="square" lIns="0" tIns="0" rIns="0" bIns="0" rtlCol="0" anchor="t"/>
          <a:lstStyle/>
          <a:p>
            <a:pPr algn="l" indent="0" marL="0">
              <a:lnSpc>
                <a:spcPts val="1090"/>
              </a:lnSpc>
              <a:buNone/>
            </a:pPr>
            <a:r>
              <a:rPr lang="en-US" sz="800" dirty="0">
                <a:solidFill>
                  <a:srgbClr val="1A2B22"/>
                </a:solidFill>
                <a:latin typeface="Carlito" pitchFamily="34" charset="0"/>
                <a:ea typeface="Carlito" pitchFamily="34" charset="-122"/>
                <a:cs typeface="Carlito" pitchFamily="34" charset="-120"/>
              </a:rPr>
              <a:t>Les pharmaciens reçoivent les demandes en temps réel et répondent : disponible/indisponible, prix en FCFA, note personnalisée.</a:t>
            </a:r>
            <a:endParaRPr lang="en-US" sz="800" dirty="0"/>
          </a:p>
        </p:txBody>
      </p:sp>
      <p:sp>
        <p:nvSpPr>
          <p:cNvPr id="24" name="Text 19"/>
          <p:cNvSpPr/>
          <p:nvPr/>
        </p:nvSpPr>
        <p:spPr>
          <a:xfrm>
            <a:off x="3431344" y="2875471"/>
            <a:ext cx="2281200" cy="7144"/>
          </a:xfrm>
          <a:prstGeom prst="rect">
            <a:avLst/>
          </a:prstGeom>
          <a:solidFill>
            <a:srgbClr val="E5E0D5"/>
          </a:solidFill>
          <a:ln/>
        </p:spPr>
        <p:txBody>
          <a:bodyPr wrap="square" rtlCol="0" anchor="ctr"/>
          <a:lstStyle/>
          <a:p>
            <a:pPr indent="0" marL="0">
              <a:buNone/>
            </a:pPr>
            <a:endParaRPr lang="en-US" dirty="0"/>
          </a:p>
        </p:txBody>
      </p:sp>
      <p:sp>
        <p:nvSpPr>
          <p:cNvPr id="25" name="Text 20"/>
          <p:cNvSpPr/>
          <p:nvPr/>
        </p:nvSpPr>
        <p:spPr>
          <a:xfrm>
            <a:off x="3431344" y="2954052"/>
            <a:ext cx="2281200" cy="724376"/>
          </a:xfrm>
          <a:prstGeom prst="rect">
            <a:avLst/>
          </a:prstGeom>
          <a:noFill/>
          <a:ln/>
        </p:spPr>
        <p:txBody>
          <a:bodyPr wrap="square" lIns="0" tIns="0" rIns="0" bIns="0" rtlCol="0" anchor="t"/>
          <a:lstStyle/>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✓Notifications instantanées</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✓Réponse en 1 clic</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✓Historique des réponses</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✓Prix et disponibilité</a:t>
            </a:r>
            <a:endParaRPr lang="en-US" sz="800" dirty="0"/>
          </a:p>
        </p:txBody>
      </p:sp>
      <p:sp>
        <p:nvSpPr>
          <p:cNvPr id="26" name="Text 21"/>
          <p:cNvSpPr/>
          <p:nvPr/>
        </p:nvSpPr>
        <p:spPr>
          <a:xfrm>
            <a:off x="6023297" y="1756581"/>
            <a:ext cx="2602781" cy="2983297"/>
          </a:xfrm>
          <a:prstGeom prst="roundRect">
            <a:avLst>
              <a:gd name="adj" fmla="val 5855"/>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27" name="Text 22"/>
          <p:cNvSpPr/>
          <p:nvPr/>
        </p:nvSpPr>
        <p:spPr>
          <a:xfrm>
            <a:off x="6026869" y="1760153"/>
            <a:ext cx="2595637" cy="21431"/>
          </a:xfrm>
          <a:prstGeom prst="rect">
            <a:avLst/>
          </a:prstGeom>
          <a:solidFill>
            <a:srgbClr val="0F1F1A"/>
          </a:solidFill>
          <a:ln/>
        </p:spPr>
        <p:txBody>
          <a:bodyPr wrap="square" rtlCol="0" anchor="ctr"/>
          <a:lstStyle/>
          <a:p>
            <a:pPr indent="0" marL="0">
              <a:buNone/>
            </a:pPr>
            <a:endParaRPr lang="en-US" dirty="0"/>
          </a:p>
        </p:txBody>
      </p:sp>
      <p:pic>
        <p:nvPicPr>
          <p:cNvPr id="28" name="Image 3" descr="preencoded.png">    </p:cNvPr>
          <p:cNvPicPr>
            <a:picLocks noChangeAspect="1"/>
          </p:cNvPicPr>
          <p:nvPr/>
        </p:nvPicPr>
        <p:blipFill>
          <a:blip r:embed="rId4"/>
          <a:stretch>
            <a:fillRect/>
          </a:stretch>
        </p:blipFill>
        <p:spPr>
          <a:xfrm>
            <a:off x="6184032" y="1931603"/>
            <a:ext cx="342900" cy="342900"/>
          </a:xfrm>
          <a:prstGeom prst="rect">
            <a:avLst/>
          </a:prstGeom>
        </p:spPr>
      </p:pic>
      <p:sp>
        <p:nvSpPr>
          <p:cNvPr id="29" name="Text 23"/>
          <p:cNvSpPr/>
          <p:nvPr/>
        </p:nvSpPr>
        <p:spPr>
          <a:xfrm>
            <a:off x="6220822" y="1968393"/>
            <a:ext cx="269319" cy="269319"/>
          </a:xfrm>
          <a:prstGeom prst="rect">
            <a:avLst/>
          </a:prstGeom>
          <a:noFill/>
          <a:ln/>
        </p:spPr>
        <p:txBody>
          <a:bodyPr wrap="none" lIns="0" tIns="0" rIns="0" bIns="0" rtlCol="0" anchor="ctr"/>
          <a:lstStyle/>
          <a:p>
            <a:pPr algn="ctr" indent="0" marL="0">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30" name="Text 24"/>
          <p:cNvSpPr/>
          <p:nvPr/>
        </p:nvSpPr>
        <p:spPr>
          <a:xfrm>
            <a:off x="6612657" y="1961071"/>
            <a:ext cx="1335159" cy="91440"/>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0F1F1A"/>
                </a:solidFill>
                <a:latin typeface="Liberation Sans Narrow" pitchFamily="34" charset="0"/>
                <a:ea typeface="Liberation Sans Narrow" pitchFamily="34" charset="-122"/>
                <a:cs typeface="Liberation Sans Narrow" pitchFamily="34" charset="-120"/>
              </a:rPr>
              <a:t>ACTEUR 03</a:t>
            </a:r>
            <a:endParaRPr lang="en-US" sz="800" dirty="0"/>
          </a:p>
        </p:txBody>
      </p:sp>
      <p:sp>
        <p:nvSpPr>
          <p:cNvPr id="31" name="Text 25"/>
          <p:cNvSpPr/>
          <p:nvPr/>
        </p:nvSpPr>
        <p:spPr>
          <a:xfrm>
            <a:off x="6612657" y="2073585"/>
            <a:ext cx="1107521" cy="185166"/>
          </a:xfrm>
          <a:prstGeom prst="rect">
            <a:avLst/>
          </a:prstGeom>
          <a:noFill/>
          <a:ln/>
        </p:spPr>
        <p:txBody>
          <a:bodyPr wrap="none" lIns="0" tIns="0" rIns="0" bIns="0" rtlCol="0" anchor="t"/>
          <a:lstStyle/>
          <a:p>
            <a:pPr algn="l" indent="0" marL="0">
              <a:lnSpc>
                <a:spcPts val="1350"/>
              </a:lnSpc>
              <a:buNone/>
            </a:pPr>
            <a:r>
              <a:rPr lang="en-US" sz="1125" b="1" spc="-23" kern="0" dirty="0">
                <a:solidFill>
                  <a:srgbClr val="1A2B22"/>
                </a:solidFill>
                <a:latin typeface="Carlito" pitchFamily="34" charset="0"/>
                <a:ea typeface="Carlito" pitchFamily="34" charset="-122"/>
                <a:cs typeface="Carlito" pitchFamily="34" charset="-120"/>
              </a:rPr>
              <a:t>Espace Admin</a:t>
            </a:r>
            <a:endParaRPr lang="en-US" sz="1125" dirty="0"/>
          </a:p>
        </p:txBody>
      </p:sp>
      <p:sp>
        <p:nvSpPr>
          <p:cNvPr id="32" name="Text 26"/>
          <p:cNvSpPr/>
          <p:nvPr/>
        </p:nvSpPr>
        <p:spPr>
          <a:xfrm>
            <a:off x="6184032" y="2374516"/>
            <a:ext cx="2281312" cy="510235"/>
          </a:xfrm>
          <a:prstGeom prst="rect">
            <a:avLst/>
          </a:prstGeom>
          <a:noFill/>
          <a:ln/>
        </p:spPr>
        <p:txBody>
          <a:bodyPr wrap="square" lIns="0" tIns="0" rIns="0" bIns="0" rtlCol="0" anchor="t"/>
          <a:lstStyle/>
          <a:p>
            <a:pPr algn="l" indent="0" marL="0">
              <a:lnSpc>
                <a:spcPts val="1090"/>
              </a:lnSpc>
              <a:buNone/>
            </a:pPr>
            <a:r>
              <a:rPr lang="en-US" sz="800" dirty="0">
                <a:solidFill>
                  <a:srgbClr val="1A2B22"/>
                </a:solidFill>
                <a:latin typeface="Carlito" pitchFamily="34" charset="0"/>
                <a:ea typeface="Carlito" pitchFamily="34" charset="-122"/>
                <a:cs typeface="Carlito" pitchFamily="34" charset="-120"/>
              </a:rPr>
              <a:t>L'administrateur gère les pharmacies, importe la liste de garde, et supervise l'activité via un tableau de bord sécurisé.</a:t>
            </a:r>
            <a:endParaRPr lang="en-US" sz="800" dirty="0"/>
          </a:p>
        </p:txBody>
      </p:sp>
      <p:sp>
        <p:nvSpPr>
          <p:cNvPr id="33" name="Text 27"/>
          <p:cNvSpPr/>
          <p:nvPr/>
        </p:nvSpPr>
        <p:spPr>
          <a:xfrm>
            <a:off x="6184032" y="2875471"/>
            <a:ext cx="2281312" cy="7144"/>
          </a:xfrm>
          <a:prstGeom prst="rect">
            <a:avLst/>
          </a:prstGeom>
          <a:solidFill>
            <a:srgbClr val="E5E0D5"/>
          </a:solidFill>
          <a:ln/>
        </p:spPr>
        <p:txBody>
          <a:bodyPr wrap="square" rtlCol="0" anchor="ctr"/>
          <a:lstStyle/>
          <a:p>
            <a:pPr indent="0" marL="0">
              <a:buNone/>
            </a:pPr>
            <a:endParaRPr lang="en-US" dirty="0"/>
          </a:p>
        </p:txBody>
      </p:sp>
      <p:sp>
        <p:nvSpPr>
          <p:cNvPr id="34" name="Text 28"/>
          <p:cNvSpPr/>
          <p:nvPr/>
        </p:nvSpPr>
        <p:spPr>
          <a:xfrm>
            <a:off x="6184032" y="2954052"/>
            <a:ext cx="2281312" cy="724376"/>
          </a:xfrm>
          <a:prstGeom prst="rect">
            <a:avLst/>
          </a:prstGeom>
          <a:noFill/>
          <a:ln/>
        </p:spPr>
        <p:txBody>
          <a:bodyPr wrap="square" lIns="0" tIns="0" rIns="0" bIns="0" rtlCol="0" anchor="t"/>
          <a:lstStyle/>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✓URL admin secrète (32 caractères)</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✓Import xlsx/json de la liste de garde</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✓Statistiques temps réel</a:t>
            </a:r>
            <a:endParaRPr lang="en-US" sz="800" dirty="0"/>
          </a:p>
          <a:p>
            <a:pPr algn="l" marL="342900" indent="-342900">
              <a:lnSpc>
                <a:spcPts val="1013"/>
              </a:lnSpc>
              <a:spcAft>
                <a:spcPts val="338"/>
              </a:spcAft>
              <a:buSzPct val="100000"/>
              <a:buChar char="•"/>
            </a:pPr>
            <a:r>
              <a:rPr lang="en-US" sz="800" dirty="0">
                <a:solidFill>
                  <a:srgbClr val="1A2B22"/>
                </a:solidFill>
                <a:latin typeface="Carlito" pitchFamily="34" charset="0"/>
                <a:ea typeface="Carlito" pitchFamily="34" charset="-122"/>
                <a:cs typeface="Carlito" pitchFamily="34" charset="-120"/>
              </a:rPr>
              <a:t>✓Journal d'audit complet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F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7286625" y="-857250"/>
            <a:ext cx="2714625" cy="2714625"/>
          </a:xfrm>
          <a:prstGeom prst="ellipse">
            <a:avLst/>
          </a:prstGeom>
          <a:solidFill>
            <a:srgbClr val="B89968">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514350" y="448270"/>
            <a:ext cx="300038" cy="21431"/>
          </a:xfrm>
          <a:prstGeom prst="rect">
            <a:avLst/>
          </a:prstGeom>
        </p:spPr>
      </p:pic>
      <p:sp>
        <p:nvSpPr>
          <p:cNvPr id="5" name="Text 1"/>
          <p:cNvSpPr/>
          <p:nvPr/>
        </p:nvSpPr>
        <p:spPr>
          <a:xfrm>
            <a:off x="871538" y="400050"/>
            <a:ext cx="2628007" cy="164592"/>
          </a:xfrm>
          <a:prstGeom prst="rect">
            <a:avLst/>
          </a:prstGeom>
          <a:noFill/>
          <a:ln/>
        </p:spPr>
        <p:txBody>
          <a:bodyPr wrap="none" lIns="0" tIns="0" rIns="0" bIns="0" rtlCol="0" anchor="t"/>
          <a:lstStyle/>
          <a:p>
            <a:pPr algn="l" indent="0" marL="0">
              <a:lnSpc>
                <a:spcPts val="928"/>
              </a:lnSpc>
              <a:buNone/>
            </a:pPr>
            <a:r>
              <a:rPr lang="en-US" sz="800" b="1" spc="124" kern="0" dirty="0">
                <a:solidFill>
                  <a:srgbClr val="D4B888"/>
                </a:solidFill>
                <a:latin typeface="Carlito" pitchFamily="34" charset="0"/>
                <a:ea typeface="Carlito" pitchFamily="34" charset="-122"/>
                <a:cs typeface="Carlito" pitchFamily="34" charset="-120"/>
              </a:rPr>
              <a:t>PARCOURS PATIENT</a:t>
            </a:r>
            <a:endParaRPr lang="en-US" sz="800" dirty="0"/>
          </a:p>
        </p:txBody>
      </p:sp>
      <p:sp>
        <p:nvSpPr>
          <p:cNvPr id="6" name="Text 2"/>
          <p:cNvSpPr/>
          <p:nvPr/>
        </p:nvSpPr>
        <p:spPr>
          <a:xfrm>
            <a:off x="514350" y="589359"/>
            <a:ext cx="3134454"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F5F3EF"/>
                </a:solidFill>
                <a:latin typeface="Carlito" pitchFamily="34" charset="0"/>
                <a:ea typeface="Carlito" pitchFamily="34" charset="-122"/>
                <a:cs typeface="Carlito" pitchFamily="34" charset="-120"/>
              </a:rPr>
              <a:t>Comment ça marche</a:t>
            </a:r>
            <a:endParaRPr lang="en-US" sz="2475" dirty="0"/>
          </a:p>
        </p:txBody>
      </p:sp>
      <p:sp>
        <p:nvSpPr>
          <p:cNvPr id="7" name="Text 3"/>
          <p:cNvSpPr/>
          <p:nvPr/>
        </p:nvSpPr>
        <p:spPr>
          <a:xfrm>
            <a:off x="514350" y="992200"/>
            <a:ext cx="3224010" cy="231458"/>
          </a:xfrm>
          <a:prstGeom prst="rect">
            <a:avLst/>
          </a:prstGeom>
          <a:noFill/>
          <a:ln/>
        </p:spPr>
        <p:txBody>
          <a:bodyPr wrap="square" lIns="0" tIns="0" rIns="0" bIns="0" rtlCol="0" anchor="t"/>
          <a:lstStyle/>
          <a:p>
            <a:pPr algn="l" indent="0" marL="0">
              <a:lnSpc>
                <a:spcPts val="1688"/>
              </a:lnSpc>
              <a:buNone/>
            </a:pPr>
            <a:r>
              <a:rPr lang="en-US" sz="1125" dirty="0">
                <a:solidFill>
                  <a:srgbClr val="F5F3EF">
                    <a:alpha val="70000"/>
                  </a:srgbClr>
                </a:solidFill>
                <a:latin typeface="Carlito" pitchFamily="34" charset="0"/>
                <a:ea typeface="Carlito" pitchFamily="34" charset="-122"/>
                <a:cs typeface="Carlito" pitchFamily="34" charset="-120"/>
              </a:rPr>
              <a:t>3 étapes · 30 secondes pour le patient</a:t>
            </a:r>
            <a:endParaRPr lang="en-US" sz="1125" dirty="0"/>
          </a:p>
        </p:txBody>
      </p:sp>
      <p:sp>
        <p:nvSpPr>
          <p:cNvPr id="8" name="Text 4"/>
          <p:cNvSpPr/>
          <p:nvPr/>
        </p:nvSpPr>
        <p:spPr>
          <a:xfrm>
            <a:off x="7833122" y="1097570"/>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9" name="Text 5"/>
          <p:cNvSpPr/>
          <p:nvPr/>
        </p:nvSpPr>
        <p:spPr>
          <a:xfrm>
            <a:off x="7990284" y="1088641"/>
            <a:ext cx="83834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F5F3EF">
                    <a:alpha val="70000"/>
                  </a:srgbClr>
                </a:solidFill>
                <a:latin typeface="Carlito" pitchFamily="34" charset="0"/>
                <a:ea typeface="Carlito" pitchFamily="34" charset="-122"/>
                <a:cs typeface="Carlito" pitchFamily="34" charset="-120"/>
              </a:rPr>
              <a:t>TEMPS RÉEL</a:t>
            </a:r>
            <a:endParaRPr lang="en-US" sz="800" dirty="0"/>
          </a:p>
        </p:txBody>
      </p:sp>
      <p:pic>
        <p:nvPicPr>
          <p:cNvPr id="10" name="Image 2" descr="preencoded.png">    </p:cNvPr>
          <p:cNvPicPr>
            <a:picLocks noChangeAspect="1"/>
          </p:cNvPicPr>
          <p:nvPr/>
        </p:nvPicPr>
        <p:blipFill>
          <a:blip r:embed="rId3"/>
          <a:stretch>
            <a:fillRect/>
          </a:stretch>
        </p:blipFill>
        <p:spPr>
          <a:xfrm>
            <a:off x="1650429" y="1906600"/>
            <a:ext cx="5843141" cy="14288"/>
          </a:xfrm>
          <a:prstGeom prst="rect">
            <a:avLst/>
          </a:prstGeom>
        </p:spPr>
      </p:pic>
      <p:sp>
        <p:nvSpPr>
          <p:cNvPr id="11" name="Text 6"/>
          <p:cNvSpPr/>
          <p:nvPr/>
        </p:nvSpPr>
        <p:spPr>
          <a:xfrm>
            <a:off x="521494" y="1506550"/>
            <a:ext cx="371475" cy="371475"/>
          </a:xfrm>
          <a:prstGeom prst="ellipse">
            <a:avLst/>
          </a:prstGeom>
          <a:solidFill>
            <a:srgbClr val="B89968">
              <a:alpha val="12000"/>
            </a:srgbClr>
          </a:solidFill>
          <a:ln w="14288">
            <a:solidFill>
              <a:srgbClr val="B89968"/>
            </a:solidFill>
            <a:prstDash val="solid"/>
          </a:ln>
        </p:spPr>
        <p:txBody>
          <a:bodyPr wrap="square" rtlCol="0" anchor="ctr"/>
          <a:lstStyle/>
          <a:p>
            <a:pPr indent="0" marL="0">
              <a:buNone/>
            </a:pPr>
            <a:endParaRPr lang="en-US" dirty="0"/>
          </a:p>
        </p:txBody>
      </p:sp>
      <p:sp>
        <p:nvSpPr>
          <p:cNvPr id="12" name="Text 7"/>
          <p:cNvSpPr/>
          <p:nvPr/>
        </p:nvSpPr>
        <p:spPr>
          <a:xfrm>
            <a:off x="572572" y="1557628"/>
            <a:ext cx="269319" cy="269319"/>
          </a:xfrm>
          <a:prstGeom prst="rect">
            <a:avLst/>
          </a:prstGeom>
          <a:noFill/>
          <a:ln/>
        </p:spPr>
        <p:txBody>
          <a:bodyPr wrap="none" lIns="0" tIns="0" rIns="0" bIns="0" rtlCol="0" anchor="ctr"/>
          <a:lstStyle/>
          <a:p>
            <a:pPr algn="ctr" indent="0" marL="0">
              <a:buNone/>
            </a:pPr>
            <a:r>
              <a:rPr lang="en-US" sz="1828" dirty="0">
                <a:solidFill>
                  <a:srgbClr val="B89968"/>
                </a:solidFill>
                <a:latin typeface="Segoe UI Symbol" pitchFamily="34" charset="0"/>
                <a:ea typeface="Segoe UI Symbol" pitchFamily="34" charset="-122"/>
                <a:cs typeface="Segoe UI Symbol" pitchFamily="34" charset="-120"/>
              </a:rPr>
              <a:t>➤</a:t>
            </a:r>
            <a:endParaRPr lang="en-US" sz="1828" dirty="0"/>
          </a:p>
        </p:txBody>
      </p:sp>
      <p:sp>
        <p:nvSpPr>
          <p:cNvPr id="13" name="Text 8"/>
          <p:cNvSpPr/>
          <p:nvPr/>
        </p:nvSpPr>
        <p:spPr>
          <a:xfrm>
            <a:off x="1014413" y="1463687"/>
            <a:ext cx="755273" cy="493776"/>
          </a:xfrm>
          <a:prstGeom prst="rect">
            <a:avLst/>
          </a:prstGeom>
          <a:noFill/>
          <a:ln/>
        </p:spPr>
        <p:txBody>
          <a:bodyPr wrap="square" lIns="0" tIns="0" rIns="0" bIns="0" rtlCol="0" anchor="t"/>
          <a:lstStyle/>
          <a:p>
            <a:pPr algn="l" indent="0" marL="0">
              <a:lnSpc>
                <a:spcPts val="3600"/>
              </a:lnSpc>
              <a:buNone/>
            </a:pPr>
            <a:r>
              <a:rPr lang="en-US" sz="3600" b="1" spc="-144" kern="0" dirty="0">
                <a:solidFill>
                  <a:srgbClr val="B89968"/>
                </a:solidFill>
                <a:latin typeface="Liberation Sans Narrow" pitchFamily="34" charset="0"/>
                <a:ea typeface="Liberation Sans Narrow" pitchFamily="34" charset="-122"/>
                <a:cs typeface="Liberation Sans Narrow" pitchFamily="34" charset="-120"/>
              </a:rPr>
              <a:t>01</a:t>
            </a:r>
            <a:endParaRPr lang="en-US" sz="3600" dirty="0"/>
          </a:p>
        </p:txBody>
      </p:sp>
      <p:sp>
        <p:nvSpPr>
          <p:cNvPr id="14" name="Text 9"/>
          <p:cNvSpPr/>
          <p:nvPr/>
        </p:nvSpPr>
        <p:spPr>
          <a:xfrm>
            <a:off x="514350" y="2049475"/>
            <a:ext cx="1578830" cy="203610"/>
          </a:xfrm>
          <a:prstGeom prst="rect">
            <a:avLst/>
          </a:prstGeom>
          <a:noFill/>
          <a:ln/>
        </p:spPr>
        <p:txBody>
          <a:bodyPr wrap="none" lIns="0" tIns="0" rIns="0" bIns="0" rtlCol="0" anchor="t"/>
          <a:lstStyle/>
          <a:p>
            <a:pPr algn="l" indent="0" marL="0">
              <a:lnSpc>
                <a:spcPts val="1485"/>
              </a:lnSpc>
              <a:buNone/>
            </a:pPr>
            <a:r>
              <a:rPr lang="en-US" sz="1238" b="1" spc="-25" kern="0" dirty="0">
                <a:solidFill>
                  <a:srgbClr val="F5F3EF"/>
                </a:solidFill>
                <a:latin typeface="Carlito" pitchFamily="34" charset="0"/>
                <a:ea typeface="Carlito" pitchFamily="34" charset="-122"/>
                <a:cs typeface="Carlito" pitchFamily="34" charset="-120"/>
              </a:rPr>
              <a:t>Envoi de la demande</a:t>
            </a:r>
            <a:endParaRPr lang="en-US" sz="1238" dirty="0"/>
          </a:p>
        </p:txBody>
      </p:sp>
      <p:sp>
        <p:nvSpPr>
          <p:cNvPr id="15" name="Text 10"/>
          <p:cNvSpPr/>
          <p:nvPr/>
        </p:nvSpPr>
        <p:spPr>
          <a:xfrm>
            <a:off x="514350" y="2309440"/>
            <a:ext cx="2590726" cy="666851"/>
          </a:xfrm>
          <a:prstGeom prst="rect">
            <a:avLst/>
          </a:prstGeom>
          <a:noFill/>
          <a:ln/>
        </p:spPr>
        <p:txBody>
          <a:bodyPr wrap="square" lIns="0" tIns="0" rIns="0" bIns="0" rtlCol="0" anchor="t">
            <a:normAutofit/>
          </a:bodyPr>
          <a:lstStyle/>
          <a:p>
            <a:pPr algn="l" indent="0" marL="0">
              <a:lnSpc>
                <a:spcPts val="1170"/>
              </a:lnSpc>
              <a:buNone/>
            </a:pPr>
            <a:r>
              <a:rPr lang="en-US" sz="800" dirty="0">
                <a:solidFill>
                  <a:srgbClr val="F5F3EF">
                    <a:alpha val="70000"/>
                  </a:srgbClr>
                </a:solidFill>
                <a:latin typeface="Carlito" pitchFamily="34" charset="0"/>
                <a:ea typeface="Carlito" pitchFamily="34" charset="-122"/>
                <a:cs typeface="Carlito" pitchFamily="34" charset="-120"/>
              </a:rPr>
              <a:t>Le patient décrit le médicament recherché et joint optionnellement une photo d'ordonnance. Sa demande est diffusée instantanément à toutes les pharmacies de garde de sa zone.</a:t>
            </a:r>
            <a:endParaRPr lang="en-US" sz="800" dirty="0"/>
          </a:p>
        </p:txBody>
      </p:sp>
      <p:sp>
        <p:nvSpPr>
          <p:cNvPr id="16" name="Text 11"/>
          <p:cNvSpPr/>
          <p:nvPr/>
        </p:nvSpPr>
        <p:spPr>
          <a:xfrm>
            <a:off x="491490" y="2990922"/>
            <a:ext cx="776392" cy="243488"/>
          </a:xfrm>
          <a:prstGeom prst="roundRect">
            <a:avLst>
              <a:gd name="adj" fmla="val 31295"/>
            </a:avLst>
          </a:prstGeom>
          <a:solidFill>
            <a:srgbClr val="B89968">
              <a:alpha val="8000"/>
            </a:srgbClr>
          </a:solidFill>
          <a:ln w="7144">
            <a:solidFill>
              <a:srgbClr val="B89968"/>
            </a:solidFill>
            <a:prstDash val="solid"/>
          </a:ln>
        </p:spPr>
        <p:txBody>
          <a:bodyPr wrap="square" rtlCol="0" anchor="ctr"/>
          <a:lstStyle/>
          <a:p>
            <a:pPr indent="0" marL="0">
              <a:buNone/>
            </a:pPr>
            <a:endParaRPr lang="en-US" dirty="0"/>
          </a:p>
        </p:txBody>
      </p:sp>
      <p:sp>
        <p:nvSpPr>
          <p:cNvPr id="17" name="Text 12"/>
          <p:cNvSpPr/>
          <p:nvPr/>
        </p:nvSpPr>
        <p:spPr>
          <a:xfrm>
            <a:off x="592931" y="3066231"/>
            <a:ext cx="92869" cy="92869"/>
          </a:xfrm>
          <a:prstGeom prst="rect">
            <a:avLst/>
          </a:prstGeom>
          <a:noFill/>
          <a:ln/>
        </p:spPr>
        <p:txBody>
          <a:bodyPr wrap="none" lIns="0" tIns="0" rIns="0" bIns="0" rtlCol="0" anchor="ctr"/>
          <a:lstStyle/>
          <a:p>
            <a:pPr algn="ctr" indent="0" marL="0">
              <a:buNone/>
            </a:pPr>
            <a:r>
              <a:rPr lang="en-US" sz="914" dirty="0">
                <a:solidFill>
                  <a:srgbClr val="B89968"/>
                </a:solidFill>
                <a:latin typeface="Segoe UI Symbol" pitchFamily="34" charset="0"/>
                <a:ea typeface="Segoe UI Symbol" pitchFamily="34" charset="-122"/>
                <a:cs typeface="Segoe UI Symbol" pitchFamily="34" charset="-120"/>
              </a:rPr>
              <a:t>▯</a:t>
            </a:r>
            <a:endParaRPr lang="en-US" sz="914" dirty="0"/>
          </a:p>
        </p:txBody>
      </p:sp>
      <p:sp>
        <p:nvSpPr>
          <p:cNvPr id="18" name="Text 13"/>
          <p:cNvSpPr/>
          <p:nvPr/>
        </p:nvSpPr>
        <p:spPr>
          <a:xfrm>
            <a:off x="742950" y="3053730"/>
            <a:ext cx="423490" cy="117872"/>
          </a:xfrm>
          <a:prstGeom prst="rect">
            <a:avLst/>
          </a:prstGeom>
          <a:noFill/>
          <a:ln/>
        </p:spPr>
        <p:txBody>
          <a:bodyPr wrap="square" lIns="0" tIns="0" rIns="0" bIns="0" rtlCol="0" anchor="t"/>
          <a:lstStyle/>
          <a:p>
            <a:pPr algn="l" indent="0" marL="0">
              <a:lnSpc>
                <a:spcPts val="928"/>
              </a:lnSpc>
              <a:buNone/>
            </a:pPr>
            <a:r>
              <a:rPr lang="en-US" sz="800" dirty="0">
                <a:solidFill>
                  <a:srgbClr val="D4B888"/>
                </a:solidFill>
                <a:latin typeface="Carlito" pitchFamily="34" charset="0"/>
                <a:ea typeface="Carlito" pitchFamily="34" charset="-122"/>
                <a:cs typeface="Carlito" pitchFamily="34" charset="-120"/>
              </a:rPr>
              <a:t>Mobile-first</a:t>
            </a:r>
            <a:endParaRPr lang="en-US" sz="800" dirty="0"/>
          </a:p>
        </p:txBody>
      </p:sp>
      <p:sp>
        <p:nvSpPr>
          <p:cNvPr id="19" name="Text 14"/>
          <p:cNvSpPr/>
          <p:nvPr/>
        </p:nvSpPr>
        <p:spPr>
          <a:xfrm>
            <a:off x="3283669" y="1506550"/>
            <a:ext cx="371475" cy="371475"/>
          </a:xfrm>
          <a:prstGeom prst="ellipse">
            <a:avLst/>
          </a:prstGeom>
          <a:solidFill>
            <a:srgbClr val="B89968">
              <a:alpha val="12000"/>
            </a:srgbClr>
          </a:solidFill>
          <a:ln w="14288">
            <a:solidFill>
              <a:srgbClr val="B89968"/>
            </a:solidFill>
            <a:prstDash val="solid"/>
          </a:ln>
        </p:spPr>
        <p:txBody>
          <a:bodyPr wrap="square" rtlCol="0" anchor="ctr"/>
          <a:lstStyle/>
          <a:p>
            <a:pPr indent="0" marL="0">
              <a:buNone/>
            </a:pPr>
            <a:endParaRPr lang="en-US" dirty="0"/>
          </a:p>
        </p:txBody>
      </p:sp>
      <p:sp>
        <p:nvSpPr>
          <p:cNvPr id="20" name="Text 15"/>
          <p:cNvSpPr/>
          <p:nvPr/>
        </p:nvSpPr>
        <p:spPr>
          <a:xfrm>
            <a:off x="3334747" y="1557628"/>
            <a:ext cx="269319" cy="269319"/>
          </a:xfrm>
          <a:prstGeom prst="rect">
            <a:avLst/>
          </a:prstGeom>
          <a:noFill/>
          <a:ln/>
        </p:spPr>
        <p:txBody>
          <a:bodyPr wrap="none" lIns="0" tIns="0" rIns="0" bIns="0" rtlCol="0" anchor="ctr"/>
          <a:lstStyle/>
          <a:p>
            <a:pPr algn="ctr" indent="0" marL="0">
              <a:buNone/>
            </a:pPr>
            <a:r>
              <a:rPr lang="en-US" sz="1828" dirty="0">
                <a:solidFill>
                  <a:srgbClr val="B89968"/>
                </a:solidFill>
                <a:latin typeface="Segoe UI Symbol" pitchFamily="34" charset="0"/>
                <a:ea typeface="Segoe UI Symbol" pitchFamily="34" charset="-122"/>
                <a:cs typeface="Segoe UI Symbol" pitchFamily="34" charset="-120"/>
              </a:rPr>
              <a:t>◔</a:t>
            </a:r>
            <a:endParaRPr lang="en-US" sz="1828" dirty="0"/>
          </a:p>
        </p:txBody>
      </p:sp>
      <p:sp>
        <p:nvSpPr>
          <p:cNvPr id="21" name="Text 16"/>
          <p:cNvSpPr/>
          <p:nvPr/>
        </p:nvSpPr>
        <p:spPr>
          <a:xfrm>
            <a:off x="3776588" y="1463687"/>
            <a:ext cx="755273" cy="493776"/>
          </a:xfrm>
          <a:prstGeom prst="rect">
            <a:avLst/>
          </a:prstGeom>
          <a:noFill/>
          <a:ln/>
        </p:spPr>
        <p:txBody>
          <a:bodyPr wrap="square" lIns="0" tIns="0" rIns="0" bIns="0" rtlCol="0" anchor="t"/>
          <a:lstStyle/>
          <a:p>
            <a:pPr algn="l" indent="0" marL="0">
              <a:lnSpc>
                <a:spcPts val="3600"/>
              </a:lnSpc>
              <a:buNone/>
            </a:pPr>
            <a:r>
              <a:rPr lang="en-US" sz="3600" b="1" spc="-144" kern="0" dirty="0">
                <a:solidFill>
                  <a:srgbClr val="B89968"/>
                </a:solidFill>
                <a:latin typeface="Liberation Sans Narrow" pitchFamily="34" charset="0"/>
                <a:ea typeface="Liberation Sans Narrow" pitchFamily="34" charset="-122"/>
                <a:cs typeface="Liberation Sans Narrow" pitchFamily="34" charset="-120"/>
              </a:rPr>
              <a:t>02</a:t>
            </a:r>
            <a:endParaRPr lang="en-US" sz="3600" dirty="0"/>
          </a:p>
        </p:txBody>
      </p:sp>
      <p:sp>
        <p:nvSpPr>
          <p:cNvPr id="22" name="Text 17"/>
          <p:cNvSpPr/>
          <p:nvPr/>
        </p:nvSpPr>
        <p:spPr>
          <a:xfrm>
            <a:off x="3276526" y="2049475"/>
            <a:ext cx="1834917" cy="203610"/>
          </a:xfrm>
          <a:prstGeom prst="rect">
            <a:avLst/>
          </a:prstGeom>
          <a:noFill/>
          <a:ln/>
        </p:spPr>
        <p:txBody>
          <a:bodyPr wrap="none" lIns="0" tIns="0" rIns="0" bIns="0" rtlCol="0" anchor="t"/>
          <a:lstStyle/>
          <a:p>
            <a:pPr algn="l" indent="0" marL="0">
              <a:lnSpc>
                <a:spcPts val="1485"/>
              </a:lnSpc>
              <a:buNone/>
            </a:pPr>
            <a:r>
              <a:rPr lang="en-US" sz="1238" b="1" spc="-25" kern="0" dirty="0">
                <a:solidFill>
                  <a:srgbClr val="F5F3EF"/>
                </a:solidFill>
                <a:latin typeface="Carlito" pitchFamily="34" charset="0"/>
                <a:ea typeface="Carlito" pitchFamily="34" charset="-122"/>
                <a:cs typeface="Carlito" pitchFamily="34" charset="-120"/>
              </a:rPr>
              <a:t>Réception des réponses</a:t>
            </a:r>
            <a:endParaRPr lang="en-US" sz="1238" dirty="0"/>
          </a:p>
        </p:txBody>
      </p:sp>
      <p:sp>
        <p:nvSpPr>
          <p:cNvPr id="23" name="Text 18"/>
          <p:cNvSpPr/>
          <p:nvPr/>
        </p:nvSpPr>
        <p:spPr>
          <a:xfrm>
            <a:off x="3276526" y="2309440"/>
            <a:ext cx="2590837" cy="518284"/>
          </a:xfrm>
          <a:prstGeom prst="rect">
            <a:avLst/>
          </a:prstGeom>
          <a:noFill/>
          <a:ln/>
        </p:spPr>
        <p:txBody>
          <a:bodyPr wrap="square" lIns="0" tIns="0" rIns="0" bIns="0" rtlCol="0" anchor="t">
            <a:normAutofit/>
          </a:bodyPr>
          <a:lstStyle/>
          <a:p>
            <a:pPr algn="l" indent="0" marL="0">
              <a:lnSpc>
                <a:spcPts val="1170"/>
              </a:lnSpc>
              <a:buNone/>
            </a:pPr>
            <a:r>
              <a:rPr lang="en-US" sz="800" dirty="0">
                <a:solidFill>
                  <a:srgbClr val="F5F3EF">
                    <a:alpha val="70000"/>
                  </a:srgbClr>
                </a:solidFill>
                <a:latin typeface="Carlito" pitchFamily="34" charset="0"/>
                <a:ea typeface="Carlito" pitchFamily="34" charset="-122"/>
                <a:cs typeface="Carlito" pitchFamily="34" charset="-120"/>
              </a:rPr>
              <a:t>Les pharmaciens reçoivent une notification temps réel et répondent : disponible ou non, prix en FCFA, message personnalisé. Le patient voit les réponses s'afficher en direct.</a:t>
            </a:r>
            <a:endParaRPr lang="en-US" sz="800" dirty="0"/>
          </a:p>
        </p:txBody>
      </p:sp>
      <p:sp>
        <p:nvSpPr>
          <p:cNvPr id="24" name="Text 19"/>
          <p:cNvSpPr/>
          <p:nvPr/>
        </p:nvSpPr>
        <p:spPr>
          <a:xfrm>
            <a:off x="3253666" y="2842354"/>
            <a:ext cx="959897" cy="243488"/>
          </a:xfrm>
          <a:prstGeom prst="roundRect">
            <a:avLst>
              <a:gd name="adj" fmla="val 31295"/>
            </a:avLst>
          </a:prstGeom>
          <a:solidFill>
            <a:srgbClr val="B89968">
              <a:alpha val="8000"/>
            </a:srgbClr>
          </a:solidFill>
          <a:ln w="7144">
            <a:solidFill>
              <a:srgbClr val="B89968"/>
            </a:solidFill>
            <a:prstDash val="solid"/>
          </a:ln>
        </p:spPr>
        <p:txBody>
          <a:bodyPr wrap="square" rtlCol="0" anchor="ctr"/>
          <a:lstStyle/>
          <a:p>
            <a:pPr indent="0" marL="0">
              <a:buNone/>
            </a:pPr>
            <a:endParaRPr lang="en-US" dirty="0"/>
          </a:p>
        </p:txBody>
      </p:sp>
      <p:sp>
        <p:nvSpPr>
          <p:cNvPr id="25" name="Text 20"/>
          <p:cNvSpPr/>
          <p:nvPr/>
        </p:nvSpPr>
        <p:spPr>
          <a:xfrm>
            <a:off x="3355107" y="2917664"/>
            <a:ext cx="92869" cy="92869"/>
          </a:xfrm>
          <a:prstGeom prst="rect">
            <a:avLst/>
          </a:prstGeom>
          <a:noFill/>
          <a:ln/>
        </p:spPr>
        <p:txBody>
          <a:bodyPr wrap="none" lIns="0" tIns="0" rIns="0" bIns="0" rtlCol="0" anchor="ctr"/>
          <a:lstStyle/>
          <a:p>
            <a:pPr algn="ctr" indent="0" marL="0">
              <a:buNone/>
            </a:pPr>
            <a:r>
              <a:rPr lang="en-US" sz="914" dirty="0">
                <a:solidFill>
                  <a:srgbClr val="B89968"/>
                </a:solidFill>
                <a:latin typeface="Segoe UI Symbol" pitchFamily="34" charset="0"/>
                <a:ea typeface="Segoe UI Symbol" pitchFamily="34" charset="-122"/>
                <a:cs typeface="Segoe UI Symbol" pitchFamily="34" charset="-120"/>
              </a:rPr>
              <a:t>⚡</a:t>
            </a:r>
            <a:endParaRPr lang="en-US" sz="914" dirty="0"/>
          </a:p>
        </p:txBody>
      </p:sp>
      <p:sp>
        <p:nvSpPr>
          <p:cNvPr id="26" name="Text 21"/>
          <p:cNvSpPr/>
          <p:nvPr/>
        </p:nvSpPr>
        <p:spPr>
          <a:xfrm>
            <a:off x="3505126" y="2905162"/>
            <a:ext cx="606996" cy="117872"/>
          </a:xfrm>
          <a:prstGeom prst="rect">
            <a:avLst/>
          </a:prstGeom>
          <a:noFill/>
          <a:ln/>
        </p:spPr>
        <p:txBody>
          <a:bodyPr wrap="square" lIns="0" tIns="0" rIns="0" bIns="0" rtlCol="0" anchor="t"/>
          <a:lstStyle/>
          <a:p>
            <a:pPr algn="l" indent="0" marL="0">
              <a:lnSpc>
                <a:spcPts val="928"/>
              </a:lnSpc>
              <a:buNone/>
            </a:pPr>
            <a:r>
              <a:rPr lang="en-US" sz="800" dirty="0">
                <a:solidFill>
                  <a:srgbClr val="D4B888"/>
                </a:solidFill>
                <a:latin typeface="Carlito" pitchFamily="34" charset="0"/>
                <a:ea typeface="Carlito" pitchFamily="34" charset="-122"/>
                <a:cs typeface="Carlito" pitchFamily="34" charset="-120"/>
              </a:rPr>
              <a:t>Push instantané</a:t>
            </a:r>
            <a:endParaRPr lang="en-US" sz="800" dirty="0"/>
          </a:p>
        </p:txBody>
      </p:sp>
      <p:sp>
        <p:nvSpPr>
          <p:cNvPr id="27" name="Text 22"/>
          <p:cNvSpPr/>
          <p:nvPr/>
        </p:nvSpPr>
        <p:spPr>
          <a:xfrm>
            <a:off x="6045957" y="1506550"/>
            <a:ext cx="371475" cy="371475"/>
          </a:xfrm>
          <a:prstGeom prst="ellipse">
            <a:avLst/>
          </a:prstGeom>
          <a:solidFill>
            <a:srgbClr val="B89968">
              <a:alpha val="12000"/>
            </a:srgbClr>
          </a:solidFill>
          <a:ln w="14288">
            <a:solidFill>
              <a:srgbClr val="B89968"/>
            </a:solidFill>
            <a:prstDash val="solid"/>
          </a:ln>
        </p:spPr>
        <p:txBody>
          <a:bodyPr wrap="square" rtlCol="0" anchor="ctr"/>
          <a:lstStyle/>
          <a:p>
            <a:pPr indent="0" marL="0">
              <a:buNone/>
            </a:pPr>
            <a:endParaRPr lang="en-US" dirty="0"/>
          </a:p>
        </p:txBody>
      </p:sp>
      <p:sp>
        <p:nvSpPr>
          <p:cNvPr id="28" name="Text 23"/>
          <p:cNvSpPr/>
          <p:nvPr/>
        </p:nvSpPr>
        <p:spPr>
          <a:xfrm>
            <a:off x="6097034" y="1557628"/>
            <a:ext cx="269319" cy="269319"/>
          </a:xfrm>
          <a:prstGeom prst="rect">
            <a:avLst/>
          </a:prstGeom>
          <a:noFill/>
          <a:ln/>
        </p:spPr>
        <p:txBody>
          <a:bodyPr wrap="none" lIns="0" tIns="0" rIns="0" bIns="0" rtlCol="0" anchor="ctr"/>
          <a:lstStyle/>
          <a:p>
            <a:pPr algn="ctr" indent="0" marL="0">
              <a:buNone/>
            </a:pPr>
            <a:r>
              <a:rPr lang="en-US" sz="1828" dirty="0">
                <a:solidFill>
                  <a:srgbClr val="B89968"/>
                </a:solidFill>
                <a:latin typeface="Segoe UI Symbol" pitchFamily="34" charset="0"/>
                <a:ea typeface="Segoe UI Symbol" pitchFamily="34" charset="-122"/>
                <a:cs typeface="Segoe UI Symbol" pitchFamily="34" charset="-120"/>
              </a:rPr>
              <a:t>◌</a:t>
            </a:r>
            <a:endParaRPr lang="en-US" sz="1828" dirty="0"/>
          </a:p>
        </p:txBody>
      </p:sp>
      <p:sp>
        <p:nvSpPr>
          <p:cNvPr id="29" name="Text 24"/>
          <p:cNvSpPr/>
          <p:nvPr/>
        </p:nvSpPr>
        <p:spPr>
          <a:xfrm>
            <a:off x="6538875" y="1463687"/>
            <a:ext cx="755273" cy="493776"/>
          </a:xfrm>
          <a:prstGeom prst="rect">
            <a:avLst/>
          </a:prstGeom>
          <a:noFill/>
          <a:ln/>
        </p:spPr>
        <p:txBody>
          <a:bodyPr wrap="square" lIns="0" tIns="0" rIns="0" bIns="0" rtlCol="0" anchor="t"/>
          <a:lstStyle/>
          <a:p>
            <a:pPr algn="l" indent="0" marL="0">
              <a:lnSpc>
                <a:spcPts val="3600"/>
              </a:lnSpc>
              <a:buNone/>
            </a:pPr>
            <a:r>
              <a:rPr lang="en-US" sz="3600" b="1" spc="-144" kern="0" dirty="0">
                <a:solidFill>
                  <a:srgbClr val="B89968"/>
                </a:solidFill>
                <a:latin typeface="Liberation Sans Narrow" pitchFamily="34" charset="0"/>
                <a:ea typeface="Liberation Sans Narrow" pitchFamily="34" charset="-122"/>
                <a:cs typeface="Liberation Sans Narrow" pitchFamily="34" charset="-120"/>
              </a:rPr>
              <a:t>03</a:t>
            </a:r>
            <a:endParaRPr lang="en-US" sz="3600" dirty="0"/>
          </a:p>
        </p:txBody>
      </p:sp>
      <p:sp>
        <p:nvSpPr>
          <p:cNvPr id="30" name="Text 25"/>
          <p:cNvSpPr/>
          <p:nvPr/>
        </p:nvSpPr>
        <p:spPr>
          <a:xfrm>
            <a:off x="6038813" y="2049475"/>
            <a:ext cx="1186798" cy="203610"/>
          </a:xfrm>
          <a:prstGeom prst="rect">
            <a:avLst/>
          </a:prstGeom>
          <a:noFill/>
          <a:ln/>
        </p:spPr>
        <p:txBody>
          <a:bodyPr wrap="none" lIns="0" tIns="0" rIns="0" bIns="0" rtlCol="0" anchor="t"/>
          <a:lstStyle/>
          <a:p>
            <a:pPr algn="l" indent="0" marL="0">
              <a:lnSpc>
                <a:spcPts val="1485"/>
              </a:lnSpc>
              <a:buNone/>
            </a:pPr>
            <a:r>
              <a:rPr lang="en-US" sz="1238" b="1" spc="-25" kern="0" dirty="0">
                <a:solidFill>
                  <a:srgbClr val="F5F3EF"/>
                </a:solidFill>
                <a:latin typeface="Carlito" pitchFamily="34" charset="0"/>
                <a:ea typeface="Carlito" pitchFamily="34" charset="-122"/>
                <a:cs typeface="Carlito" pitchFamily="34" charset="-120"/>
              </a:rPr>
              <a:t>Contact direct</a:t>
            </a:r>
            <a:endParaRPr lang="en-US" sz="1238" dirty="0"/>
          </a:p>
        </p:txBody>
      </p:sp>
      <p:sp>
        <p:nvSpPr>
          <p:cNvPr id="31" name="Text 26"/>
          <p:cNvSpPr/>
          <p:nvPr/>
        </p:nvSpPr>
        <p:spPr>
          <a:xfrm>
            <a:off x="6038813" y="2309440"/>
            <a:ext cx="2590726" cy="518284"/>
          </a:xfrm>
          <a:prstGeom prst="rect">
            <a:avLst/>
          </a:prstGeom>
          <a:noFill/>
          <a:ln/>
        </p:spPr>
        <p:txBody>
          <a:bodyPr wrap="square" lIns="0" tIns="0" rIns="0" bIns="0" rtlCol="0" anchor="t">
            <a:normAutofit/>
          </a:bodyPr>
          <a:lstStyle/>
          <a:p>
            <a:pPr algn="l" indent="0" marL="0">
              <a:lnSpc>
                <a:spcPts val="1170"/>
              </a:lnSpc>
              <a:buNone/>
            </a:pPr>
            <a:r>
              <a:rPr lang="en-US" sz="800" dirty="0">
                <a:solidFill>
                  <a:srgbClr val="F5F3EF">
                    <a:alpha val="70000"/>
                  </a:srgbClr>
                </a:solidFill>
                <a:latin typeface="Carlito" pitchFamily="34" charset="0"/>
                <a:ea typeface="Carlito" pitchFamily="34" charset="-122"/>
                <a:cs typeface="Carlito" pitchFamily="34" charset="-120"/>
              </a:rPr>
              <a:t>Le patient clique sur WhatsApp ou Appeler pour joindre la pharmacie qui a son traitement. Les photos sont auto-supprimées 72h après la première réponse.</a:t>
            </a:r>
            <a:endParaRPr lang="en-US" sz="800" dirty="0"/>
          </a:p>
        </p:txBody>
      </p:sp>
      <p:sp>
        <p:nvSpPr>
          <p:cNvPr id="32" name="Text 27"/>
          <p:cNvSpPr/>
          <p:nvPr/>
        </p:nvSpPr>
        <p:spPr>
          <a:xfrm>
            <a:off x="6015953" y="2842354"/>
            <a:ext cx="1012247" cy="243488"/>
          </a:xfrm>
          <a:prstGeom prst="roundRect">
            <a:avLst>
              <a:gd name="adj" fmla="val 31295"/>
            </a:avLst>
          </a:prstGeom>
          <a:solidFill>
            <a:srgbClr val="B89968">
              <a:alpha val="8000"/>
            </a:srgbClr>
          </a:solidFill>
          <a:ln w="7144">
            <a:solidFill>
              <a:srgbClr val="B89968"/>
            </a:solidFill>
            <a:prstDash val="solid"/>
          </a:ln>
        </p:spPr>
        <p:txBody>
          <a:bodyPr wrap="square" rtlCol="0" anchor="ctr"/>
          <a:lstStyle/>
          <a:p>
            <a:pPr indent="0" marL="0">
              <a:buNone/>
            </a:pPr>
            <a:endParaRPr lang="en-US" dirty="0"/>
          </a:p>
        </p:txBody>
      </p:sp>
      <p:sp>
        <p:nvSpPr>
          <p:cNvPr id="33" name="Text 28"/>
          <p:cNvSpPr/>
          <p:nvPr/>
        </p:nvSpPr>
        <p:spPr>
          <a:xfrm>
            <a:off x="6117394" y="2917664"/>
            <a:ext cx="92869" cy="92869"/>
          </a:xfrm>
          <a:prstGeom prst="rect">
            <a:avLst/>
          </a:prstGeom>
          <a:noFill/>
          <a:ln/>
        </p:spPr>
        <p:txBody>
          <a:bodyPr wrap="none" lIns="0" tIns="0" rIns="0" bIns="0" rtlCol="0" anchor="ctr"/>
          <a:lstStyle/>
          <a:p>
            <a:pPr algn="ctr" indent="0" marL="0">
              <a:buNone/>
            </a:pPr>
            <a:r>
              <a:rPr lang="en-US" sz="914" dirty="0">
                <a:solidFill>
                  <a:srgbClr val="B89968"/>
                </a:solidFill>
                <a:latin typeface="Segoe UI Symbol" pitchFamily="34" charset="0"/>
                <a:ea typeface="Segoe UI Symbol" pitchFamily="34" charset="-122"/>
                <a:cs typeface="Segoe UI Symbol" pitchFamily="34" charset="-120"/>
              </a:rPr>
              <a:t>⚿</a:t>
            </a:r>
            <a:endParaRPr lang="en-US" sz="914" dirty="0"/>
          </a:p>
        </p:txBody>
      </p:sp>
      <p:sp>
        <p:nvSpPr>
          <p:cNvPr id="34" name="Text 29"/>
          <p:cNvSpPr/>
          <p:nvPr/>
        </p:nvSpPr>
        <p:spPr>
          <a:xfrm>
            <a:off x="6267413" y="2905162"/>
            <a:ext cx="659346" cy="117872"/>
          </a:xfrm>
          <a:prstGeom prst="rect">
            <a:avLst/>
          </a:prstGeom>
          <a:noFill/>
          <a:ln/>
        </p:spPr>
        <p:txBody>
          <a:bodyPr wrap="square" lIns="0" tIns="0" rIns="0" bIns="0" rtlCol="0" anchor="t"/>
          <a:lstStyle/>
          <a:p>
            <a:pPr algn="l" indent="0" marL="0">
              <a:lnSpc>
                <a:spcPts val="928"/>
              </a:lnSpc>
              <a:buNone/>
            </a:pPr>
            <a:r>
              <a:rPr lang="en-US" sz="800" dirty="0">
                <a:solidFill>
                  <a:srgbClr val="D4B888"/>
                </a:solidFill>
                <a:latin typeface="Liberation Sans Narrow" pitchFamily="34" charset="0"/>
                <a:ea typeface="Liberation Sans Narrow" pitchFamily="34" charset="-122"/>
                <a:cs typeface="Liberation Sans Narrow" pitchFamily="34" charset="-120"/>
              </a:rPr>
              <a:t>Auto-cleanup 72h</a:t>
            </a:r>
            <a:endParaRPr lang="en-US" sz="800" dirty="0"/>
          </a:p>
        </p:txBody>
      </p:sp>
      <p:pic>
        <p:nvPicPr>
          <p:cNvPr id="35" name="Image 3" descr="preencoded.png">    </p:cNvPr>
          <p:cNvPicPr>
            <a:picLocks noChangeAspect="1"/>
          </p:cNvPicPr>
          <p:nvPr/>
        </p:nvPicPr>
        <p:blipFill>
          <a:blip r:embed="rId4"/>
          <a:stretch>
            <a:fillRect/>
          </a:stretch>
        </p:blipFill>
        <p:spPr>
          <a:xfrm>
            <a:off x="3153854" y="4436269"/>
            <a:ext cx="2836292" cy="307181"/>
          </a:xfrm>
          <a:prstGeom prst="rect">
            <a:avLst/>
          </a:prstGeom>
        </p:spPr>
      </p:pic>
      <p:sp>
        <p:nvSpPr>
          <p:cNvPr id="36" name="Text 30"/>
          <p:cNvSpPr/>
          <p:nvPr/>
        </p:nvSpPr>
        <p:spPr>
          <a:xfrm>
            <a:off x="3157426" y="4439841"/>
            <a:ext cx="2829148" cy="300038"/>
          </a:xfrm>
          <a:prstGeom prst="roundRect">
            <a:avLst>
              <a:gd name="adj" fmla="val 3171423"/>
            </a:avLst>
          </a:prstGeom>
          <a:noFill/>
          <a:ln w="7144">
            <a:solidFill>
              <a:srgbClr val="B89968"/>
            </a:solidFill>
            <a:prstDash val="solid"/>
          </a:ln>
        </p:spPr>
        <p:txBody>
          <a:bodyPr wrap="square" rtlCol="0" anchor="ctr"/>
          <a:lstStyle/>
          <a:p>
            <a:pPr indent="0" marL="0">
              <a:buNone/>
            </a:pPr>
            <a:endParaRPr lang="en-US" dirty="0"/>
          </a:p>
        </p:txBody>
      </p:sp>
      <p:sp>
        <p:nvSpPr>
          <p:cNvPr id="37" name="Text 31"/>
          <p:cNvSpPr/>
          <p:nvPr/>
        </p:nvSpPr>
        <p:spPr>
          <a:xfrm>
            <a:off x="3318160" y="4525566"/>
            <a:ext cx="128588" cy="128588"/>
          </a:xfrm>
          <a:prstGeom prst="rect">
            <a:avLst/>
          </a:prstGeom>
          <a:noFill/>
          <a:ln/>
        </p:spPr>
        <p:txBody>
          <a:bodyPr wrap="none" lIns="0" tIns="0" rIns="0" bIns="0" rtlCol="0" anchor="ctr"/>
          <a:lstStyle/>
          <a:p>
            <a:pPr algn="ctr" indent="0" marL="0">
              <a:buNone/>
            </a:pPr>
            <a:r>
              <a:rPr lang="en-US" sz="1266" dirty="0">
                <a:solidFill>
                  <a:srgbClr val="D4B888"/>
                </a:solidFill>
                <a:latin typeface="Segoe UI Symbol" pitchFamily="34" charset="0"/>
                <a:ea typeface="Segoe UI Symbol" pitchFamily="34" charset="-122"/>
                <a:cs typeface="Segoe UI Symbol" pitchFamily="34" charset="-120"/>
              </a:rPr>
              <a:t>◔</a:t>
            </a:r>
            <a:endParaRPr lang="en-US" sz="1266" dirty="0"/>
          </a:p>
        </p:txBody>
      </p:sp>
      <p:sp>
        <p:nvSpPr>
          <p:cNvPr id="38" name="Text 32"/>
          <p:cNvSpPr/>
          <p:nvPr/>
        </p:nvSpPr>
        <p:spPr>
          <a:xfrm>
            <a:off x="3532473" y="4514850"/>
            <a:ext cx="2403095" cy="150019"/>
          </a:xfrm>
          <a:prstGeom prst="rect">
            <a:avLst/>
          </a:prstGeom>
          <a:noFill/>
          <a:ln/>
        </p:spPr>
        <p:txBody>
          <a:bodyPr wrap="square" lIns="0" tIns="0" rIns="0" bIns="0" rtlCol="0" anchor="t"/>
          <a:lstStyle/>
          <a:p>
            <a:pPr algn="l" indent="0" marL="0">
              <a:lnSpc>
                <a:spcPts val="1181"/>
              </a:lnSpc>
              <a:buNone/>
            </a:pPr>
            <a:r>
              <a:rPr lang="en-US" sz="800" dirty="0">
                <a:solidFill>
                  <a:srgbClr val="F5F3EF"/>
                </a:solidFill>
                <a:latin typeface="Carlito" pitchFamily="34" charset="0"/>
                <a:ea typeface="Carlito" pitchFamily="34" charset="-122"/>
                <a:cs typeface="Carlito" pitchFamily="34" charset="-120"/>
              </a:rPr>
              <a:t>Temps moyen du parcours : moins de 5 minutes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14350" y="400050"/>
            <a:ext cx="769918"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B89968"/>
                </a:solidFill>
                <a:latin typeface="Liberation Sans Narrow" pitchFamily="34" charset="0"/>
                <a:ea typeface="Liberation Sans Narrow" pitchFamily="34" charset="-122"/>
                <a:cs typeface="Liberation Sans Narrow" pitchFamily="34" charset="-120"/>
              </a:rPr>
              <a:t>04</a:t>
            </a:r>
            <a:endParaRPr lang="en-US" sz="3600" dirty="0"/>
          </a:p>
        </p:txBody>
      </p:sp>
      <p:sp>
        <p:nvSpPr>
          <p:cNvPr id="3" name="Text 1"/>
          <p:cNvSpPr/>
          <p:nvPr/>
        </p:nvSpPr>
        <p:spPr>
          <a:xfrm>
            <a:off x="1109849" y="678656"/>
            <a:ext cx="449520" cy="164592"/>
          </a:xfrm>
          <a:prstGeom prst="rect">
            <a:avLst/>
          </a:prstGeom>
          <a:noFill/>
          <a:ln/>
        </p:spPr>
        <p:txBody>
          <a:bodyPr wrap="none" lIns="0" tIns="0" rIns="0" bIns="0" rtlCol="0" anchor="t"/>
          <a:lstStyle/>
          <a:p>
            <a:pPr algn="l" indent="0" marL="0">
              <a:lnSpc>
                <a:spcPts val="1181"/>
              </a:lnSpc>
              <a:buNone/>
            </a:pPr>
            <a:r>
              <a:rPr lang="en-US" sz="800" b="1" spc="79" kern="0" dirty="0">
                <a:solidFill>
                  <a:srgbClr val="6B7C72"/>
                </a:solidFill>
                <a:latin typeface="Liberation Sans Narrow" pitchFamily="34" charset="0"/>
                <a:ea typeface="Liberation Sans Narrow" pitchFamily="34" charset="-122"/>
                <a:cs typeface="Liberation Sans Narrow" pitchFamily="34" charset="-120"/>
              </a:rPr>
              <a:t>/ 06</a:t>
            </a:r>
            <a:endParaRPr lang="en-US" sz="800" dirty="0"/>
          </a:p>
        </p:txBody>
      </p:sp>
      <p:pic>
        <p:nvPicPr>
          <p:cNvPr id="4" name="Image 0" descr="preencoded.png">    </p:cNvPr>
          <p:cNvPicPr>
            <a:picLocks noChangeAspect="1"/>
          </p:cNvPicPr>
          <p:nvPr/>
        </p:nvPicPr>
        <p:blipFill>
          <a:blip r:embed="rId1"/>
          <a:stretch>
            <a:fillRect/>
          </a:stretch>
        </p:blipFill>
        <p:spPr>
          <a:xfrm>
            <a:off x="7320893" y="448270"/>
            <a:ext cx="300038" cy="21431"/>
          </a:xfrm>
          <a:prstGeom prst="rect">
            <a:avLst/>
          </a:prstGeom>
        </p:spPr>
      </p:pic>
      <p:sp>
        <p:nvSpPr>
          <p:cNvPr id="5" name="Text 2"/>
          <p:cNvSpPr/>
          <p:nvPr/>
        </p:nvSpPr>
        <p:spPr>
          <a:xfrm>
            <a:off x="7678080" y="400050"/>
            <a:ext cx="1247716"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C72"/>
                </a:solidFill>
                <a:latin typeface="Carlito" pitchFamily="34" charset="0"/>
                <a:ea typeface="Carlito" pitchFamily="34" charset="-122"/>
                <a:cs typeface="Carlito" pitchFamily="34" charset="-120"/>
              </a:rPr>
              <a:t>STACK TECHNIQUE</a:t>
            </a:r>
            <a:endParaRPr lang="en-US" sz="800" dirty="0"/>
          </a:p>
        </p:txBody>
      </p:sp>
      <p:sp>
        <p:nvSpPr>
          <p:cNvPr id="6" name="Text 3"/>
          <p:cNvSpPr/>
          <p:nvPr/>
        </p:nvSpPr>
        <p:spPr>
          <a:xfrm>
            <a:off x="514350" y="957263"/>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0F5132"/>
                </a:solidFill>
                <a:latin typeface="Carlito" pitchFamily="34" charset="0"/>
                <a:ea typeface="Carlito" pitchFamily="34" charset="-122"/>
                <a:cs typeface="Carlito" pitchFamily="34" charset="-120"/>
              </a:rPr>
              <a:t>Architecture technique</a:t>
            </a:r>
            <a:endParaRPr lang="en-US" sz="2475" dirty="0"/>
          </a:p>
        </p:txBody>
      </p:sp>
      <p:sp>
        <p:nvSpPr>
          <p:cNvPr id="7" name="Text 4"/>
          <p:cNvSpPr/>
          <p:nvPr/>
        </p:nvSpPr>
        <p:spPr>
          <a:xfrm>
            <a:off x="514350" y="1360103"/>
            <a:ext cx="8629650" cy="254603"/>
          </a:xfrm>
          <a:prstGeom prst="rect">
            <a:avLst/>
          </a:prstGeom>
          <a:noFill/>
          <a:ln/>
        </p:spPr>
        <p:txBody>
          <a:bodyPr wrap="square" lIns="0" tIns="0" rIns="0" bIns="0" rtlCol="0" anchor="t"/>
          <a:lstStyle/>
          <a:p>
            <a:pPr algn="l" indent="0" marL="0">
              <a:lnSpc>
                <a:spcPts val="1856"/>
              </a:lnSpc>
              <a:buNone/>
            </a:pPr>
            <a:r>
              <a:rPr lang="en-US" sz="1238" dirty="0">
                <a:solidFill>
                  <a:srgbClr val="6B7C72"/>
                </a:solidFill>
                <a:latin typeface="Carlito" pitchFamily="34" charset="0"/>
                <a:ea typeface="Carlito" pitchFamily="34" charset="-122"/>
                <a:cs typeface="Carlito" pitchFamily="34" charset="-120"/>
              </a:rPr>
              <a:t>Stack moderne, scalable et maintenable</a:t>
            </a:r>
            <a:endParaRPr lang="en-US" sz="1238" dirty="0"/>
          </a:p>
        </p:txBody>
      </p:sp>
      <p:sp>
        <p:nvSpPr>
          <p:cNvPr id="8" name="Text 5"/>
          <p:cNvSpPr/>
          <p:nvPr/>
        </p:nvSpPr>
        <p:spPr>
          <a:xfrm>
            <a:off x="514350" y="1753009"/>
            <a:ext cx="4766221" cy="643272"/>
          </a:xfrm>
          <a:prstGeom prst="roundRect">
            <a:avLst>
              <a:gd name="adj" fmla="val 23691"/>
            </a:avLst>
          </a:prstGeom>
          <a:solidFill>
            <a:srgbClr val="FFFFFF"/>
          </a:solidFill>
          <a:ln/>
        </p:spPr>
        <p:txBody>
          <a:bodyPr wrap="square" rtlCol="0" anchor="ctr"/>
          <a:lstStyle/>
          <a:p>
            <a:pPr indent="0" marL="0">
              <a:buNone/>
            </a:pPr>
            <a:endParaRPr lang="en-US" dirty="0"/>
          </a:p>
        </p:txBody>
      </p:sp>
      <p:sp>
        <p:nvSpPr>
          <p:cNvPr id="9" name="Shape 6"/>
          <p:cNvSpPr/>
          <p:nvPr/>
        </p:nvSpPr>
        <p:spPr>
          <a:xfrm>
            <a:off x="514350" y="1756581"/>
            <a:ext cx="4766221" cy="0"/>
          </a:xfrm>
          <a:prstGeom prst="line">
            <a:avLst/>
          </a:prstGeom>
          <a:noFill/>
          <a:ln w="7144">
            <a:solidFill>
              <a:srgbClr val="E5E0D5"/>
            </a:solidFill>
            <a:prstDash val="solid"/>
          </a:ln>
        </p:spPr>
      </p:sp>
      <p:sp>
        <p:nvSpPr>
          <p:cNvPr id="10" name="Shape 7"/>
          <p:cNvSpPr/>
          <p:nvPr/>
        </p:nvSpPr>
        <p:spPr>
          <a:xfrm>
            <a:off x="5276999" y="1753009"/>
            <a:ext cx="0" cy="643272"/>
          </a:xfrm>
          <a:prstGeom prst="line">
            <a:avLst/>
          </a:prstGeom>
          <a:noFill/>
          <a:ln w="7144">
            <a:solidFill>
              <a:srgbClr val="E5E0D5"/>
            </a:solidFill>
            <a:prstDash val="solid"/>
          </a:ln>
        </p:spPr>
      </p:sp>
      <p:sp>
        <p:nvSpPr>
          <p:cNvPr id="11" name="Shape 8"/>
          <p:cNvSpPr/>
          <p:nvPr/>
        </p:nvSpPr>
        <p:spPr>
          <a:xfrm>
            <a:off x="514350" y="2392710"/>
            <a:ext cx="4766221" cy="0"/>
          </a:xfrm>
          <a:prstGeom prst="line">
            <a:avLst/>
          </a:prstGeom>
          <a:noFill/>
          <a:ln w="7144">
            <a:solidFill>
              <a:srgbClr val="E5E0D5"/>
            </a:solidFill>
            <a:prstDash val="solid"/>
          </a:ln>
        </p:spPr>
      </p:sp>
      <p:sp>
        <p:nvSpPr>
          <p:cNvPr id="12" name="Shape 9"/>
          <p:cNvSpPr/>
          <p:nvPr/>
        </p:nvSpPr>
        <p:spPr>
          <a:xfrm>
            <a:off x="528638" y="1753009"/>
            <a:ext cx="0" cy="643272"/>
          </a:xfrm>
          <a:prstGeom prst="line">
            <a:avLst/>
          </a:prstGeom>
          <a:noFill/>
          <a:ln w="28575">
            <a:solidFill>
              <a:srgbClr val="0F5132"/>
            </a:solidFill>
            <a:prstDash val="solid"/>
          </a:ln>
        </p:spPr>
      </p:sp>
      <p:sp>
        <p:nvSpPr>
          <p:cNvPr id="13" name="Text 10"/>
          <p:cNvSpPr/>
          <p:nvPr/>
        </p:nvSpPr>
        <p:spPr>
          <a:xfrm>
            <a:off x="671513" y="1860166"/>
            <a:ext cx="257175" cy="257175"/>
          </a:xfrm>
          <a:prstGeom prst="roundRect">
            <a:avLst>
              <a:gd name="adj" fmla="val 29630"/>
            </a:avLst>
          </a:prstGeom>
          <a:solidFill>
            <a:srgbClr val="0F5132">
              <a:alpha val="8000"/>
            </a:srgbClr>
          </a:solidFill>
          <a:ln/>
        </p:spPr>
        <p:txBody>
          <a:bodyPr wrap="square" rtlCol="0" anchor="ctr"/>
          <a:lstStyle/>
          <a:p>
            <a:pPr indent="0" marL="0">
              <a:buNone/>
            </a:pPr>
            <a:endParaRPr lang="en-US" dirty="0"/>
          </a:p>
        </p:txBody>
      </p:sp>
      <p:sp>
        <p:nvSpPr>
          <p:cNvPr id="14" name="Text 11"/>
          <p:cNvSpPr/>
          <p:nvPr/>
        </p:nvSpPr>
        <p:spPr>
          <a:xfrm>
            <a:off x="696516" y="1885169"/>
            <a:ext cx="207169" cy="207169"/>
          </a:xfrm>
          <a:prstGeom prst="rect">
            <a:avLst/>
          </a:prstGeom>
          <a:noFill/>
          <a:ln/>
        </p:spPr>
        <p:txBody>
          <a:bodyPr wrap="none" lIns="0" tIns="0" rIns="0" bIns="0" rtlCol="0" anchor="ctr"/>
          <a:lstStyle/>
          <a:p>
            <a:pPr algn="ctr" indent="0" marL="0">
              <a:buNone/>
            </a:pPr>
            <a:r>
              <a:rPr lang="en-US" sz="1406" dirty="0">
                <a:solidFill>
                  <a:srgbClr val="0F5132"/>
                </a:solidFill>
                <a:latin typeface="Segoe UI Symbol" pitchFamily="34" charset="0"/>
                <a:ea typeface="Segoe UI Symbol" pitchFamily="34" charset="-122"/>
                <a:cs typeface="Segoe UI Symbol" pitchFamily="34" charset="-120"/>
              </a:rPr>
              <a:t>✦</a:t>
            </a:r>
            <a:endParaRPr lang="en-US" sz="1406" dirty="0"/>
          </a:p>
        </p:txBody>
      </p:sp>
      <p:sp>
        <p:nvSpPr>
          <p:cNvPr id="15" name="Text 12"/>
          <p:cNvSpPr/>
          <p:nvPr/>
        </p:nvSpPr>
        <p:spPr>
          <a:xfrm>
            <a:off x="1014413" y="1860166"/>
            <a:ext cx="816602"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0F5132"/>
                </a:solidFill>
                <a:latin typeface="Liberation Sans Narrow" pitchFamily="34" charset="0"/>
                <a:ea typeface="Liberation Sans Narrow" pitchFamily="34" charset="-122"/>
                <a:cs typeface="Liberation Sans Narrow" pitchFamily="34" charset="-120"/>
              </a:rPr>
              <a:t>COUCHE 01</a:t>
            </a:r>
            <a:endParaRPr lang="en-US" sz="800" dirty="0"/>
          </a:p>
        </p:txBody>
      </p:sp>
      <p:sp>
        <p:nvSpPr>
          <p:cNvPr id="16" name="Text 13"/>
          <p:cNvSpPr/>
          <p:nvPr/>
        </p:nvSpPr>
        <p:spPr>
          <a:xfrm>
            <a:off x="1596182" y="1860166"/>
            <a:ext cx="914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solidFill>
                <a:latin typeface="Carlito" pitchFamily="34" charset="0"/>
                <a:ea typeface="Carlito" pitchFamily="34" charset="-122"/>
                <a:cs typeface="Carlito" pitchFamily="34" charset="-120"/>
              </a:rPr>
              <a:t>·</a:t>
            </a:r>
            <a:endParaRPr lang="en-US" sz="800" dirty="0"/>
          </a:p>
        </p:txBody>
      </p:sp>
      <p:sp>
        <p:nvSpPr>
          <p:cNvPr id="17" name="Text 14"/>
          <p:cNvSpPr/>
          <p:nvPr/>
        </p:nvSpPr>
        <p:spPr>
          <a:xfrm>
            <a:off x="1677219" y="1860166"/>
            <a:ext cx="3467621" cy="164592"/>
          </a:xfrm>
          <a:prstGeom prst="rect">
            <a:avLst/>
          </a:prstGeom>
          <a:noFill/>
          <a:ln/>
        </p:spPr>
        <p:txBody>
          <a:bodyPr wrap="none" lIns="0" tIns="0" rIns="0" bIns="0" rtlCol="0" anchor="t"/>
          <a:lstStyle/>
          <a:p>
            <a:pPr algn="l" indent="0" marL="0">
              <a:lnSpc>
                <a:spcPts val="844"/>
              </a:lnSpc>
              <a:buNone/>
            </a:pPr>
            <a:r>
              <a:rPr lang="en-US" sz="800" spc="56" kern="0" dirty="0">
                <a:solidFill>
                  <a:srgbClr val="6B7C72"/>
                </a:solidFill>
                <a:latin typeface="Carlito" pitchFamily="34" charset="0"/>
                <a:ea typeface="Carlito" pitchFamily="34" charset="-122"/>
                <a:cs typeface="Carlito" pitchFamily="34" charset="-120"/>
              </a:rPr>
              <a:t>FRONTEND</a:t>
            </a:r>
            <a:endParaRPr lang="en-US" sz="800" dirty="0"/>
          </a:p>
        </p:txBody>
      </p:sp>
      <p:sp>
        <p:nvSpPr>
          <p:cNvPr id="18" name="Text 15"/>
          <p:cNvSpPr/>
          <p:nvPr/>
        </p:nvSpPr>
        <p:spPr>
          <a:xfrm>
            <a:off x="1014413" y="1988753"/>
            <a:ext cx="4240155" cy="149711"/>
          </a:xfrm>
          <a:prstGeom prst="rect">
            <a:avLst/>
          </a:prstGeom>
          <a:noFill/>
          <a:ln/>
        </p:spPr>
        <p:txBody>
          <a:bodyPr wrap="square" lIns="0" tIns="0" rIns="0" bIns="0" rtlCol="0" anchor="t">
            <a:normAutofit/>
          </a:bodyPr>
          <a:lstStyle/>
          <a:p>
            <a:pPr algn="l" indent="0" marL="0">
              <a:lnSpc>
                <a:spcPts val="1170"/>
              </a:lnSpc>
              <a:buNone/>
            </a:pPr>
            <a:r>
              <a:rPr lang="en-US" sz="900" b="1" spc="-18" kern="0" dirty="0">
                <a:solidFill>
                  <a:srgbClr val="1A2B22"/>
                </a:solidFill>
                <a:latin typeface="Carlito" pitchFamily="34" charset="0"/>
                <a:ea typeface="Carlito" pitchFamily="34" charset="-122"/>
                <a:cs typeface="Carlito" pitchFamily="34" charset="-120"/>
              </a:rPr>
              <a:t>Next.js 16 + TypeScript 5 + Tailwind CSS 4</a:t>
            </a:r>
            <a:endParaRPr lang="en-US" sz="900" dirty="0"/>
          </a:p>
        </p:txBody>
      </p:sp>
      <p:sp>
        <p:nvSpPr>
          <p:cNvPr id="19" name="Text 16"/>
          <p:cNvSpPr/>
          <p:nvPr/>
        </p:nvSpPr>
        <p:spPr>
          <a:xfrm>
            <a:off x="1014413" y="2165896"/>
            <a:ext cx="4130427" cy="123230"/>
          </a:xfrm>
          <a:prstGeom prst="rect">
            <a:avLst/>
          </a:prstGeom>
          <a:noFill/>
          <a:ln/>
        </p:spPr>
        <p:txBody>
          <a:bodyPr wrap="square" lIns="0" tIns="0" rIns="0" bIns="0" rtlCol="0" anchor="t"/>
          <a:lstStyle/>
          <a:p>
            <a:pPr algn="l" indent="0" marL="0">
              <a:lnSpc>
                <a:spcPts val="970"/>
              </a:lnSpc>
              <a:buNone/>
            </a:pPr>
            <a:r>
              <a:rPr lang="en-US" sz="800" dirty="0">
                <a:solidFill>
                  <a:srgbClr val="6B7C72"/>
                </a:solidFill>
                <a:latin typeface="Carlito" pitchFamily="34" charset="0"/>
                <a:ea typeface="Carlito" pitchFamily="34" charset="-122"/>
                <a:cs typeface="Carlito" pitchFamily="34" charset="-120"/>
              </a:rPr>
              <a:t>App Router · Server Components · PWA installable · Build APK/iOS via Capacitor</a:t>
            </a:r>
            <a:endParaRPr lang="en-US" sz="800" dirty="0"/>
          </a:p>
        </p:txBody>
      </p:sp>
      <p:sp>
        <p:nvSpPr>
          <p:cNvPr id="20" name="Text 17"/>
          <p:cNvSpPr/>
          <p:nvPr/>
        </p:nvSpPr>
        <p:spPr>
          <a:xfrm>
            <a:off x="514350" y="2467719"/>
            <a:ext cx="4766221" cy="643272"/>
          </a:xfrm>
          <a:prstGeom prst="roundRect">
            <a:avLst>
              <a:gd name="adj" fmla="val 23691"/>
            </a:avLst>
          </a:prstGeom>
          <a:solidFill>
            <a:srgbClr val="FFFFFF"/>
          </a:solidFill>
          <a:ln/>
        </p:spPr>
        <p:txBody>
          <a:bodyPr wrap="square" rtlCol="0" anchor="ctr"/>
          <a:lstStyle/>
          <a:p>
            <a:pPr indent="0" marL="0">
              <a:buNone/>
            </a:pPr>
            <a:endParaRPr lang="en-US" dirty="0"/>
          </a:p>
        </p:txBody>
      </p:sp>
      <p:sp>
        <p:nvSpPr>
          <p:cNvPr id="21" name="Shape 18"/>
          <p:cNvSpPr/>
          <p:nvPr/>
        </p:nvSpPr>
        <p:spPr>
          <a:xfrm>
            <a:off x="514350" y="2471291"/>
            <a:ext cx="4766221" cy="0"/>
          </a:xfrm>
          <a:prstGeom prst="line">
            <a:avLst/>
          </a:prstGeom>
          <a:noFill/>
          <a:ln w="7144">
            <a:solidFill>
              <a:srgbClr val="E5E0D5"/>
            </a:solidFill>
            <a:prstDash val="solid"/>
          </a:ln>
        </p:spPr>
      </p:sp>
      <p:sp>
        <p:nvSpPr>
          <p:cNvPr id="22" name="Shape 19"/>
          <p:cNvSpPr/>
          <p:nvPr/>
        </p:nvSpPr>
        <p:spPr>
          <a:xfrm>
            <a:off x="5276999" y="2467719"/>
            <a:ext cx="0" cy="643272"/>
          </a:xfrm>
          <a:prstGeom prst="line">
            <a:avLst/>
          </a:prstGeom>
          <a:noFill/>
          <a:ln w="7144">
            <a:solidFill>
              <a:srgbClr val="E5E0D5"/>
            </a:solidFill>
            <a:prstDash val="solid"/>
          </a:ln>
        </p:spPr>
      </p:sp>
      <p:sp>
        <p:nvSpPr>
          <p:cNvPr id="23" name="Shape 20"/>
          <p:cNvSpPr/>
          <p:nvPr/>
        </p:nvSpPr>
        <p:spPr>
          <a:xfrm>
            <a:off x="514350" y="3107420"/>
            <a:ext cx="4766221" cy="0"/>
          </a:xfrm>
          <a:prstGeom prst="line">
            <a:avLst/>
          </a:prstGeom>
          <a:noFill/>
          <a:ln w="7144">
            <a:solidFill>
              <a:srgbClr val="E5E0D5"/>
            </a:solidFill>
            <a:prstDash val="solid"/>
          </a:ln>
        </p:spPr>
      </p:sp>
      <p:sp>
        <p:nvSpPr>
          <p:cNvPr id="24" name="Shape 21"/>
          <p:cNvSpPr/>
          <p:nvPr/>
        </p:nvSpPr>
        <p:spPr>
          <a:xfrm>
            <a:off x="528638" y="2467719"/>
            <a:ext cx="0" cy="643272"/>
          </a:xfrm>
          <a:prstGeom prst="line">
            <a:avLst/>
          </a:prstGeom>
          <a:noFill/>
          <a:ln w="28575">
            <a:solidFill>
              <a:srgbClr val="0F5132"/>
            </a:solidFill>
            <a:prstDash val="solid"/>
          </a:ln>
        </p:spPr>
      </p:sp>
      <p:sp>
        <p:nvSpPr>
          <p:cNvPr id="25" name="Text 22"/>
          <p:cNvSpPr/>
          <p:nvPr/>
        </p:nvSpPr>
        <p:spPr>
          <a:xfrm>
            <a:off x="671513" y="2574875"/>
            <a:ext cx="257175" cy="257175"/>
          </a:xfrm>
          <a:prstGeom prst="roundRect">
            <a:avLst>
              <a:gd name="adj" fmla="val 29630"/>
            </a:avLst>
          </a:prstGeom>
          <a:solidFill>
            <a:srgbClr val="0F5132">
              <a:alpha val="8000"/>
            </a:srgbClr>
          </a:solidFill>
          <a:ln/>
        </p:spPr>
        <p:txBody>
          <a:bodyPr wrap="square" rtlCol="0" anchor="ctr"/>
          <a:lstStyle/>
          <a:p>
            <a:pPr indent="0" marL="0">
              <a:buNone/>
            </a:pPr>
            <a:endParaRPr lang="en-US" dirty="0"/>
          </a:p>
        </p:txBody>
      </p:sp>
      <p:sp>
        <p:nvSpPr>
          <p:cNvPr id="26" name="Text 23"/>
          <p:cNvSpPr/>
          <p:nvPr/>
        </p:nvSpPr>
        <p:spPr>
          <a:xfrm>
            <a:off x="696516" y="2599879"/>
            <a:ext cx="207169" cy="207169"/>
          </a:xfrm>
          <a:prstGeom prst="rect">
            <a:avLst/>
          </a:prstGeom>
          <a:noFill/>
          <a:ln/>
        </p:spPr>
        <p:txBody>
          <a:bodyPr wrap="none" lIns="0" tIns="0" rIns="0" bIns="0" rtlCol="0" anchor="ctr"/>
          <a:lstStyle/>
          <a:p>
            <a:pPr algn="ctr" indent="0" marL="0">
              <a:buNone/>
            </a:pPr>
            <a:r>
              <a:rPr lang="en-US" sz="1406" dirty="0">
                <a:solidFill>
                  <a:srgbClr val="0F5132"/>
                </a:solidFill>
                <a:latin typeface="Segoe UI Symbol" pitchFamily="34" charset="0"/>
                <a:ea typeface="Segoe UI Symbol" pitchFamily="34" charset="-122"/>
                <a:cs typeface="Segoe UI Symbol" pitchFamily="34" charset="-120"/>
              </a:rPr>
              <a:t>✦</a:t>
            </a:r>
            <a:endParaRPr lang="en-US" sz="1406" dirty="0"/>
          </a:p>
        </p:txBody>
      </p:sp>
      <p:sp>
        <p:nvSpPr>
          <p:cNvPr id="27" name="Text 24"/>
          <p:cNvSpPr/>
          <p:nvPr/>
        </p:nvSpPr>
        <p:spPr>
          <a:xfrm>
            <a:off x="1014413" y="2574875"/>
            <a:ext cx="816602"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0F5132"/>
                </a:solidFill>
                <a:latin typeface="Liberation Sans Narrow" pitchFamily="34" charset="0"/>
                <a:ea typeface="Liberation Sans Narrow" pitchFamily="34" charset="-122"/>
                <a:cs typeface="Liberation Sans Narrow" pitchFamily="34" charset="-120"/>
              </a:rPr>
              <a:t>COUCHE 02</a:t>
            </a:r>
            <a:endParaRPr lang="en-US" sz="800" dirty="0"/>
          </a:p>
        </p:txBody>
      </p:sp>
      <p:sp>
        <p:nvSpPr>
          <p:cNvPr id="28" name="Text 25"/>
          <p:cNvSpPr/>
          <p:nvPr/>
        </p:nvSpPr>
        <p:spPr>
          <a:xfrm>
            <a:off x="1596182" y="2574875"/>
            <a:ext cx="914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solidFill>
                <a:latin typeface="Carlito" pitchFamily="34" charset="0"/>
                <a:ea typeface="Carlito" pitchFamily="34" charset="-122"/>
                <a:cs typeface="Carlito" pitchFamily="34" charset="-120"/>
              </a:rPr>
              <a:t>·</a:t>
            </a:r>
            <a:endParaRPr lang="en-US" sz="800" dirty="0"/>
          </a:p>
        </p:txBody>
      </p:sp>
      <p:sp>
        <p:nvSpPr>
          <p:cNvPr id="29" name="Text 26"/>
          <p:cNvSpPr/>
          <p:nvPr/>
        </p:nvSpPr>
        <p:spPr>
          <a:xfrm>
            <a:off x="1677219" y="2574875"/>
            <a:ext cx="3467621" cy="164592"/>
          </a:xfrm>
          <a:prstGeom prst="rect">
            <a:avLst/>
          </a:prstGeom>
          <a:noFill/>
          <a:ln/>
        </p:spPr>
        <p:txBody>
          <a:bodyPr wrap="none" lIns="0" tIns="0" rIns="0" bIns="0" rtlCol="0" anchor="t"/>
          <a:lstStyle/>
          <a:p>
            <a:pPr algn="l" indent="0" marL="0">
              <a:lnSpc>
                <a:spcPts val="844"/>
              </a:lnSpc>
              <a:buNone/>
            </a:pPr>
            <a:r>
              <a:rPr lang="en-US" sz="800" spc="56" kern="0" dirty="0">
                <a:solidFill>
                  <a:srgbClr val="6B7C72"/>
                </a:solidFill>
                <a:latin typeface="Carlito" pitchFamily="34" charset="0"/>
                <a:ea typeface="Carlito" pitchFamily="34" charset="-122"/>
                <a:cs typeface="Carlito" pitchFamily="34" charset="-120"/>
              </a:rPr>
              <a:t>API &amp; AUTH</a:t>
            </a:r>
            <a:endParaRPr lang="en-US" sz="800" dirty="0"/>
          </a:p>
        </p:txBody>
      </p:sp>
      <p:sp>
        <p:nvSpPr>
          <p:cNvPr id="30" name="Text 27"/>
          <p:cNvSpPr/>
          <p:nvPr/>
        </p:nvSpPr>
        <p:spPr>
          <a:xfrm>
            <a:off x="1014413" y="2703463"/>
            <a:ext cx="4240155" cy="149711"/>
          </a:xfrm>
          <a:prstGeom prst="rect">
            <a:avLst/>
          </a:prstGeom>
          <a:noFill/>
          <a:ln/>
        </p:spPr>
        <p:txBody>
          <a:bodyPr wrap="square" lIns="0" tIns="0" rIns="0" bIns="0" rtlCol="0" anchor="t">
            <a:normAutofit/>
          </a:bodyPr>
          <a:lstStyle/>
          <a:p>
            <a:pPr algn="l" indent="0" marL="0">
              <a:lnSpc>
                <a:spcPts val="1170"/>
              </a:lnSpc>
              <a:buNone/>
            </a:pPr>
            <a:r>
              <a:rPr lang="en-US" sz="900" b="1" spc="-18" kern="0" dirty="0">
                <a:solidFill>
                  <a:srgbClr val="1A2B22"/>
                </a:solidFill>
                <a:latin typeface="Carlito" pitchFamily="34" charset="0"/>
                <a:ea typeface="Carlito" pitchFamily="34" charset="-122"/>
                <a:cs typeface="Carlito" pitchFamily="34" charset="-120"/>
              </a:rPr>
              <a:t>API Routes Next.js + Sessions HMAC-SHA256</a:t>
            </a:r>
            <a:endParaRPr lang="en-US" sz="900" dirty="0"/>
          </a:p>
        </p:txBody>
      </p:sp>
      <p:sp>
        <p:nvSpPr>
          <p:cNvPr id="31" name="Text 28"/>
          <p:cNvSpPr/>
          <p:nvPr/>
        </p:nvSpPr>
        <p:spPr>
          <a:xfrm>
            <a:off x="1014413" y="2880606"/>
            <a:ext cx="4130427" cy="123230"/>
          </a:xfrm>
          <a:prstGeom prst="rect">
            <a:avLst/>
          </a:prstGeom>
          <a:noFill/>
          <a:ln/>
        </p:spPr>
        <p:txBody>
          <a:bodyPr wrap="square" lIns="0" tIns="0" rIns="0" bIns="0" rtlCol="0" anchor="t"/>
          <a:lstStyle/>
          <a:p>
            <a:pPr algn="l" indent="0" marL="0">
              <a:lnSpc>
                <a:spcPts val="970"/>
              </a:lnSpc>
              <a:buNone/>
            </a:pPr>
            <a:r>
              <a:rPr lang="en-US" sz="800" dirty="0">
                <a:solidFill>
                  <a:srgbClr val="6B7C72"/>
                </a:solidFill>
                <a:latin typeface="Carlito" pitchFamily="34" charset="0"/>
                <a:ea typeface="Carlito" pitchFamily="34" charset="-122"/>
                <a:cs typeface="Carlito" pitchFamily="34" charset="-120"/>
              </a:rPr>
              <a:t>Auth bcrypt (12 rounds) · Cookies HTTP-only · Middleware URL admin dynamique · WebSocket ready</a:t>
            </a:r>
            <a:endParaRPr lang="en-US" sz="800" dirty="0"/>
          </a:p>
        </p:txBody>
      </p:sp>
      <p:sp>
        <p:nvSpPr>
          <p:cNvPr id="32" name="Text 29"/>
          <p:cNvSpPr/>
          <p:nvPr/>
        </p:nvSpPr>
        <p:spPr>
          <a:xfrm>
            <a:off x="514350" y="3182429"/>
            <a:ext cx="4766221" cy="643272"/>
          </a:xfrm>
          <a:prstGeom prst="roundRect">
            <a:avLst>
              <a:gd name="adj" fmla="val 23691"/>
            </a:avLst>
          </a:prstGeom>
          <a:solidFill>
            <a:srgbClr val="FFFFFF"/>
          </a:solidFill>
          <a:ln/>
        </p:spPr>
        <p:txBody>
          <a:bodyPr wrap="square" rtlCol="0" anchor="ctr"/>
          <a:lstStyle/>
          <a:p>
            <a:pPr indent="0" marL="0">
              <a:buNone/>
            </a:pPr>
            <a:endParaRPr lang="en-US" dirty="0"/>
          </a:p>
        </p:txBody>
      </p:sp>
      <p:sp>
        <p:nvSpPr>
          <p:cNvPr id="33" name="Shape 30"/>
          <p:cNvSpPr/>
          <p:nvPr/>
        </p:nvSpPr>
        <p:spPr>
          <a:xfrm>
            <a:off x="514350" y="3186001"/>
            <a:ext cx="4766221" cy="0"/>
          </a:xfrm>
          <a:prstGeom prst="line">
            <a:avLst/>
          </a:prstGeom>
          <a:noFill/>
          <a:ln w="7144">
            <a:solidFill>
              <a:srgbClr val="E5E0D5"/>
            </a:solidFill>
            <a:prstDash val="solid"/>
          </a:ln>
        </p:spPr>
      </p:sp>
      <p:sp>
        <p:nvSpPr>
          <p:cNvPr id="34" name="Shape 31"/>
          <p:cNvSpPr/>
          <p:nvPr/>
        </p:nvSpPr>
        <p:spPr>
          <a:xfrm>
            <a:off x="5276999" y="3182429"/>
            <a:ext cx="0" cy="643272"/>
          </a:xfrm>
          <a:prstGeom prst="line">
            <a:avLst/>
          </a:prstGeom>
          <a:noFill/>
          <a:ln w="7144">
            <a:solidFill>
              <a:srgbClr val="E5E0D5"/>
            </a:solidFill>
            <a:prstDash val="solid"/>
          </a:ln>
        </p:spPr>
      </p:sp>
      <p:sp>
        <p:nvSpPr>
          <p:cNvPr id="35" name="Shape 32"/>
          <p:cNvSpPr/>
          <p:nvPr/>
        </p:nvSpPr>
        <p:spPr>
          <a:xfrm>
            <a:off x="514350" y="3822129"/>
            <a:ext cx="4766221" cy="0"/>
          </a:xfrm>
          <a:prstGeom prst="line">
            <a:avLst/>
          </a:prstGeom>
          <a:noFill/>
          <a:ln w="7144">
            <a:solidFill>
              <a:srgbClr val="E5E0D5"/>
            </a:solidFill>
            <a:prstDash val="solid"/>
          </a:ln>
        </p:spPr>
      </p:sp>
      <p:sp>
        <p:nvSpPr>
          <p:cNvPr id="36" name="Shape 33"/>
          <p:cNvSpPr/>
          <p:nvPr/>
        </p:nvSpPr>
        <p:spPr>
          <a:xfrm>
            <a:off x="528638" y="3182429"/>
            <a:ext cx="0" cy="643272"/>
          </a:xfrm>
          <a:prstGeom prst="line">
            <a:avLst/>
          </a:prstGeom>
          <a:noFill/>
          <a:ln w="28575">
            <a:solidFill>
              <a:srgbClr val="B89968"/>
            </a:solidFill>
            <a:prstDash val="solid"/>
          </a:ln>
        </p:spPr>
      </p:sp>
      <p:sp>
        <p:nvSpPr>
          <p:cNvPr id="37" name="Text 34"/>
          <p:cNvSpPr/>
          <p:nvPr/>
        </p:nvSpPr>
        <p:spPr>
          <a:xfrm>
            <a:off x="671513" y="3289585"/>
            <a:ext cx="257175" cy="257175"/>
          </a:xfrm>
          <a:prstGeom prst="roundRect">
            <a:avLst>
              <a:gd name="adj" fmla="val 29630"/>
            </a:avLst>
          </a:prstGeom>
          <a:solidFill>
            <a:srgbClr val="B89968">
              <a:alpha val="12000"/>
            </a:srgbClr>
          </a:solidFill>
          <a:ln/>
        </p:spPr>
        <p:txBody>
          <a:bodyPr wrap="square" rtlCol="0" anchor="ctr"/>
          <a:lstStyle/>
          <a:p>
            <a:pPr indent="0" marL="0">
              <a:buNone/>
            </a:pPr>
            <a:endParaRPr lang="en-US" dirty="0"/>
          </a:p>
        </p:txBody>
      </p:sp>
      <p:sp>
        <p:nvSpPr>
          <p:cNvPr id="38" name="Text 35"/>
          <p:cNvSpPr/>
          <p:nvPr/>
        </p:nvSpPr>
        <p:spPr>
          <a:xfrm>
            <a:off x="696516" y="3314588"/>
            <a:ext cx="207169" cy="207169"/>
          </a:xfrm>
          <a:prstGeom prst="rect">
            <a:avLst/>
          </a:prstGeom>
          <a:noFill/>
          <a:ln/>
        </p:spPr>
        <p:txBody>
          <a:bodyPr wrap="none" lIns="0" tIns="0" rIns="0" bIns="0" rtlCol="0" anchor="ctr"/>
          <a:lstStyle/>
          <a:p>
            <a:pPr algn="ctr" indent="0" marL="0">
              <a:buNone/>
            </a:pPr>
            <a:r>
              <a:rPr lang="en-US" sz="1406" dirty="0">
                <a:solidFill>
                  <a:srgbClr val="B89968"/>
                </a:solidFill>
                <a:latin typeface="Segoe UI Symbol" pitchFamily="34" charset="0"/>
                <a:ea typeface="Segoe UI Symbol" pitchFamily="34" charset="-122"/>
                <a:cs typeface="Segoe UI Symbol" pitchFamily="34" charset="-120"/>
              </a:rPr>
              <a:t>▦</a:t>
            </a:r>
            <a:endParaRPr lang="en-US" sz="1406" dirty="0"/>
          </a:p>
        </p:txBody>
      </p:sp>
      <p:sp>
        <p:nvSpPr>
          <p:cNvPr id="39" name="Text 36"/>
          <p:cNvSpPr/>
          <p:nvPr/>
        </p:nvSpPr>
        <p:spPr>
          <a:xfrm>
            <a:off x="1014413" y="3289585"/>
            <a:ext cx="816602"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B89968"/>
                </a:solidFill>
                <a:latin typeface="Liberation Sans Narrow" pitchFamily="34" charset="0"/>
                <a:ea typeface="Liberation Sans Narrow" pitchFamily="34" charset="-122"/>
                <a:cs typeface="Liberation Sans Narrow" pitchFamily="34" charset="-120"/>
              </a:rPr>
              <a:t>COUCHE 03</a:t>
            </a:r>
            <a:endParaRPr lang="en-US" sz="800" dirty="0"/>
          </a:p>
        </p:txBody>
      </p:sp>
      <p:sp>
        <p:nvSpPr>
          <p:cNvPr id="40" name="Text 37"/>
          <p:cNvSpPr/>
          <p:nvPr/>
        </p:nvSpPr>
        <p:spPr>
          <a:xfrm>
            <a:off x="1596182" y="3289585"/>
            <a:ext cx="914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solidFill>
                <a:latin typeface="Carlito" pitchFamily="34" charset="0"/>
                <a:ea typeface="Carlito" pitchFamily="34" charset="-122"/>
                <a:cs typeface="Carlito" pitchFamily="34" charset="-120"/>
              </a:rPr>
              <a:t>·</a:t>
            </a:r>
            <a:endParaRPr lang="en-US" sz="800" dirty="0"/>
          </a:p>
        </p:txBody>
      </p:sp>
      <p:sp>
        <p:nvSpPr>
          <p:cNvPr id="41" name="Text 38"/>
          <p:cNvSpPr/>
          <p:nvPr/>
        </p:nvSpPr>
        <p:spPr>
          <a:xfrm>
            <a:off x="1677219" y="3289585"/>
            <a:ext cx="3467621" cy="164592"/>
          </a:xfrm>
          <a:prstGeom prst="rect">
            <a:avLst/>
          </a:prstGeom>
          <a:noFill/>
          <a:ln/>
        </p:spPr>
        <p:txBody>
          <a:bodyPr wrap="none" lIns="0" tIns="0" rIns="0" bIns="0" rtlCol="0" anchor="t"/>
          <a:lstStyle/>
          <a:p>
            <a:pPr algn="l" indent="0" marL="0">
              <a:lnSpc>
                <a:spcPts val="844"/>
              </a:lnSpc>
              <a:buNone/>
            </a:pPr>
            <a:r>
              <a:rPr lang="en-US" sz="800" spc="56" kern="0" dirty="0">
                <a:solidFill>
                  <a:srgbClr val="6B7C72"/>
                </a:solidFill>
                <a:latin typeface="Carlito" pitchFamily="34" charset="0"/>
                <a:ea typeface="Carlito" pitchFamily="34" charset="-122"/>
                <a:cs typeface="Carlito" pitchFamily="34" charset="-120"/>
              </a:rPr>
              <a:t>BASE DE DONNÉES</a:t>
            </a:r>
            <a:endParaRPr lang="en-US" sz="800" dirty="0"/>
          </a:p>
        </p:txBody>
      </p:sp>
      <p:sp>
        <p:nvSpPr>
          <p:cNvPr id="42" name="Text 39"/>
          <p:cNvSpPr/>
          <p:nvPr/>
        </p:nvSpPr>
        <p:spPr>
          <a:xfrm>
            <a:off x="1014413" y="3418173"/>
            <a:ext cx="4240155" cy="149711"/>
          </a:xfrm>
          <a:prstGeom prst="rect">
            <a:avLst/>
          </a:prstGeom>
          <a:noFill/>
          <a:ln/>
        </p:spPr>
        <p:txBody>
          <a:bodyPr wrap="square" lIns="0" tIns="0" rIns="0" bIns="0" rtlCol="0" anchor="t">
            <a:normAutofit/>
          </a:bodyPr>
          <a:lstStyle/>
          <a:p>
            <a:pPr algn="l" indent="0" marL="0">
              <a:lnSpc>
                <a:spcPts val="1170"/>
              </a:lnSpc>
              <a:buNone/>
            </a:pPr>
            <a:r>
              <a:rPr lang="en-US" sz="900" b="1" spc="-18" kern="0" dirty="0">
                <a:solidFill>
                  <a:srgbClr val="1A2B22"/>
                </a:solidFill>
                <a:latin typeface="Carlito" pitchFamily="34" charset="0"/>
                <a:ea typeface="Carlito" pitchFamily="34" charset="-122"/>
                <a:cs typeface="Carlito" pitchFamily="34" charset="-120"/>
              </a:rPr>
              <a:t>PostgreSQL (Supabase) + Prisma ORM</a:t>
            </a:r>
            <a:endParaRPr lang="en-US" sz="900" dirty="0"/>
          </a:p>
        </p:txBody>
      </p:sp>
      <p:sp>
        <p:nvSpPr>
          <p:cNvPr id="43" name="Text 40"/>
          <p:cNvSpPr/>
          <p:nvPr/>
        </p:nvSpPr>
        <p:spPr>
          <a:xfrm>
            <a:off x="1014413" y="3595315"/>
            <a:ext cx="4130427" cy="123230"/>
          </a:xfrm>
          <a:prstGeom prst="rect">
            <a:avLst/>
          </a:prstGeom>
          <a:noFill/>
          <a:ln/>
        </p:spPr>
        <p:txBody>
          <a:bodyPr wrap="square" lIns="0" tIns="0" rIns="0" bIns="0" rtlCol="0" anchor="t"/>
          <a:lstStyle/>
          <a:p>
            <a:pPr algn="l" indent="0" marL="0">
              <a:lnSpc>
                <a:spcPts val="970"/>
              </a:lnSpc>
              <a:buNone/>
            </a:pPr>
            <a:r>
              <a:rPr lang="en-US" sz="800" dirty="0">
                <a:solidFill>
                  <a:srgbClr val="6B7C72"/>
                </a:solidFill>
                <a:latin typeface="Carlito" pitchFamily="34" charset="0"/>
                <a:ea typeface="Carlito" pitchFamily="34" charset="-122"/>
                <a:cs typeface="Carlito" pitchFamily="34" charset="-120"/>
              </a:rPr>
              <a:t>8 modèles · 1348 entrées de garde · Index optimisés · Migrations versionnées</a:t>
            </a:r>
            <a:endParaRPr lang="en-US" sz="800" dirty="0"/>
          </a:p>
        </p:txBody>
      </p:sp>
      <p:sp>
        <p:nvSpPr>
          <p:cNvPr id="44" name="Text 41"/>
          <p:cNvSpPr/>
          <p:nvPr/>
        </p:nvSpPr>
        <p:spPr>
          <a:xfrm>
            <a:off x="514350" y="3897139"/>
            <a:ext cx="4766221" cy="643272"/>
          </a:xfrm>
          <a:prstGeom prst="roundRect">
            <a:avLst>
              <a:gd name="adj" fmla="val 23691"/>
            </a:avLst>
          </a:prstGeom>
          <a:solidFill>
            <a:srgbClr val="FFFFFF"/>
          </a:solidFill>
          <a:ln/>
        </p:spPr>
        <p:txBody>
          <a:bodyPr wrap="square" rtlCol="0" anchor="ctr"/>
          <a:lstStyle/>
          <a:p>
            <a:pPr indent="0" marL="0">
              <a:buNone/>
            </a:pPr>
            <a:endParaRPr lang="en-US" dirty="0"/>
          </a:p>
        </p:txBody>
      </p:sp>
      <p:sp>
        <p:nvSpPr>
          <p:cNvPr id="45" name="Shape 42"/>
          <p:cNvSpPr/>
          <p:nvPr/>
        </p:nvSpPr>
        <p:spPr>
          <a:xfrm>
            <a:off x="514350" y="3900711"/>
            <a:ext cx="4766221" cy="0"/>
          </a:xfrm>
          <a:prstGeom prst="line">
            <a:avLst/>
          </a:prstGeom>
          <a:noFill/>
          <a:ln w="7144">
            <a:solidFill>
              <a:srgbClr val="E5E0D5"/>
            </a:solidFill>
            <a:prstDash val="solid"/>
          </a:ln>
        </p:spPr>
      </p:sp>
      <p:sp>
        <p:nvSpPr>
          <p:cNvPr id="46" name="Shape 43"/>
          <p:cNvSpPr/>
          <p:nvPr/>
        </p:nvSpPr>
        <p:spPr>
          <a:xfrm>
            <a:off x="5276999" y="3897139"/>
            <a:ext cx="0" cy="643272"/>
          </a:xfrm>
          <a:prstGeom prst="line">
            <a:avLst/>
          </a:prstGeom>
          <a:noFill/>
          <a:ln w="7144">
            <a:solidFill>
              <a:srgbClr val="E5E0D5"/>
            </a:solidFill>
            <a:prstDash val="solid"/>
          </a:ln>
        </p:spPr>
      </p:sp>
      <p:sp>
        <p:nvSpPr>
          <p:cNvPr id="47" name="Shape 44"/>
          <p:cNvSpPr/>
          <p:nvPr/>
        </p:nvSpPr>
        <p:spPr>
          <a:xfrm>
            <a:off x="514350" y="4536839"/>
            <a:ext cx="4766221" cy="0"/>
          </a:xfrm>
          <a:prstGeom prst="line">
            <a:avLst/>
          </a:prstGeom>
          <a:noFill/>
          <a:ln w="7144">
            <a:solidFill>
              <a:srgbClr val="E5E0D5"/>
            </a:solidFill>
            <a:prstDash val="solid"/>
          </a:ln>
        </p:spPr>
      </p:sp>
      <p:sp>
        <p:nvSpPr>
          <p:cNvPr id="48" name="Shape 45"/>
          <p:cNvSpPr/>
          <p:nvPr/>
        </p:nvSpPr>
        <p:spPr>
          <a:xfrm>
            <a:off x="528638" y="3897139"/>
            <a:ext cx="0" cy="643272"/>
          </a:xfrm>
          <a:prstGeom prst="line">
            <a:avLst/>
          </a:prstGeom>
          <a:noFill/>
          <a:ln w="28575">
            <a:solidFill>
              <a:srgbClr val="B89968"/>
            </a:solidFill>
            <a:prstDash val="solid"/>
          </a:ln>
        </p:spPr>
      </p:sp>
      <p:sp>
        <p:nvSpPr>
          <p:cNvPr id="49" name="Text 46"/>
          <p:cNvSpPr/>
          <p:nvPr/>
        </p:nvSpPr>
        <p:spPr>
          <a:xfrm>
            <a:off x="671513" y="4004295"/>
            <a:ext cx="257175" cy="257175"/>
          </a:xfrm>
          <a:prstGeom prst="roundRect">
            <a:avLst>
              <a:gd name="adj" fmla="val 29630"/>
            </a:avLst>
          </a:prstGeom>
          <a:solidFill>
            <a:srgbClr val="B89968">
              <a:alpha val="12000"/>
            </a:srgbClr>
          </a:solidFill>
          <a:ln/>
        </p:spPr>
        <p:txBody>
          <a:bodyPr wrap="square" rtlCol="0" anchor="ctr"/>
          <a:lstStyle/>
          <a:p>
            <a:pPr indent="0" marL="0">
              <a:buNone/>
            </a:pPr>
            <a:endParaRPr lang="en-US" dirty="0"/>
          </a:p>
        </p:txBody>
      </p:sp>
      <p:sp>
        <p:nvSpPr>
          <p:cNvPr id="50" name="Text 47"/>
          <p:cNvSpPr/>
          <p:nvPr/>
        </p:nvSpPr>
        <p:spPr>
          <a:xfrm>
            <a:off x="696516" y="4029298"/>
            <a:ext cx="207169" cy="207169"/>
          </a:xfrm>
          <a:prstGeom prst="rect">
            <a:avLst/>
          </a:prstGeom>
          <a:noFill/>
          <a:ln/>
        </p:spPr>
        <p:txBody>
          <a:bodyPr wrap="none" lIns="0" tIns="0" rIns="0" bIns="0" rtlCol="0" anchor="ctr"/>
          <a:lstStyle/>
          <a:p>
            <a:pPr algn="ctr" indent="0" marL="0">
              <a:buNone/>
            </a:pPr>
            <a:r>
              <a:rPr lang="en-US" sz="1406" dirty="0">
                <a:solidFill>
                  <a:srgbClr val="B89968"/>
                </a:solidFill>
                <a:latin typeface="Segoe UI Symbol" pitchFamily="34" charset="0"/>
                <a:ea typeface="Segoe UI Symbol" pitchFamily="34" charset="-122"/>
                <a:cs typeface="Segoe UI Symbol" pitchFamily="34" charset="-120"/>
              </a:rPr>
              <a:t>☁</a:t>
            </a:r>
            <a:endParaRPr lang="en-US" sz="1406" dirty="0"/>
          </a:p>
        </p:txBody>
      </p:sp>
      <p:sp>
        <p:nvSpPr>
          <p:cNvPr id="51" name="Text 48"/>
          <p:cNvSpPr/>
          <p:nvPr/>
        </p:nvSpPr>
        <p:spPr>
          <a:xfrm>
            <a:off x="1014413" y="4004295"/>
            <a:ext cx="816602"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B89968"/>
                </a:solidFill>
                <a:latin typeface="Liberation Sans Narrow" pitchFamily="34" charset="0"/>
                <a:ea typeface="Liberation Sans Narrow" pitchFamily="34" charset="-122"/>
                <a:cs typeface="Liberation Sans Narrow" pitchFamily="34" charset="-120"/>
              </a:rPr>
              <a:t>COUCHE 04</a:t>
            </a:r>
            <a:endParaRPr lang="en-US" sz="800" dirty="0"/>
          </a:p>
        </p:txBody>
      </p:sp>
      <p:sp>
        <p:nvSpPr>
          <p:cNvPr id="52" name="Text 49"/>
          <p:cNvSpPr/>
          <p:nvPr/>
        </p:nvSpPr>
        <p:spPr>
          <a:xfrm>
            <a:off x="1596182" y="4004295"/>
            <a:ext cx="914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solidFill>
                <a:latin typeface="Carlito" pitchFamily="34" charset="0"/>
                <a:ea typeface="Carlito" pitchFamily="34" charset="-122"/>
                <a:cs typeface="Carlito" pitchFamily="34" charset="-120"/>
              </a:rPr>
              <a:t>·</a:t>
            </a:r>
            <a:endParaRPr lang="en-US" sz="800" dirty="0"/>
          </a:p>
        </p:txBody>
      </p:sp>
      <p:sp>
        <p:nvSpPr>
          <p:cNvPr id="53" name="Text 50"/>
          <p:cNvSpPr/>
          <p:nvPr/>
        </p:nvSpPr>
        <p:spPr>
          <a:xfrm>
            <a:off x="1677219" y="4004295"/>
            <a:ext cx="3467621" cy="164592"/>
          </a:xfrm>
          <a:prstGeom prst="rect">
            <a:avLst/>
          </a:prstGeom>
          <a:noFill/>
          <a:ln/>
        </p:spPr>
        <p:txBody>
          <a:bodyPr wrap="none" lIns="0" tIns="0" rIns="0" bIns="0" rtlCol="0" anchor="t"/>
          <a:lstStyle/>
          <a:p>
            <a:pPr algn="l" indent="0" marL="0">
              <a:lnSpc>
                <a:spcPts val="844"/>
              </a:lnSpc>
              <a:buNone/>
            </a:pPr>
            <a:r>
              <a:rPr lang="en-US" sz="800" spc="56" kern="0" dirty="0">
                <a:solidFill>
                  <a:srgbClr val="6B7C72"/>
                </a:solidFill>
                <a:latin typeface="Carlito" pitchFamily="34" charset="0"/>
                <a:ea typeface="Carlito" pitchFamily="34" charset="-122"/>
                <a:cs typeface="Carlito" pitchFamily="34" charset="-120"/>
              </a:rPr>
              <a:t>STORAGE &amp; CRON</a:t>
            </a:r>
            <a:endParaRPr lang="en-US" sz="800" dirty="0"/>
          </a:p>
        </p:txBody>
      </p:sp>
      <p:sp>
        <p:nvSpPr>
          <p:cNvPr id="54" name="Text 51"/>
          <p:cNvSpPr/>
          <p:nvPr/>
        </p:nvSpPr>
        <p:spPr>
          <a:xfrm>
            <a:off x="1014413" y="4132883"/>
            <a:ext cx="4240155" cy="149711"/>
          </a:xfrm>
          <a:prstGeom prst="rect">
            <a:avLst/>
          </a:prstGeom>
          <a:noFill/>
          <a:ln/>
        </p:spPr>
        <p:txBody>
          <a:bodyPr wrap="square" lIns="0" tIns="0" rIns="0" bIns="0" rtlCol="0" anchor="t">
            <a:normAutofit/>
          </a:bodyPr>
          <a:lstStyle/>
          <a:p>
            <a:pPr algn="l" indent="0" marL="0">
              <a:lnSpc>
                <a:spcPts val="1170"/>
              </a:lnSpc>
              <a:buNone/>
            </a:pPr>
            <a:r>
              <a:rPr lang="en-US" sz="900" b="1" spc="-18" kern="0" dirty="0">
                <a:solidFill>
                  <a:srgbClr val="1A2B22"/>
                </a:solidFill>
                <a:latin typeface="Carlito" pitchFamily="34" charset="0"/>
                <a:ea typeface="Carlito" pitchFamily="34" charset="-122"/>
                <a:cs typeface="Carlito" pitchFamily="34" charset="-120"/>
              </a:rPr>
              <a:t>Supabase Storage + Vercel Cron</a:t>
            </a:r>
            <a:endParaRPr lang="en-US" sz="900" dirty="0"/>
          </a:p>
        </p:txBody>
      </p:sp>
      <p:sp>
        <p:nvSpPr>
          <p:cNvPr id="55" name="Text 52"/>
          <p:cNvSpPr/>
          <p:nvPr/>
        </p:nvSpPr>
        <p:spPr>
          <a:xfrm>
            <a:off x="1014413" y="4310025"/>
            <a:ext cx="4130427" cy="123230"/>
          </a:xfrm>
          <a:prstGeom prst="rect">
            <a:avLst/>
          </a:prstGeom>
          <a:noFill/>
          <a:ln/>
        </p:spPr>
        <p:txBody>
          <a:bodyPr wrap="square" lIns="0" tIns="0" rIns="0" bIns="0" rtlCol="0" anchor="t"/>
          <a:lstStyle/>
          <a:p>
            <a:pPr algn="l" indent="0" marL="0">
              <a:lnSpc>
                <a:spcPts val="970"/>
              </a:lnSpc>
              <a:buNone/>
            </a:pPr>
            <a:r>
              <a:rPr lang="en-US" sz="800" dirty="0">
                <a:solidFill>
                  <a:srgbClr val="6B7C72"/>
                </a:solidFill>
                <a:latin typeface="Carlito" pitchFamily="34" charset="0"/>
                <a:ea typeface="Carlito" pitchFamily="34" charset="-122"/>
                <a:cs typeface="Carlito" pitchFamily="34" charset="-120"/>
              </a:rPr>
              <a:t>Bucket privé RLS · Auto-suppression photos 72h/7j · Cron quotidien + hebdomadaire · Audit log</a:t>
            </a:r>
            <a:endParaRPr lang="en-US" sz="800" dirty="0"/>
          </a:p>
        </p:txBody>
      </p:sp>
      <p:sp>
        <p:nvSpPr>
          <p:cNvPr id="56" name="Text 53"/>
          <p:cNvSpPr/>
          <p:nvPr/>
        </p:nvSpPr>
        <p:spPr>
          <a:xfrm>
            <a:off x="5452021" y="1774441"/>
            <a:ext cx="128588" cy="128588"/>
          </a:xfrm>
          <a:prstGeom prst="rect">
            <a:avLst/>
          </a:prstGeom>
          <a:noFill/>
          <a:ln/>
        </p:spPr>
        <p:txBody>
          <a:bodyPr wrap="none" lIns="0" tIns="0" rIns="0" bIns="0" rtlCol="0" anchor="ctr"/>
          <a:lstStyle/>
          <a:p>
            <a:pPr algn="ctr" indent="0" marL="0">
              <a:buNone/>
            </a:pPr>
            <a:r>
              <a:rPr lang="en-US" sz="1266" dirty="0">
                <a:solidFill>
                  <a:srgbClr val="0F5132"/>
                </a:solidFill>
                <a:latin typeface="Segoe UI Symbol" pitchFamily="34" charset="0"/>
                <a:ea typeface="Segoe UI Symbol" pitchFamily="34" charset="-122"/>
                <a:cs typeface="Segoe UI Symbol" pitchFamily="34" charset="-120"/>
              </a:rPr>
              <a:t>◆</a:t>
            </a:r>
            <a:endParaRPr lang="en-US" sz="1266" dirty="0"/>
          </a:p>
        </p:txBody>
      </p:sp>
      <p:sp>
        <p:nvSpPr>
          <p:cNvPr id="57" name="Text 54"/>
          <p:cNvSpPr/>
          <p:nvPr/>
        </p:nvSpPr>
        <p:spPr>
          <a:xfrm>
            <a:off x="5637758" y="1753009"/>
            <a:ext cx="2991780" cy="185166"/>
          </a:xfrm>
          <a:prstGeom prst="rect">
            <a:avLst/>
          </a:prstGeom>
          <a:noFill/>
          <a:ln/>
        </p:spPr>
        <p:txBody>
          <a:bodyPr wrap="none" lIns="0" tIns="0" rIns="0" bIns="0" rtlCol="0" anchor="t"/>
          <a:lstStyle/>
          <a:p>
            <a:pPr algn="l" indent="0" marL="0">
              <a:lnSpc>
                <a:spcPts val="1350"/>
              </a:lnSpc>
              <a:buNone/>
            </a:pPr>
            <a:r>
              <a:rPr lang="en-US" sz="900" b="1" spc="-18" kern="0" dirty="0">
                <a:solidFill>
                  <a:srgbClr val="0F5132"/>
                </a:solidFill>
                <a:latin typeface="Carlito" pitchFamily="34" charset="0"/>
                <a:ea typeface="Carlito" pitchFamily="34" charset="-122"/>
                <a:cs typeface="Carlito" pitchFamily="34" charset="-120"/>
              </a:rPr>
              <a:t>Métriques code</a:t>
            </a:r>
            <a:endParaRPr lang="en-US" sz="900" dirty="0"/>
          </a:p>
        </p:txBody>
      </p:sp>
      <p:sp>
        <p:nvSpPr>
          <p:cNvPr id="58" name="Text 55"/>
          <p:cNvSpPr/>
          <p:nvPr/>
        </p:nvSpPr>
        <p:spPr>
          <a:xfrm>
            <a:off x="5455593" y="1999469"/>
            <a:ext cx="1538697" cy="1323715"/>
          </a:xfrm>
          <a:prstGeom prst="roundRect">
            <a:avLst>
              <a:gd name="adj" fmla="val 11513"/>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59" name="Text 56"/>
          <p:cNvSpPr/>
          <p:nvPr/>
        </p:nvSpPr>
        <p:spPr>
          <a:xfrm>
            <a:off x="5573464" y="2117341"/>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60" name="Text 57"/>
          <p:cNvSpPr/>
          <p:nvPr/>
        </p:nvSpPr>
        <p:spPr>
          <a:xfrm>
            <a:off x="5744914" y="2118233"/>
            <a:ext cx="1131503" cy="164592"/>
          </a:xfrm>
          <a:prstGeom prst="rect">
            <a:avLst/>
          </a:prstGeom>
          <a:noFill/>
          <a:ln/>
        </p:spPr>
        <p:txBody>
          <a:bodyPr wrap="none" lIns="0" tIns="0" rIns="0" bIns="0" rtlCol="0" anchor="t"/>
          <a:lstStyle/>
          <a:p>
            <a:pPr algn="l" indent="0" marL="0">
              <a:lnSpc>
                <a:spcPts val="886"/>
              </a:lnSpc>
              <a:buNone/>
            </a:pPr>
            <a:r>
              <a:rPr lang="en-US" sz="800" b="1" spc="83" kern="0" dirty="0">
                <a:solidFill>
                  <a:srgbClr val="6B7C72"/>
                </a:solidFill>
                <a:latin typeface="Carlito" pitchFamily="34" charset="0"/>
                <a:ea typeface="Carlito" pitchFamily="34" charset="-122"/>
                <a:cs typeface="Carlito" pitchFamily="34" charset="-120"/>
              </a:rPr>
              <a:t>MODÈLES</a:t>
            </a:r>
            <a:endParaRPr lang="en-US" sz="800" dirty="0"/>
          </a:p>
        </p:txBody>
      </p:sp>
      <p:sp>
        <p:nvSpPr>
          <p:cNvPr id="61" name="Text 58"/>
          <p:cNvSpPr/>
          <p:nvPr/>
        </p:nvSpPr>
        <p:spPr>
          <a:xfrm>
            <a:off x="5573464" y="2731703"/>
            <a:ext cx="1302953" cy="344043"/>
          </a:xfrm>
          <a:prstGeom prst="rect">
            <a:avLst/>
          </a:prstGeom>
          <a:noFill/>
          <a:ln/>
        </p:spPr>
        <p:txBody>
          <a:bodyPr wrap="none" lIns="0" tIns="0" rIns="0" bIns="0" rtlCol="0" anchor="t">
            <a:normAutofit/>
          </a:bodyPr>
          <a:lstStyle/>
          <a:p>
            <a:pPr algn="l" indent="0" marL="0">
              <a:lnSpc>
                <a:spcPts val="2700"/>
              </a:lnSpc>
              <a:buNone/>
            </a:pPr>
            <a:r>
              <a:rPr lang="en-US" sz="2700" b="1" dirty="0">
                <a:solidFill>
                  <a:srgbClr val="0F5132"/>
                </a:solidFill>
                <a:latin typeface="Liberation Sans Narrow" pitchFamily="34" charset="0"/>
                <a:ea typeface="Liberation Sans Narrow" pitchFamily="34" charset="-122"/>
                <a:cs typeface="Liberation Sans Narrow" pitchFamily="34" charset="-120"/>
              </a:rPr>
              <a:t>8</a:t>
            </a:r>
            <a:endParaRPr lang="en-US" sz="2700" dirty="0"/>
          </a:p>
        </p:txBody>
      </p:sp>
      <p:sp>
        <p:nvSpPr>
          <p:cNvPr id="62" name="Text 59"/>
          <p:cNvSpPr/>
          <p:nvPr/>
        </p:nvSpPr>
        <p:spPr>
          <a:xfrm>
            <a:off x="5573464" y="3103178"/>
            <a:ext cx="1302953" cy="102133"/>
          </a:xfrm>
          <a:prstGeom prst="rect">
            <a:avLst/>
          </a:prstGeom>
          <a:noFill/>
          <a:ln/>
        </p:spPr>
        <p:txBody>
          <a:bodyPr wrap="none" lIns="0" tIns="0" rIns="0" bIns="0" rtlCol="0" anchor="t"/>
          <a:lstStyle/>
          <a:p>
            <a:pPr algn="l" indent="0" marL="0">
              <a:lnSpc>
                <a:spcPts val="804"/>
              </a:lnSpc>
              <a:buNone/>
            </a:pPr>
            <a:r>
              <a:rPr lang="en-US" sz="800" dirty="0">
                <a:solidFill>
                  <a:srgbClr val="6B7C72"/>
                </a:solidFill>
                <a:latin typeface="Carlito" pitchFamily="34" charset="0"/>
                <a:ea typeface="Carlito" pitchFamily="34" charset="-122"/>
                <a:cs typeface="Carlito" pitchFamily="34" charset="-120"/>
              </a:rPr>
              <a:t>modèles Prisma</a:t>
            </a:r>
            <a:endParaRPr lang="en-US" sz="800" dirty="0"/>
          </a:p>
        </p:txBody>
      </p:sp>
      <p:sp>
        <p:nvSpPr>
          <p:cNvPr id="63" name="Text 60"/>
          <p:cNvSpPr/>
          <p:nvPr/>
        </p:nvSpPr>
        <p:spPr>
          <a:xfrm>
            <a:off x="7087158" y="1999469"/>
            <a:ext cx="1538808" cy="1323715"/>
          </a:xfrm>
          <a:prstGeom prst="roundRect">
            <a:avLst>
              <a:gd name="adj" fmla="val 11513"/>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64" name="Text 61"/>
          <p:cNvSpPr/>
          <p:nvPr/>
        </p:nvSpPr>
        <p:spPr>
          <a:xfrm>
            <a:off x="7205030" y="2117341"/>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65" name="Text 62"/>
          <p:cNvSpPr/>
          <p:nvPr/>
        </p:nvSpPr>
        <p:spPr>
          <a:xfrm>
            <a:off x="7376480" y="2118233"/>
            <a:ext cx="1131615" cy="164592"/>
          </a:xfrm>
          <a:prstGeom prst="rect">
            <a:avLst/>
          </a:prstGeom>
          <a:noFill/>
          <a:ln/>
        </p:spPr>
        <p:txBody>
          <a:bodyPr wrap="none" lIns="0" tIns="0" rIns="0" bIns="0" rtlCol="0" anchor="t"/>
          <a:lstStyle/>
          <a:p>
            <a:pPr algn="l" indent="0" marL="0">
              <a:lnSpc>
                <a:spcPts val="886"/>
              </a:lnSpc>
              <a:buNone/>
            </a:pPr>
            <a:r>
              <a:rPr lang="en-US" sz="800" b="1" spc="83" kern="0" dirty="0">
                <a:solidFill>
                  <a:srgbClr val="6B7C72"/>
                </a:solidFill>
                <a:latin typeface="Carlito" pitchFamily="34" charset="0"/>
                <a:ea typeface="Carlito" pitchFamily="34" charset="-122"/>
                <a:cs typeface="Carlito" pitchFamily="34" charset="-120"/>
              </a:rPr>
              <a:t>ENDPOINTS</a:t>
            </a:r>
            <a:endParaRPr lang="en-US" sz="800" dirty="0"/>
          </a:p>
        </p:txBody>
      </p:sp>
      <p:sp>
        <p:nvSpPr>
          <p:cNvPr id="66" name="Text 63"/>
          <p:cNvSpPr/>
          <p:nvPr/>
        </p:nvSpPr>
        <p:spPr>
          <a:xfrm>
            <a:off x="7205030" y="2731703"/>
            <a:ext cx="1303065" cy="344043"/>
          </a:xfrm>
          <a:prstGeom prst="rect">
            <a:avLst/>
          </a:prstGeom>
          <a:noFill/>
          <a:ln/>
        </p:spPr>
        <p:txBody>
          <a:bodyPr wrap="none" lIns="0" tIns="0" rIns="0" bIns="0" rtlCol="0" anchor="t">
            <a:normAutofit/>
          </a:bodyPr>
          <a:lstStyle/>
          <a:p>
            <a:pPr algn="l" indent="0" marL="0">
              <a:lnSpc>
                <a:spcPts val="2700"/>
              </a:lnSpc>
              <a:buNone/>
            </a:pPr>
            <a:r>
              <a:rPr lang="en-US" sz="2700" b="1" dirty="0">
                <a:solidFill>
                  <a:srgbClr val="0F5132"/>
                </a:solidFill>
                <a:latin typeface="Liberation Sans Narrow" pitchFamily="34" charset="0"/>
                <a:ea typeface="Liberation Sans Narrow" pitchFamily="34" charset="-122"/>
                <a:cs typeface="Liberation Sans Narrow" pitchFamily="34" charset="-120"/>
              </a:rPr>
              <a:t>14</a:t>
            </a:r>
            <a:endParaRPr lang="en-US" sz="2700" dirty="0"/>
          </a:p>
        </p:txBody>
      </p:sp>
      <p:sp>
        <p:nvSpPr>
          <p:cNvPr id="67" name="Text 64"/>
          <p:cNvSpPr/>
          <p:nvPr/>
        </p:nvSpPr>
        <p:spPr>
          <a:xfrm>
            <a:off x="7205030" y="3103178"/>
            <a:ext cx="1303065" cy="102133"/>
          </a:xfrm>
          <a:prstGeom prst="rect">
            <a:avLst/>
          </a:prstGeom>
          <a:noFill/>
          <a:ln/>
        </p:spPr>
        <p:txBody>
          <a:bodyPr wrap="none" lIns="0" tIns="0" rIns="0" bIns="0" rtlCol="0" anchor="t"/>
          <a:lstStyle/>
          <a:p>
            <a:pPr algn="l" indent="0" marL="0">
              <a:lnSpc>
                <a:spcPts val="804"/>
              </a:lnSpc>
              <a:buNone/>
            </a:pPr>
            <a:r>
              <a:rPr lang="en-US" sz="800" dirty="0">
                <a:solidFill>
                  <a:srgbClr val="6B7C72"/>
                </a:solidFill>
                <a:latin typeface="Carlito" pitchFamily="34" charset="0"/>
                <a:ea typeface="Carlito" pitchFamily="34" charset="-122"/>
                <a:cs typeface="Carlito" pitchFamily="34" charset="-120"/>
              </a:rPr>
              <a:t>routes API</a:t>
            </a:r>
            <a:endParaRPr lang="en-US" sz="800" dirty="0"/>
          </a:p>
        </p:txBody>
      </p:sp>
      <p:sp>
        <p:nvSpPr>
          <p:cNvPr id="68" name="Text 65"/>
          <p:cNvSpPr/>
          <p:nvPr/>
        </p:nvSpPr>
        <p:spPr>
          <a:xfrm>
            <a:off x="5455593" y="3416052"/>
            <a:ext cx="1538697" cy="1323826"/>
          </a:xfrm>
          <a:prstGeom prst="roundRect">
            <a:avLst>
              <a:gd name="adj" fmla="val 11512"/>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69" name="Text 66"/>
          <p:cNvSpPr/>
          <p:nvPr/>
        </p:nvSpPr>
        <p:spPr>
          <a:xfrm>
            <a:off x="5573464" y="3533924"/>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70" name="Text 67"/>
          <p:cNvSpPr/>
          <p:nvPr/>
        </p:nvSpPr>
        <p:spPr>
          <a:xfrm>
            <a:off x="5744914" y="3534817"/>
            <a:ext cx="1131503" cy="164592"/>
          </a:xfrm>
          <a:prstGeom prst="rect">
            <a:avLst/>
          </a:prstGeom>
          <a:noFill/>
          <a:ln/>
        </p:spPr>
        <p:txBody>
          <a:bodyPr wrap="none" lIns="0" tIns="0" rIns="0" bIns="0" rtlCol="0" anchor="t"/>
          <a:lstStyle/>
          <a:p>
            <a:pPr algn="l" indent="0" marL="0">
              <a:lnSpc>
                <a:spcPts val="886"/>
              </a:lnSpc>
              <a:buNone/>
            </a:pPr>
            <a:r>
              <a:rPr lang="en-US" sz="800" b="1" spc="83" kern="0" dirty="0">
                <a:solidFill>
                  <a:srgbClr val="6B7C72"/>
                </a:solidFill>
                <a:latin typeface="Carlito" pitchFamily="34" charset="0"/>
                <a:ea typeface="Carlito" pitchFamily="34" charset="-122"/>
                <a:cs typeface="Carlito" pitchFamily="34" charset="-120"/>
              </a:rPr>
              <a:t>CODEBASE</a:t>
            </a:r>
            <a:endParaRPr lang="en-US" sz="800" dirty="0"/>
          </a:p>
        </p:txBody>
      </p:sp>
      <p:sp>
        <p:nvSpPr>
          <p:cNvPr id="71" name="Text 68"/>
          <p:cNvSpPr/>
          <p:nvPr/>
        </p:nvSpPr>
        <p:spPr>
          <a:xfrm>
            <a:off x="5573464" y="4148398"/>
            <a:ext cx="1302953" cy="344043"/>
          </a:xfrm>
          <a:prstGeom prst="rect">
            <a:avLst/>
          </a:prstGeom>
          <a:noFill/>
          <a:ln/>
        </p:spPr>
        <p:txBody>
          <a:bodyPr wrap="none" lIns="0" tIns="0" rIns="0" bIns="0" rtlCol="0" anchor="t">
            <a:normAutofit/>
          </a:bodyPr>
          <a:lstStyle/>
          <a:p>
            <a:pPr algn="l" indent="0" marL="0">
              <a:lnSpc>
                <a:spcPts val="2700"/>
              </a:lnSpc>
              <a:buNone/>
            </a:pPr>
            <a:r>
              <a:rPr lang="en-US" sz="2700" b="1" dirty="0">
                <a:solidFill>
                  <a:srgbClr val="0F5132"/>
                </a:solidFill>
                <a:latin typeface="Liberation Sans Narrow" pitchFamily="34" charset="0"/>
                <a:ea typeface="Liberation Sans Narrow" pitchFamily="34" charset="-122"/>
                <a:cs typeface="Liberation Sans Narrow" pitchFamily="34" charset="-120"/>
              </a:rPr>
              <a:t>142</a:t>
            </a:r>
            <a:endParaRPr lang="en-US" sz="2700" dirty="0"/>
          </a:p>
        </p:txBody>
      </p:sp>
      <p:sp>
        <p:nvSpPr>
          <p:cNvPr id="72" name="Text 69"/>
          <p:cNvSpPr/>
          <p:nvPr/>
        </p:nvSpPr>
        <p:spPr>
          <a:xfrm>
            <a:off x="5573464" y="4519873"/>
            <a:ext cx="1302953" cy="102133"/>
          </a:xfrm>
          <a:prstGeom prst="rect">
            <a:avLst/>
          </a:prstGeom>
          <a:noFill/>
          <a:ln/>
        </p:spPr>
        <p:txBody>
          <a:bodyPr wrap="none" lIns="0" tIns="0" rIns="0" bIns="0" rtlCol="0" anchor="t"/>
          <a:lstStyle/>
          <a:p>
            <a:pPr algn="l" indent="0" marL="0">
              <a:lnSpc>
                <a:spcPts val="804"/>
              </a:lnSpc>
              <a:buNone/>
            </a:pPr>
            <a:r>
              <a:rPr lang="en-US" sz="800" dirty="0">
                <a:solidFill>
                  <a:srgbClr val="6B7C72"/>
                </a:solidFill>
                <a:latin typeface="Carlito" pitchFamily="34" charset="0"/>
                <a:ea typeface="Carlito" pitchFamily="34" charset="-122"/>
                <a:cs typeface="Carlito" pitchFamily="34" charset="-120"/>
              </a:rPr>
              <a:t>fichiers source</a:t>
            </a:r>
            <a:endParaRPr lang="en-US" sz="800" dirty="0"/>
          </a:p>
        </p:txBody>
      </p:sp>
      <p:sp>
        <p:nvSpPr>
          <p:cNvPr id="73" name="Text 70"/>
          <p:cNvSpPr/>
          <p:nvPr/>
        </p:nvSpPr>
        <p:spPr>
          <a:xfrm>
            <a:off x="7087158" y="3416052"/>
            <a:ext cx="1538808" cy="1323826"/>
          </a:xfrm>
          <a:prstGeom prst="roundRect">
            <a:avLst>
              <a:gd name="adj" fmla="val 11512"/>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74" name="Text 71"/>
          <p:cNvSpPr/>
          <p:nvPr/>
        </p:nvSpPr>
        <p:spPr>
          <a:xfrm>
            <a:off x="7205030" y="3533924"/>
            <a:ext cx="114300" cy="114300"/>
          </a:xfrm>
          <a:prstGeom prst="rect">
            <a:avLst/>
          </a:prstGeom>
          <a:noFill/>
          <a:ln/>
        </p:spPr>
        <p:txBody>
          <a:bodyPr wrap="none" lIns="0" tIns="0" rIns="0" bIns="0" rtlCol="0" anchor="ctr"/>
          <a:lstStyle/>
          <a:p>
            <a:pPr algn="ctr" indent="0" marL="0">
              <a:buNone/>
            </a:pPr>
            <a:r>
              <a:rPr lang="en-US" sz="1125" dirty="0">
                <a:solidFill>
                  <a:srgbClr val="B89968"/>
                </a:solidFill>
                <a:latin typeface="Segoe UI Symbol" pitchFamily="34" charset="0"/>
                <a:ea typeface="Segoe UI Symbol" pitchFamily="34" charset="-122"/>
                <a:cs typeface="Segoe UI Symbol" pitchFamily="34" charset="-120"/>
              </a:rPr>
              <a:t>✦</a:t>
            </a:r>
            <a:endParaRPr lang="en-US" sz="1125" dirty="0"/>
          </a:p>
        </p:txBody>
      </p:sp>
      <p:sp>
        <p:nvSpPr>
          <p:cNvPr id="75" name="Text 72"/>
          <p:cNvSpPr/>
          <p:nvPr/>
        </p:nvSpPr>
        <p:spPr>
          <a:xfrm>
            <a:off x="7376480" y="3534817"/>
            <a:ext cx="1131615" cy="164592"/>
          </a:xfrm>
          <a:prstGeom prst="rect">
            <a:avLst/>
          </a:prstGeom>
          <a:noFill/>
          <a:ln/>
        </p:spPr>
        <p:txBody>
          <a:bodyPr wrap="none" lIns="0" tIns="0" rIns="0" bIns="0" rtlCol="0" anchor="t"/>
          <a:lstStyle/>
          <a:p>
            <a:pPr algn="l" indent="0" marL="0">
              <a:lnSpc>
                <a:spcPts val="886"/>
              </a:lnSpc>
              <a:buNone/>
            </a:pPr>
            <a:r>
              <a:rPr lang="en-US" sz="800" b="1" spc="83" kern="0" dirty="0">
                <a:solidFill>
                  <a:srgbClr val="6B7C72"/>
                </a:solidFill>
                <a:latin typeface="Carlito" pitchFamily="34" charset="0"/>
                <a:ea typeface="Carlito" pitchFamily="34" charset="-122"/>
                <a:cs typeface="Carlito" pitchFamily="34" charset="-120"/>
              </a:rPr>
              <a:t>TYPAGE</a:t>
            </a:r>
            <a:endParaRPr lang="en-US" sz="800" dirty="0"/>
          </a:p>
        </p:txBody>
      </p:sp>
      <p:sp>
        <p:nvSpPr>
          <p:cNvPr id="76" name="Text 73"/>
          <p:cNvSpPr/>
          <p:nvPr/>
        </p:nvSpPr>
        <p:spPr>
          <a:xfrm>
            <a:off x="7205030" y="4148398"/>
            <a:ext cx="1303065" cy="344043"/>
          </a:xfrm>
          <a:prstGeom prst="rect">
            <a:avLst/>
          </a:prstGeom>
          <a:noFill/>
          <a:ln/>
        </p:spPr>
        <p:txBody>
          <a:bodyPr wrap="none" lIns="0" tIns="0" rIns="0" bIns="0" rtlCol="0" anchor="t">
            <a:normAutofit/>
          </a:bodyPr>
          <a:lstStyle/>
          <a:p>
            <a:pPr algn="l" indent="0" marL="0">
              <a:lnSpc>
                <a:spcPts val="2700"/>
              </a:lnSpc>
              <a:buNone/>
            </a:pPr>
            <a:r>
              <a:rPr lang="en-US" sz="2700" b="1" dirty="0">
                <a:solidFill>
                  <a:srgbClr val="0F5132"/>
                </a:solidFill>
                <a:latin typeface="Liberation Sans Narrow" pitchFamily="34" charset="0"/>
                <a:ea typeface="Liberation Sans Narrow" pitchFamily="34" charset="-122"/>
                <a:cs typeface="Liberation Sans Narrow" pitchFamily="34" charset="-120"/>
              </a:rPr>
              <a:t>100%</a:t>
            </a:r>
            <a:endParaRPr lang="en-US" sz="2700" dirty="0"/>
          </a:p>
        </p:txBody>
      </p:sp>
      <p:sp>
        <p:nvSpPr>
          <p:cNvPr id="77" name="Text 74"/>
          <p:cNvSpPr/>
          <p:nvPr/>
        </p:nvSpPr>
        <p:spPr>
          <a:xfrm>
            <a:off x="7205030" y="4519873"/>
            <a:ext cx="1303065" cy="102133"/>
          </a:xfrm>
          <a:prstGeom prst="rect">
            <a:avLst/>
          </a:prstGeom>
          <a:noFill/>
          <a:ln/>
        </p:spPr>
        <p:txBody>
          <a:bodyPr wrap="none" lIns="0" tIns="0" rIns="0" bIns="0" rtlCol="0" anchor="t"/>
          <a:lstStyle/>
          <a:p>
            <a:pPr algn="l" indent="0" marL="0">
              <a:lnSpc>
                <a:spcPts val="804"/>
              </a:lnSpc>
              <a:buNone/>
            </a:pPr>
            <a:r>
              <a:rPr lang="en-US" sz="800" dirty="0">
                <a:solidFill>
                  <a:srgbClr val="6B7C72"/>
                </a:solidFill>
                <a:latin typeface="Carlito" pitchFamily="34" charset="0"/>
                <a:ea typeface="Carlito" pitchFamily="34" charset="-122"/>
                <a:cs typeface="Carlito" pitchFamily="34" charset="-120"/>
              </a:rPr>
              <a:t>TypeScript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7858125" y="285750"/>
            <a:ext cx="1285875" cy="1571625"/>
          </a:xfrm>
          <a:prstGeom prst="rect">
            <a:avLst/>
          </a:prstGeom>
          <a:noFill/>
          <a:ln/>
        </p:spPr>
        <p:txBody>
          <a:bodyPr wrap="none" lIns="0" tIns="0" rIns="0" bIns="0" rtlCol="0" anchor="ctr"/>
          <a:lstStyle/>
          <a:p>
            <a:pPr algn="ctr" indent="0" marL="0">
              <a:buNone/>
            </a:pPr>
            <a:r>
              <a:rPr lang="en-US" sz="4800" dirty="0">
                <a:solidFill>
                  <a:srgbClr val="0F5132"/>
                </a:solidFill>
                <a:latin typeface="Segoe UI Symbol" pitchFamily="34" charset="0"/>
                <a:ea typeface="Segoe UI Symbol" pitchFamily="34" charset="-122"/>
                <a:cs typeface="Segoe UI Symbol" pitchFamily="34" charset="-120"/>
              </a:rPr>
              <a:t>⛨</a:t>
            </a:r>
            <a:endParaRPr lang="en-US" sz="4800" dirty="0"/>
          </a:p>
        </p:txBody>
      </p:sp>
      <p:sp>
        <p:nvSpPr>
          <p:cNvPr id="4" name="Text 1"/>
          <p:cNvSpPr/>
          <p:nvPr/>
        </p:nvSpPr>
        <p:spPr>
          <a:xfrm>
            <a:off x="514350" y="400050"/>
            <a:ext cx="4693400" cy="231458"/>
          </a:xfrm>
          <a:prstGeom prst="rect">
            <a:avLst/>
          </a:prstGeom>
          <a:noFill/>
          <a:ln/>
        </p:spPr>
        <p:txBody>
          <a:bodyPr wrap="none" lIns="0" tIns="0" rIns="0" bIns="0" rtlCol="0" anchor="t"/>
          <a:lstStyle/>
          <a:p>
            <a:pPr algn="l" indent="0" marL="0">
              <a:lnSpc>
                <a:spcPts val="1688"/>
              </a:lnSpc>
              <a:buNone/>
            </a:pPr>
            <a:r>
              <a:rPr lang="en-US" sz="1125" b="1" spc="56" kern="0" dirty="0">
                <a:solidFill>
                  <a:srgbClr val="B89968"/>
                </a:solidFill>
                <a:latin typeface="Liberation Sans Narrow" pitchFamily="34" charset="0"/>
                <a:ea typeface="Liberation Sans Narrow" pitchFamily="34" charset="-122"/>
                <a:cs typeface="Liberation Sans Narrow" pitchFamily="34" charset="-120"/>
              </a:rPr>
              <a:t>05 / 06</a:t>
            </a:r>
            <a:endParaRPr lang="en-US" sz="1125" dirty="0"/>
          </a:p>
        </p:txBody>
      </p:sp>
      <p:sp>
        <p:nvSpPr>
          <p:cNvPr id="5" name="Text 2"/>
          <p:cNvSpPr/>
          <p:nvPr/>
        </p:nvSpPr>
        <p:spPr>
          <a:xfrm>
            <a:off x="514350" y="671513"/>
            <a:ext cx="3328653" cy="308610"/>
          </a:xfrm>
          <a:prstGeom prst="rect">
            <a:avLst/>
          </a:prstGeom>
          <a:noFill/>
          <a:ln/>
        </p:spPr>
        <p:txBody>
          <a:bodyPr wrap="square" lIns="0" tIns="0" rIns="0" bIns="0" rtlCol="0" anchor="t"/>
          <a:lstStyle/>
          <a:p>
            <a:pPr algn="l" indent="0" marL="0">
              <a:lnSpc>
                <a:spcPts val="2250"/>
              </a:lnSpc>
              <a:buNone/>
            </a:pPr>
            <a:r>
              <a:rPr lang="en-US" sz="2250" b="1" spc="-45" kern="0" dirty="0">
                <a:solidFill>
                  <a:srgbClr val="0F5132"/>
                </a:solidFill>
                <a:latin typeface="Carlito" pitchFamily="34" charset="0"/>
                <a:ea typeface="Carlito" pitchFamily="34" charset="-122"/>
                <a:cs typeface="Carlito" pitchFamily="34" charset="-120"/>
              </a:rPr>
              <a:t>Sécurité &amp; Confidentialité</a:t>
            </a:r>
            <a:endParaRPr lang="en-US" sz="2250" dirty="0"/>
          </a:p>
        </p:txBody>
      </p:sp>
      <p:sp>
        <p:nvSpPr>
          <p:cNvPr id="6" name="Text 3"/>
          <p:cNvSpPr/>
          <p:nvPr/>
        </p:nvSpPr>
        <p:spPr>
          <a:xfrm>
            <a:off x="514350" y="1014413"/>
            <a:ext cx="3594945" cy="173593"/>
          </a:xfrm>
          <a:prstGeom prst="rect">
            <a:avLst/>
          </a:prstGeom>
          <a:noFill/>
          <a:ln/>
        </p:spPr>
        <p:txBody>
          <a:bodyPr wrap="square" lIns="0" tIns="0" rIns="0" bIns="0" rtlCol="0" anchor="t"/>
          <a:lstStyle/>
          <a:p>
            <a:pPr algn="l" indent="0" marL="0">
              <a:lnSpc>
                <a:spcPts val="1266"/>
              </a:lnSpc>
              <a:buNone/>
            </a:pPr>
            <a:r>
              <a:rPr lang="en-US" sz="844" dirty="0">
                <a:solidFill>
                  <a:srgbClr val="6B7C72"/>
                </a:solidFill>
                <a:latin typeface="Carlito" pitchFamily="34" charset="0"/>
                <a:ea typeface="Carlito" pitchFamily="34" charset="-122"/>
                <a:cs typeface="Carlito" pitchFamily="34" charset="-120"/>
              </a:rPr>
              <a:t>Standards actuels de cybersécurité appliqués</a:t>
            </a:r>
            <a:endParaRPr lang="en-US" sz="844" dirty="0"/>
          </a:p>
        </p:txBody>
      </p:sp>
      <p:sp>
        <p:nvSpPr>
          <p:cNvPr id="7" name="Text 4"/>
          <p:cNvSpPr/>
          <p:nvPr/>
        </p:nvSpPr>
        <p:spPr>
          <a:xfrm>
            <a:off x="6741043" y="923030"/>
            <a:ext cx="1037585" cy="264919"/>
          </a:xfrm>
          <a:prstGeom prst="roundRect">
            <a:avLst>
              <a:gd name="adj" fmla="val 3591843"/>
            </a:avLst>
          </a:prstGeom>
          <a:solidFill>
            <a:srgbClr val="B89968">
              <a:alpha val="12000"/>
            </a:srgbClr>
          </a:solidFill>
          <a:ln w="7144">
            <a:solidFill>
              <a:srgbClr val="B89968"/>
            </a:solidFill>
            <a:prstDash val="solid"/>
          </a:ln>
        </p:spPr>
        <p:txBody>
          <a:bodyPr wrap="square" rtlCol="0" anchor="ctr"/>
          <a:lstStyle/>
          <a:p>
            <a:pPr indent="0" marL="0">
              <a:buNone/>
            </a:pPr>
            <a:endParaRPr lang="en-US" dirty="0"/>
          </a:p>
        </p:txBody>
      </p:sp>
      <p:sp>
        <p:nvSpPr>
          <p:cNvPr id="8" name="Text 5"/>
          <p:cNvSpPr/>
          <p:nvPr/>
        </p:nvSpPr>
        <p:spPr>
          <a:xfrm>
            <a:off x="7013935" y="1000125"/>
            <a:ext cx="634678" cy="107156"/>
          </a:xfrm>
          <a:prstGeom prst="rect">
            <a:avLst/>
          </a:prstGeom>
          <a:noFill/>
          <a:ln/>
        </p:spPr>
        <p:txBody>
          <a:bodyPr wrap="none" lIns="0" tIns="0" rIns="0" bIns="0" rtlCol="0" anchor="ctr"/>
          <a:lstStyle/>
          <a:p>
            <a:pPr algn="ctr" indent="0" marL="0">
              <a:lnSpc>
                <a:spcPts val="1097"/>
              </a:lnSpc>
              <a:buNone/>
            </a:pPr>
            <a:r>
              <a:rPr lang="en-US" sz="800" b="1" dirty="0">
                <a:solidFill>
                  <a:srgbClr val="B89968"/>
                </a:solidFill>
                <a:latin typeface="Carlito" pitchFamily="34" charset="0"/>
                <a:ea typeface="Carlito" pitchFamily="34" charset="-122"/>
                <a:cs typeface="Carlito" pitchFamily="34" charset="-120"/>
              </a:rPr>
              <a:t>RGPD-friendly</a:t>
            </a:r>
            <a:endParaRPr lang="en-US" sz="800" dirty="0"/>
          </a:p>
        </p:txBody>
      </p:sp>
      <p:sp>
        <p:nvSpPr>
          <p:cNvPr id="9" name="Text 6"/>
          <p:cNvSpPr/>
          <p:nvPr/>
        </p:nvSpPr>
        <p:spPr>
          <a:xfrm>
            <a:off x="6871060" y="1005483"/>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10" name="Text 7"/>
          <p:cNvSpPr/>
          <p:nvPr/>
        </p:nvSpPr>
        <p:spPr>
          <a:xfrm>
            <a:off x="7790058" y="923030"/>
            <a:ext cx="862452" cy="264919"/>
          </a:xfrm>
          <a:prstGeom prst="roundRect">
            <a:avLst>
              <a:gd name="adj" fmla="val 3591843"/>
            </a:avLst>
          </a:prstGeom>
          <a:solidFill>
            <a:srgbClr val="B89968">
              <a:alpha val="12000"/>
            </a:srgbClr>
          </a:solidFill>
          <a:ln w="7144">
            <a:solidFill>
              <a:srgbClr val="B89968"/>
            </a:solidFill>
            <a:prstDash val="solid"/>
          </a:ln>
        </p:spPr>
        <p:txBody>
          <a:bodyPr wrap="square" rtlCol="0" anchor="ctr"/>
          <a:lstStyle/>
          <a:p>
            <a:pPr indent="0" marL="0">
              <a:buNone/>
            </a:pPr>
            <a:endParaRPr lang="en-US" dirty="0"/>
          </a:p>
        </p:txBody>
      </p:sp>
      <p:sp>
        <p:nvSpPr>
          <p:cNvPr id="11" name="Text 8"/>
          <p:cNvSpPr/>
          <p:nvPr/>
        </p:nvSpPr>
        <p:spPr>
          <a:xfrm>
            <a:off x="8062950" y="1000125"/>
            <a:ext cx="459544" cy="107156"/>
          </a:xfrm>
          <a:prstGeom prst="rect">
            <a:avLst/>
          </a:prstGeom>
          <a:noFill/>
          <a:ln/>
        </p:spPr>
        <p:txBody>
          <a:bodyPr wrap="none" lIns="0" tIns="0" rIns="0" bIns="0" rtlCol="0" anchor="ctr"/>
          <a:lstStyle/>
          <a:p>
            <a:pPr algn="ctr" indent="0" marL="0">
              <a:lnSpc>
                <a:spcPts val="1097"/>
              </a:lnSpc>
              <a:buNone/>
            </a:pPr>
            <a:r>
              <a:rPr lang="en-US" sz="800" b="1" dirty="0">
                <a:solidFill>
                  <a:srgbClr val="B89968"/>
                </a:solidFill>
                <a:latin typeface="Liberation Sans Narrow" pitchFamily="34" charset="0"/>
                <a:ea typeface="Liberation Sans Narrow" pitchFamily="34" charset="-122"/>
                <a:cs typeface="Liberation Sans Narrow" pitchFamily="34" charset="-120"/>
              </a:rPr>
              <a:t>8 mesures</a:t>
            </a:r>
            <a:endParaRPr lang="en-US" sz="800" dirty="0"/>
          </a:p>
        </p:txBody>
      </p:sp>
      <p:sp>
        <p:nvSpPr>
          <p:cNvPr id="12" name="Text 9"/>
          <p:cNvSpPr/>
          <p:nvPr/>
        </p:nvSpPr>
        <p:spPr>
          <a:xfrm>
            <a:off x="7920075" y="1005483"/>
            <a:ext cx="100013" cy="100013"/>
          </a:xfrm>
          <a:prstGeom prst="rect">
            <a:avLst/>
          </a:prstGeom>
          <a:noFill/>
          <a:ln/>
        </p:spPr>
        <p:txBody>
          <a:bodyPr wrap="none" lIns="0" tIns="0" rIns="0" bIns="0" rtlCol="0" anchor="ctr"/>
          <a:lstStyle/>
          <a:p>
            <a:pPr algn="ctr" indent="0" marL="0">
              <a:buNone/>
            </a:pPr>
            <a:r>
              <a:rPr lang="en-US" sz="984" dirty="0">
                <a:solidFill>
                  <a:srgbClr val="B89968"/>
                </a:solidFill>
                <a:latin typeface="Segoe UI Symbol" pitchFamily="34" charset="0"/>
                <a:ea typeface="Segoe UI Symbol" pitchFamily="34" charset="-122"/>
                <a:cs typeface="Segoe UI Symbol" pitchFamily="34" charset="-120"/>
              </a:rPr>
              <a:t>▤</a:t>
            </a:r>
            <a:endParaRPr lang="en-US" sz="984" dirty="0"/>
          </a:p>
        </p:txBody>
      </p:sp>
      <p:sp>
        <p:nvSpPr>
          <p:cNvPr id="13" name="Text 10"/>
          <p:cNvSpPr/>
          <p:nvPr/>
        </p:nvSpPr>
        <p:spPr>
          <a:xfrm>
            <a:off x="517922" y="1321594"/>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14" name="Text 11"/>
          <p:cNvSpPr/>
          <p:nvPr/>
        </p:nvSpPr>
        <p:spPr>
          <a:xfrm>
            <a:off x="2277070" y="1410891"/>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01</a:t>
            </a:r>
            <a:endParaRPr lang="en-US" sz="800" dirty="0"/>
          </a:p>
        </p:txBody>
      </p:sp>
      <p:sp>
        <p:nvSpPr>
          <p:cNvPr id="15" name="Text 12"/>
          <p:cNvSpPr/>
          <p:nvPr/>
        </p:nvSpPr>
        <p:spPr>
          <a:xfrm>
            <a:off x="635794" y="1439466"/>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16" name="Text 13"/>
          <p:cNvSpPr/>
          <p:nvPr/>
        </p:nvSpPr>
        <p:spPr>
          <a:xfrm>
            <a:off x="657582" y="1461254"/>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17" name="Text 14"/>
          <p:cNvSpPr/>
          <p:nvPr/>
        </p:nvSpPr>
        <p:spPr>
          <a:xfrm>
            <a:off x="635794" y="1768078"/>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Mots de passe</a:t>
            </a:r>
            <a:endParaRPr lang="en-US" sz="844" dirty="0"/>
          </a:p>
        </p:txBody>
      </p:sp>
      <p:sp>
        <p:nvSpPr>
          <p:cNvPr id="18" name="Text 15"/>
          <p:cNvSpPr/>
          <p:nvPr/>
        </p:nvSpPr>
        <p:spPr>
          <a:xfrm>
            <a:off x="635794" y="1985963"/>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Hashés bcrypt (12 rounds) · Validation force (8+ caractères, lettre + chiffre)</a:t>
            </a:r>
            <a:endParaRPr lang="en-US" sz="800" dirty="0"/>
          </a:p>
        </p:txBody>
      </p:sp>
      <p:sp>
        <p:nvSpPr>
          <p:cNvPr id="19" name="Text 16"/>
          <p:cNvSpPr/>
          <p:nvPr/>
        </p:nvSpPr>
        <p:spPr>
          <a:xfrm>
            <a:off x="2568178" y="1321594"/>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20" name="Text 17"/>
          <p:cNvSpPr/>
          <p:nvPr/>
        </p:nvSpPr>
        <p:spPr>
          <a:xfrm>
            <a:off x="4327327" y="1410891"/>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02</a:t>
            </a:r>
            <a:endParaRPr lang="en-US" sz="800" dirty="0"/>
          </a:p>
        </p:txBody>
      </p:sp>
      <p:sp>
        <p:nvSpPr>
          <p:cNvPr id="21" name="Text 18"/>
          <p:cNvSpPr/>
          <p:nvPr/>
        </p:nvSpPr>
        <p:spPr>
          <a:xfrm>
            <a:off x="2686050" y="1439466"/>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22" name="Text 19"/>
          <p:cNvSpPr/>
          <p:nvPr/>
        </p:nvSpPr>
        <p:spPr>
          <a:xfrm>
            <a:off x="2707838" y="1461254"/>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23" name="Text 20"/>
          <p:cNvSpPr/>
          <p:nvPr/>
        </p:nvSpPr>
        <p:spPr>
          <a:xfrm>
            <a:off x="2686050" y="1768078"/>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Sessions</a:t>
            </a:r>
            <a:endParaRPr lang="en-US" sz="844" dirty="0"/>
          </a:p>
        </p:txBody>
      </p:sp>
      <p:sp>
        <p:nvSpPr>
          <p:cNvPr id="24" name="Text 21"/>
          <p:cNvSpPr/>
          <p:nvPr/>
        </p:nvSpPr>
        <p:spPr>
          <a:xfrm>
            <a:off x="2686050" y="1985963"/>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Cookies HTTP-only signés HMAC-SHA256 · SameSite=Lax · Secure en production</a:t>
            </a:r>
            <a:endParaRPr lang="en-US" sz="800" dirty="0"/>
          </a:p>
        </p:txBody>
      </p:sp>
      <p:sp>
        <p:nvSpPr>
          <p:cNvPr id="25" name="Text 22"/>
          <p:cNvSpPr/>
          <p:nvPr/>
        </p:nvSpPr>
        <p:spPr>
          <a:xfrm>
            <a:off x="4618434" y="1321594"/>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26" name="Text 23"/>
          <p:cNvSpPr/>
          <p:nvPr/>
        </p:nvSpPr>
        <p:spPr>
          <a:xfrm>
            <a:off x="6377583" y="1410891"/>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03</a:t>
            </a:r>
            <a:endParaRPr lang="en-US" sz="800" dirty="0"/>
          </a:p>
        </p:txBody>
      </p:sp>
      <p:sp>
        <p:nvSpPr>
          <p:cNvPr id="27" name="Text 24"/>
          <p:cNvSpPr/>
          <p:nvPr/>
        </p:nvSpPr>
        <p:spPr>
          <a:xfrm>
            <a:off x="4736306" y="1439466"/>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28" name="Text 25"/>
          <p:cNvSpPr/>
          <p:nvPr/>
        </p:nvSpPr>
        <p:spPr>
          <a:xfrm>
            <a:off x="4758095" y="1461254"/>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4736306" y="1768078"/>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Photos éphémères</a:t>
            </a:r>
            <a:endParaRPr lang="en-US" sz="844" dirty="0"/>
          </a:p>
        </p:txBody>
      </p:sp>
      <p:sp>
        <p:nvSpPr>
          <p:cNvPr id="30" name="Text 27"/>
          <p:cNvSpPr/>
          <p:nvPr/>
        </p:nvSpPr>
        <p:spPr>
          <a:xfrm>
            <a:off x="4736306" y="1985963"/>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Auto-suppression 72h après réponse · 7j sans réponse · Cron quotidien</a:t>
            </a:r>
            <a:endParaRPr lang="en-US" sz="800" dirty="0"/>
          </a:p>
        </p:txBody>
      </p:sp>
      <p:sp>
        <p:nvSpPr>
          <p:cNvPr id="31" name="Text 28"/>
          <p:cNvSpPr/>
          <p:nvPr/>
        </p:nvSpPr>
        <p:spPr>
          <a:xfrm>
            <a:off x="6668691" y="1321594"/>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32" name="Text 29"/>
          <p:cNvSpPr/>
          <p:nvPr/>
        </p:nvSpPr>
        <p:spPr>
          <a:xfrm>
            <a:off x="8427839" y="1410891"/>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04</a:t>
            </a:r>
            <a:endParaRPr lang="en-US" sz="800" dirty="0"/>
          </a:p>
        </p:txBody>
      </p:sp>
      <p:sp>
        <p:nvSpPr>
          <p:cNvPr id="33" name="Text 30"/>
          <p:cNvSpPr/>
          <p:nvPr/>
        </p:nvSpPr>
        <p:spPr>
          <a:xfrm>
            <a:off x="6786563" y="1439466"/>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34" name="Text 31"/>
          <p:cNvSpPr/>
          <p:nvPr/>
        </p:nvSpPr>
        <p:spPr>
          <a:xfrm>
            <a:off x="6808351" y="1461254"/>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35" name="Text 32"/>
          <p:cNvSpPr/>
          <p:nvPr/>
        </p:nvSpPr>
        <p:spPr>
          <a:xfrm>
            <a:off x="6786563" y="1768078"/>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Stockage privé</a:t>
            </a:r>
            <a:endParaRPr lang="en-US" sz="844" dirty="0"/>
          </a:p>
        </p:txBody>
      </p:sp>
      <p:sp>
        <p:nvSpPr>
          <p:cNvPr id="36" name="Text 33"/>
          <p:cNvSpPr/>
          <p:nvPr/>
        </p:nvSpPr>
        <p:spPr>
          <a:xfrm>
            <a:off x="6786563" y="1985963"/>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Bucket Supabase Storage privé · RLS policies · service_role uniquement</a:t>
            </a:r>
            <a:endParaRPr lang="en-US" sz="800" dirty="0"/>
          </a:p>
        </p:txBody>
      </p:sp>
      <p:sp>
        <p:nvSpPr>
          <p:cNvPr id="37" name="Text 34"/>
          <p:cNvSpPr/>
          <p:nvPr/>
        </p:nvSpPr>
        <p:spPr>
          <a:xfrm>
            <a:off x="517922" y="3077170"/>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38" name="Text 35"/>
          <p:cNvSpPr/>
          <p:nvPr/>
        </p:nvSpPr>
        <p:spPr>
          <a:xfrm>
            <a:off x="2277070" y="3166467"/>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05</a:t>
            </a:r>
            <a:endParaRPr lang="en-US" sz="800" dirty="0"/>
          </a:p>
        </p:txBody>
      </p:sp>
      <p:sp>
        <p:nvSpPr>
          <p:cNvPr id="39" name="Text 36"/>
          <p:cNvSpPr/>
          <p:nvPr/>
        </p:nvSpPr>
        <p:spPr>
          <a:xfrm>
            <a:off x="635794" y="3195042"/>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40" name="Text 37"/>
          <p:cNvSpPr/>
          <p:nvPr/>
        </p:nvSpPr>
        <p:spPr>
          <a:xfrm>
            <a:off x="657582" y="3216831"/>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41" name="Text 38"/>
          <p:cNvSpPr/>
          <p:nvPr/>
        </p:nvSpPr>
        <p:spPr>
          <a:xfrm>
            <a:off x="635794" y="3523655"/>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Admin secret</a:t>
            </a:r>
            <a:endParaRPr lang="en-US" sz="844" dirty="0"/>
          </a:p>
        </p:txBody>
      </p:sp>
      <p:sp>
        <p:nvSpPr>
          <p:cNvPr id="42" name="Text 39"/>
          <p:cNvSpPr/>
          <p:nvPr/>
        </p:nvSpPr>
        <p:spPr>
          <a:xfrm>
            <a:off x="635794" y="3741539"/>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URL admin 32 caractères aléatoires · Middleware Next.js · Accès direct bloqué</a:t>
            </a:r>
            <a:endParaRPr lang="en-US" sz="800" dirty="0"/>
          </a:p>
        </p:txBody>
      </p:sp>
      <p:sp>
        <p:nvSpPr>
          <p:cNvPr id="43" name="Text 40"/>
          <p:cNvSpPr/>
          <p:nvPr/>
        </p:nvSpPr>
        <p:spPr>
          <a:xfrm>
            <a:off x="2568178" y="3077170"/>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44" name="Text 41"/>
          <p:cNvSpPr/>
          <p:nvPr/>
        </p:nvSpPr>
        <p:spPr>
          <a:xfrm>
            <a:off x="4327327" y="3166467"/>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06</a:t>
            </a:r>
            <a:endParaRPr lang="en-US" sz="800" dirty="0"/>
          </a:p>
        </p:txBody>
      </p:sp>
      <p:sp>
        <p:nvSpPr>
          <p:cNvPr id="45" name="Text 42"/>
          <p:cNvSpPr/>
          <p:nvPr/>
        </p:nvSpPr>
        <p:spPr>
          <a:xfrm>
            <a:off x="2686050" y="3195042"/>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46" name="Text 43"/>
          <p:cNvSpPr/>
          <p:nvPr/>
        </p:nvSpPr>
        <p:spPr>
          <a:xfrm>
            <a:off x="2707838" y="3216831"/>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47" name="Text 44"/>
          <p:cNvSpPr/>
          <p:nvPr/>
        </p:nvSpPr>
        <p:spPr>
          <a:xfrm>
            <a:off x="2686050" y="3523655"/>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Audit log</a:t>
            </a:r>
            <a:endParaRPr lang="en-US" sz="844" dirty="0"/>
          </a:p>
        </p:txBody>
      </p:sp>
      <p:sp>
        <p:nvSpPr>
          <p:cNvPr id="48" name="Text 45"/>
          <p:cNvSpPr/>
          <p:nvPr/>
        </p:nvSpPr>
        <p:spPr>
          <a:xfrm>
            <a:off x="2686050" y="3741539"/>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Toutes actions admin journalisées · IP horodatée · Détails JSON</a:t>
            </a:r>
            <a:endParaRPr lang="en-US" sz="800" dirty="0"/>
          </a:p>
        </p:txBody>
      </p:sp>
      <p:sp>
        <p:nvSpPr>
          <p:cNvPr id="49" name="Text 46"/>
          <p:cNvSpPr/>
          <p:nvPr/>
        </p:nvSpPr>
        <p:spPr>
          <a:xfrm>
            <a:off x="4618434" y="3077170"/>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50" name="Text 47"/>
          <p:cNvSpPr/>
          <p:nvPr/>
        </p:nvSpPr>
        <p:spPr>
          <a:xfrm>
            <a:off x="6377583" y="3166467"/>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07</a:t>
            </a:r>
            <a:endParaRPr lang="en-US" sz="800" dirty="0"/>
          </a:p>
        </p:txBody>
      </p:sp>
      <p:sp>
        <p:nvSpPr>
          <p:cNvPr id="51" name="Text 48"/>
          <p:cNvSpPr/>
          <p:nvPr/>
        </p:nvSpPr>
        <p:spPr>
          <a:xfrm>
            <a:off x="4736306" y="3195042"/>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52" name="Text 49"/>
          <p:cNvSpPr/>
          <p:nvPr/>
        </p:nvSpPr>
        <p:spPr>
          <a:xfrm>
            <a:off x="4758095" y="3216831"/>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53" name="Text 50"/>
          <p:cNvSpPr/>
          <p:nvPr/>
        </p:nvSpPr>
        <p:spPr>
          <a:xfrm>
            <a:off x="4736306" y="3523655"/>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Validation entrées</a:t>
            </a:r>
            <a:endParaRPr lang="en-US" sz="844" dirty="0"/>
          </a:p>
        </p:txBody>
      </p:sp>
      <p:sp>
        <p:nvSpPr>
          <p:cNvPr id="54" name="Text 51"/>
          <p:cNvSpPr/>
          <p:nvPr/>
        </p:nvSpPr>
        <p:spPr>
          <a:xfrm>
            <a:off x="4736306" y="3741539"/>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Taille max 2 Mo · Types MIME stricts · Hash SHA256 intégrité</a:t>
            </a:r>
            <a:endParaRPr lang="en-US" sz="800" dirty="0"/>
          </a:p>
        </p:txBody>
      </p:sp>
      <p:sp>
        <p:nvSpPr>
          <p:cNvPr id="55" name="Text 52"/>
          <p:cNvSpPr/>
          <p:nvPr/>
        </p:nvSpPr>
        <p:spPr>
          <a:xfrm>
            <a:off x="6668691" y="3077170"/>
            <a:ext cx="1957388" cy="1662708"/>
          </a:xfrm>
          <a:prstGeom prst="roundRect">
            <a:avLst>
              <a:gd name="adj" fmla="val 8020"/>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56" name="Text 53"/>
          <p:cNvSpPr/>
          <p:nvPr/>
        </p:nvSpPr>
        <p:spPr>
          <a:xfrm>
            <a:off x="8427839" y="3166467"/>
            <a:ext cx="91440" cy="164592"/>
          </a:xfrm>
          <a:prstGeom prst="rect">
            <a:avLst/>
          </a:prstGeom>
          <a:noFill/>
          <a:ln/>
        </p:spPr>
        <p:txBody>
          <a:bodyPr wrap="square" lIns="0" tIns="0" rIns="0" bIns="0" rtlCol="0" anchor="t"/>
          <a:lstStyle/>
          <a:p>
            <a:pPr algn="l" indent="0" marL="0">
              <a:lnSpc>
                <a:spcPts val="928"/>
              </a:lnSpc>
              <a:buNone/>
            </a:pPr>
            <a:r>
              <a:rPr lang="en-US" sz="800" dirty="0">
                <a:solidFill>
                  <a:srgbClr val="B89968">
                    <a:alpha val="65000"/>
                  </a:srgbClr>
                </a:solidFill>
                <a:latin typeface="Liberation Sans Narrow" pitchFamily="34" charset="0"/>
                <a:ea typeface="Liberation Sans Narrow" pitchFamily="34" charset="-122"/>
                <a:cs typeface="Liberation Sans Narrow" pitchFamily="34" charset="-120"/>
              </a:rPr>
              <a:t>08</a:t>
            </a:r>
            <a:endParaRPr lang="en-US" sz="800" dirty="0"/>
          </a:p>
        </p:txBody>
      </p:sp>
      <p:sp>
        <p:nvSpPr>
          <p:cNvPr id="57" name="Text 54"/>
          <p:cNvSpPr/>
          <p:nvPr/>
        </p:nvSpPr>
        <p:spPr>
          <a:xfrm>
            <a:off x="6786563" y="3195042"/>
            <a:ext cx="271463" cy="271463"/>
          </a:xfrm>
          <a:prstGeom prst="roundRect">
            <a:avLst>
              <a:gd name="adj" fmla="val 35088"/>
            </a:avLst>
          </a:prstGeom>
          <a:solidFill>
            <a:srgbClr val="0F5132">
              <a:alpha val="8000"/>
            </a:srgbClr>
          </a:solidFill>
          <a:ln/>
        </p:spPr>
        <p:txBody>
          <a:bodyPr wrap="square" rtlCol="0" anchor="ctr"/>
          <a:lstStyle/>
          <a:p>
            <a:pPr indent="0" marL="0">
              <a:buNone/>
            </a:pPr>
            <a:endParaRPr lang="en-US" dirty="0"/>
          </a:p>
        </p:txBody>
      </p:sp>
      <p:sp>
        <p:nvSpPr>
          <p:cNvPr id="58" name="Text 55"/>
          <p:cNvSpPr/>
          <p:nvPr/>
        </p:nvSpPr>
        <p:spPr>
          <a:xfrm>
            <a:off x="6808351" y="3216831"/>
            <a:ext cx="227886" cy="227886"/>
          </a:xfrm>
          <a:prstGeom prst="rect">
            <a:avLst/>
          </a:prstGeom>
          <a:noFill/>
          <a:ln/>
        </p:spPr>
        <p:txBody>
          <a:bodyPr wrap="none" lIns="0" tIns="0" rIns="0" bIns="0" rtlCol="0" anchor="ctr"/>
          <a:lstStyle/>
          <a:p>
            <a:pPr algn="ctr" indent="0" marL="0">
              <a:buNone/>
            </a:pPr>
            <a:r>
              <a:rPr lang="en-US" sz="1547" dirty="0">
                <a:solidFill>
                  <a:srgbClr val="0F5132"/>
                </a:solidFill>
                <a:latin typeface="Segoe UI Symbol" pitchFamily="34" charset="0"/>
                <a:ea typeface="Segoe UI Symbol" pitchFamily="34" charset="-122"/>
                <a:cs typeface="Segoe UI Symbol" pitchFamily="34" charset="-120"/>
              </a:rPr>
              <a:t>✦</a:t>
            </a:r>
            <a:endParaRPr lang="en-US" sz="1547" dirty="0"/>
          </a:p>
        </p:txBody>
      </p:sp>
      <p:sp>
        <p:nvSpPr>
          <p:cNvPr id="59" name="Text 56"/>
          <p:cNvSpPr/>
          <p:nvPr/>
        </p:nvSpPr>
        <p:spPr>
          <a:xfrm>
            <a:off x="6786563" y="3523655"/>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HTTPS</a:t>
            </a:r>
            <a:endParaRPr lang="en-US" sz="844" dirty="0"/>
          </a:p>
        </p:txBody>
      </p:sp>
      <p:sp>
        <p:nvSpPr>
          <p:cNvPr id="60" name="Text 57"/>
          <p:cNvSpPr/>
          <p:nvPr/>
        </p:nvSpPr>
        <p:spPr>
          <a:xfrm>
            <a:off x="6786563" y="3741539"/>
            <a:ext cx="1721644" cy="329184"/>
          </a:xfrm>
          <a:prstGeom prst="rect">
            <a:avLst/>
          </a:prstGeom>
          <a:noFill/>
          <a:ln/>
        </p:spPr>
        <p:txBody>
          <a:bodyPr wrap="square" lIns="0" tIns="0" rIns="0" bIns="0" rtlCol="0" anchor="t"/>
          <a:lstStyle/>
          <a:p>
            <a:pPr algn="l" indent="0" marL="0">
              <a:lnSpc>
                <a:spcPts val="1055"/>
              </a:lnSpc>
              <a:buNone/>
            </a:pPr>
            <a:r>
              <a:rPr lang="en-US" sz="800" dirty="0">
                <a:solidFill>
                  <a:srgbClr val="6B7C72"/>
                </a:solidFill>
                <a:latin typeface="Carlito" pitchFamily="34" charset="0"/>
                <a:ea typeface="Carlito" pitchFamily="34" charset="-122"/>
                <a:cs typeface="Carlito" pitchFamily="34" charset="-120"/>
              </a:rPr>
              <a:t>Forcé en production · Certificats Vercel · Cookies Secure</a:t>
            </a:r>
            <a:endParaRPr lang="en-US" sz="800" dirty="0"/>
          </a:p>
        </p:txBody>
      </p:sp>
      <p:sp>
        <p:nvSpPr>
          <p:cNvPr id="61" name="Text 58"/>
          <p:cNvSpPr/>
          <p:nvPr/>
        </p:nvSpPr>
        <p:spPr>
          <a:xfrm>
            <a:off x="514350" y="4854178"/>
            <a:ext cx="7008912"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Carlito" pitchFamily="34" charset="0"/>
                <a:ea typeface="Carlito" pitchFamily="34" charset="-122"/>
                <a:cs typeface="Carlito" pitchFamily="34" charset="-120"/>
              </a:rPr>
              <a:t>MediTike · Gala Scientifique FSS 2026</a:t>
            </a:r>
            <a:endParaRPr lang="en-US" sz="800" dirty="0"/>
          </a:p>
        </p:txBody>
      </p:sp>
      <p:sp>
        <p:nvSpPr>
          <p:cNvPr id="62" name="Text 59"/>
          <p:cNvSpPr/>
          <p:nvPr/>
        </p:nvSpPr>
        <p:spPr>
          <a:xfrm>
            <a:off x="7537549" y="4854178"/>
            <a:ext cx="1179469"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Liberation Sans Narrow" pitchFamily="34" charset="0"/>
                <a:ea typeface="Liberation Sans Narrow" pitchFamily="34" charset="-122"/>
                <a:cs typeface="Liberation Sans Narrow" pitchFamily="34" charset="-120"/>
              </a:rPr>
              <a:t>05 — Sécurité &amp; Confidentialité</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857250" y="3429000"/>
            <a:ext cx="2286000" cy="2286000"/>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491490" y="387248"/>
            <a:ext cx="1207807" cy="264919"/>
          </a:xfrm>
          <a:prstGeom prst="roundRect">
            <a:avLst>
              <a:gd name="adj" fmla="val 3591843"/>
            </a:avLst>
          </a:prstGeom>
          <a:solidFill>
            <a:srgbClr val="F5F3EF">
              <a:alpha val="10000"/>
            </a:srgbClr>
          </a:solidFill>
          <a:ln w="7144">
            <a:solidFill>
              <a:srgbClr val="F5F3EF"/>
            </a:solidFill>
            <a:prstDash val="solid"/>
          </a:ln>
        </p:spPr>
        <p:txBody>
          <a:bodyPr wrap="square" rtlCol="0" anchor="ctr"/>
          <a:lstStyle/>
          <a:p>
            <a:pPr indent="0" marL="0">
              <a:buNone/>
            </a:pPr>
            <a:endParaRPr lang="en-US" dirty="0"/>
          </a:p>
        </p:txBody>
      </p:sp>
      <p:sp>
        <p:nvSpPr>
          <p:cNvPr id="5" name="Text 2"/>
          <p:cNvSpPr/>
          <p:nvPr/>
        </p:nvSpPr>
        <p:spPr>
          <a:xfrm>
            <a:off x="764381" y="464344"/>
            <a:ext cx="804900" cy="107156"/>
          </a:xfrm>
          <a:prstGeom prst="rect">
            <a:avLst/>
          </a:prstGeom>
          <a:noFill/>
          <a:ln/>
        </p:spPr>
        <p:txBody>
          <a:bodyPr wrap="none" lIns="0" tIns="0" rIns="0" bIns="0" rtlCol="0" anchor="ctr"/>
          <a:lstStyle/>
          <a:p>
            <a:pPr algn="ctr" indent="0" marL="0">
              <a:lnSpc>
                <a:spcPts val="1097"/>
              </a:lnSpc>
              <a:buNone/>
            </a:pPr>
            <a:r>
              <a:rPr lang="en-US" sz="800" b="1" dirty="0">
                <a:solidFill>
                  <a:srgbClr val="D4B888"/>
                </a:solidFill>
                <a:latin typeface="Carlito" pitchFamily="34" charset="0"/>
                <a:ea typeface="Carlito" pitchFamily="34" charset="-122"/>
                <a:cs typeface="Carlito" pitchFamily="34" charset="-120"/>
              </a:rPr>
              <a:t>Innovation frugale</a:t>
            </a:r>
            <a:endParaRPr lang="en-US" sz="800" dirty="0"/>
          </a:p>
        </p:txBody>
      </p:sp>
      <p:sp>
        <p:nvSpPr>
          <p:cNvPr id="6" name="Text 3"/>
          <p:cNvSpPr/>
          <p:nvPr/>
        </p:nvSpPr>
        <p:spPr>
          <a:xfrm>
            <a:off x="621506" y="469702"/>
            <a:ext cx="100013" cy="100013"/>
          </a:xfrm>
          <a:prstGeom prst="rect">
            <a:avLst/>
          </a:prstGeom>
          <a:noFill/>
          <a:ln/>
        </p:spPr>
        <p:txBody>
          <a:bodyPr wrap="none" lIns="0" tIns="0" rIns="0" bIns="0" rtlCol="0" anchor="ctr"/>
          <a:lstStyle/>
          <a:p>
            <a:pPr algn="ctr" indent="0" marL="0">
              <a:buNone/>
            </a:pPr>
            <a:r>
              <a:rPr lang="en-US" sz="984" dirty="0">
                <a:solidFill>
                  <a:srgbClr val="D4B888"/>
                </a:solidFill>
                <a:latin typeface="Segoe UI Symbol" pitchFamily="34" charset="0"/>
                <a:ea typeface="Segoe UI Symbol" pitchFamily="34" charset="-122"/>
                <a:cs typeface="Segoe UI Symbol" pitchFamily="34" charset="-120"/>
              </a:rPr>
              <a:t>✿</a:t>
            </a:r>
            <a:endParaRPr lang="en-US" sz="984" dirty="0"/>
          </a:p>
        </p:txBody>
      </p:sp>
      <p:sp>
        <p:nvSpPr>
          <p:cNvPr id="7" name="Text 4"/>
          <p:cNvSpPr/>
          <p:nvPr/>
        </p:nvSpPr>
        <p:spPr>
          <a:xfrm>
            <a:off x="514350" y="753666"/>
            <a:ext cx="3457112" cy="308610"/>
          </a:xfrm>
          <a:prstGeom prst="rect">
            <a:avLst/>
          </a:prstGeom>
          <a:noFill/>
          <a:ln/>
        </p:spPr>
        <p:txBody>
          <a:bodyPr wrap="none" lIns="0" tIns="0" rIns="0" bIns="0" rtlCol="0" anchor="t"/>
          <a:lstStyle/>
          <a:p>
            <a:pPr algn="l" indent="0" marL="0">
              <a:lnSpc>
                <a:spcPts val="2250"/>
              </a:lnSpc>
              <a:buNone/>
            </a:pPr>
            <a:r>
              <a:rPr lang="en-US" sz="2250" b="1" spc="-45" kern="0" dirty="0">
                <a:solidFill>
                  <a:srgbClr val="F5F3EF"/>
                </a:solidFill>
                <a:latin typeface="Carlito" pitchFamily="34" charset="0"/>
                <a:ea typeface="Carlito" pitchFamily="34" charset="-122"/>
                <a:cs typeface="Carlito" pitchFamily="34" charset="-120"/>
              </a:rPr>
              <a:t>Impact en santé publique</a:t>
            </a:r>
            <a:endParaRPr lang="en-US" sz="2250" dirty="0"/>
          </a:p>
        </p:txBody>
      </p:sp>
      <p:sp>
        <p:nvSpPr>
          <p:cNvPr id="8" name="Text 5"/>
          <p:cNvSpPr/>
          <p:nvPr/>
        </p:nvSpPr>
        <p:spPr>
          <a:xfrm>
            <a:off x="514350" y="1096566"/>
            <a:ext cx="3292487" cy="173593"/>
          </a:xfrm>
          <a:prstGeom prst="rect">
            <a:avLst/>
          </a:prstGeom>
          <a:noFill/>
          <a:ln/>
        </p:spPr>
        <p:txBody>
          <a:bodyPr wrap="square" lIns="0" tIns="0" rIns="0" bIns="0" rtlCol="0" anchor="t"/>
          <a:lstStyle/>
          <a:p>
            <a:pPr algn="l" indent="0" marL="0">
              <a:lnSpc>
                <a:spcPts val="1266"/>
              </a:lnSpc>
              <a:buNone/>
            </a:pPr>
            <a:r>
              <a:rPr lang="en-US" sz="844" dirty="0">
                <a:solidFill>
                  <a:srgbClr val="F5F3EF">
                    <a:alpha val="70000"/>
                  </a:srgbClr>
                </a:solidFill>
                <a:latin typeface="Carlito" pitchFamily="34" charset="0"/>
                <a:ea typeface="Carlito" pitchFamily="34" charset="-122"/>
                <a:cs typeface="Carlito" pitchFamily="34" charset="-120"/>
              </a:rPr>
              <a:t>Une innovation frugale adaptée aux réalités togolaises</a:t>
            </a:r>
            <a:endParaRPr lang="en-US" sz="844" dirty="0"/>
          </a:p>
        </p:txBody>
      </p:sp>
      <p:sp>
        <p:nvSpPr>
          <p:cNvPr id="9" name="Text 6"/>
          <p:cNvSpPr/>
          <p:nvPr/>
        </p:nvSpPr>
        <p:spPr>
          <a:xfrm>
            <a:off x="7231332" y="935831"/>
            <a:ext cx="1398318" cy="101156"/>
          </a:xfrm>
          <a:prstGeom prst="rect">
            <a:avLst/>
          </a:prstGeom>
          <a:noFill/>
          <a:ln/>
        </p:spPr>
        <p:txBody>
          <a:bodyPr wrap="none" lIns="0" tIns="0" rIns="0" bIns="0" rtlCol="0" anchor="t">
            <a:normAutofit/>
          </a:bodyPr>
          <a:lstStyle/>
          <a:p>
            <a:pPr algn="r" indent="0" marL="0">
              <a:lnSpc>
                <a:spcPts val="1013"/>
              </a:lnSpc>
              <a:buNone/>
            </a:pPr>
            <a:r>
              <a:rPr lang="en-US" sz="800" b="1" dirty="0">
                <a:solidFill>
                  <a:srgbClr val="D4B888">
                    <a:alpha val="70000"/>
                  </a:srgbClr>
                </a:solidFill>
                <a:latin typeface="Courier New" pitchFamily="34" charset="0"/>
                <a:ea typeface="Courier New" pitchFamily="34" charset="-122"/>
                <a:cs typeface="Courier New" pitchFamily="34" charset="-120"/>
              </a:rPr>
              <a:t>SECTEUR</a:t>
            </a:r>
            <a:endParaRPr lang="en-US" sz="800" dirty="0"/>
          </a:p>
        </p:txBody>
      </p:sp>
      <p:sp>
        <p:nvSpPr>
          <p:cNvPr id="10" name="Text 7"/>
          <p:cNvSpPr/>
          <p:nvPr/>
        </p:nvSpPr>
        <p:spPr>
          <a:xfrm>
            <a:off x="7349315" y="1064419"/>
            <a:ext cx="1280335" cy="208312"/>
          </a:xfrm>
          <a:prstGeom prst="rect">
            <a:avLst/>
          </a:prstGeom>
          <a:noFill/>
          <a:ln/>
        </p:spPr>
        <p:txBody>
          <a:bodyPr wrap="none" lIns="0" tIns="0" rIns="0" bIns="0" rtlCol="0" anchor="t"/>
          <a:lstStyle/>
          <a:p>
            <a:pPr algn="r" indent="0" marL="0">
              <a:lnSpc>
                <a:spcPts val="1519"/>
              </a:lnSpc>
              <a:buNone/>
            </a:pPr>
            <a:r>
              <a:rPr lang="en-US" sz="1013" b="1" spc="-20" kern="0" dirty="0">
                <a:solidFill>
                  <a:srgbClr val="F5F3EF"/>
                </a:solidFill>
                <a:latin typeface="Carlito" pitchFamily="34" charset="0"/>
                <a:ea typeface="Carlito" pitchFamily="34" charset="-122"/>
                <a:cs typeface="Carlito" pitchFamily="34" charset="-120"/>
              </a:rPr>
              <a:t>Santé · Numérique</a:t>
            </a:r>
            <a:endParaRPr lang="en-US" sz="1013" dirty="0"/>
          </a:p>
        </p:txBody>
      </p:sp>
      <p:sp>
        <p:nvSpPr>
          <p:cNvPr id="11" name="Text 8"/>
          <p:cNvSpPr/>
          <p:nvPr/>
        </p:nvSpPr>
        <p:spPr>
          <a:xfrm>
            <a:off x="517922" y="1403747"/>
            <a:ext cx="3993356" cy="1293465"/>
          </a:xfrm>
          <a:prstGeom prst="roundRect">
            <a:avLst>
              <a:gd name="adj" fmla="val 13255"/>
            </a:avLst>
          </a:prstGeom>
          <a:solidFill>
            <a:srgbClr val="FFFFFF">
              <a:alpha val="4000"/>
            </a:srgbClr>
          </a:solidFill>
          <a:ln w="7144">
            <a:solidFill>
              <a:srgbClr val="F5F3EF"/>
            </a:solidFill>
            <a:prstDash val="solid"/>
          </a:ln>
        </p:spPr>
        <p:txBody>
          <a:bodyPr wrap="square" rtlCol="0" anchor="ctr"/>
          <a:lstStyle/>
          <a:p>
            <a:pPr indent="0" marL="0">
              <a:buNone/>
            </a:pPr>
            <a:endParaRPr lang="en-US" dirty="0"/>
          </a:p>
        </p:txBody>
      </p:sp>
      <p:sp>
        <p:nvSpPr>
          <p:cNvPr id="12" name="Text 9"/>
          <p:cNvSpPr/>
          <p:nvPr/>
        </p:nvSpPr>
        <p:spPr>
          <a:xfrm>
            <a:off x="3891669" y="1535906"/>
            <a:ext cx="444587" cy="164592"/>
          </a:xfrm>
          <a:prstGeom prst="rect">
            <a:avLst/>
          </a:prstGeom>
          <a:noFill/>
          <a:ln/>
        </p:spPr>
        <p:txBody>
          <a:bodyPr wrap="none" lIns="0" tIns="0" rIns="0" bIns="0" rtlCol="0" anchor="t"/>
          <a:lstStyle/>
          <a:p>
            <a:pPr algn="l" indent="0" marL="0">
              <a:lnSpc>
                <a:spcPts val="928"/>
              </a:lnSpc>
              <a:buNone/>
            </a:pPr>
            <a:r>
              <a:rPr lang="en-US" sz="800" dirty="0">
                <a:solidFill>
                  <a:srgbClr val="D4B888">
                    <a:alpha val="65000"/>
                  </a:srgbClr>
                </a:solidFill>
                <a:latin typeface="Liberation Sans Narrow" pitchFamily="34" charset="0"/>
                <a:ea typeface="Liberation Sans Narrow" pitchFamily="34" charset="-122"/>
                <a:cs typeface="Liberation Sans Narrow" pitchFamily="34" charset="-120"/>
              </a:rPr>
              <a:t>01 · DÉLAI</a:t>
            </a:r>
            <a:endParaRPr lang="en-US" sz="800" dirty="0"/>
          </a:p>
        </p:txBody>
      </p:sp>
      <p:sp>
        <p:nvSpPr>
          <p:cNvPr id="13" name="Text 10"/>
          <p:cNvSpPr/>
          <p:nvPr/>
        </p:nvSpPr>
        <p:spPr>
          <a:xfrm>
            <a:off x="692944" y="1564481"/>
            <a:ext cx="3643313" cy="572643"/>
          </a:xfrm>
          <a:prstGeom prst="rect">
            <a:avLst/>
          </a:prstGeom>
          <a:noFill/>
          <a:ln/>
        </p:spPr>
        <p:txBody>
          <a:bodyPr wrap="none" lIns="0" tIns="0" rIns="0" bIns="0" rtlCol="0" anchor="t">
            <a:normAutofit/>
          </a:bodyPr>
          <a:lstStyle/>
          <a:p>
            <a:pPr algn="l" indent="0" marL="0">
              <a:lnSpc>
                <a:spcPts val="4275"/>
              </a:lnSpc>
              <a:buNone/>
            </a:pPr>
            <a:r>
              <a:rPr lang="en-US" sz="4275" b="1" spc="-171" kern="0" dirty="0">
                <a:solidFill>
                  <a:srgbClr val="2DA771"/>
                </a:solidFill>
                <a:latin typeface="Liberation Sans Narrow" pitchFamily="34" charset="0"/>
                <a:ea typeface="Liberation Sans Narrow" pitchFamily="34" charset="-122"/>
                <a:cs typeface="Liberation Sans Narrow" pitchFamily="34" charset="-120"/>
              </a:rPr>
              <a:t>−90%</a:t>
            </a:r>
            <a:endParaRPr lang="en-US" sz="4275" dirty="0"/>
          </a:p>
        </p:txBody>
      </p:sp>
      <p:sp>
        <p:nvSpPr>
          <p:cNvPr id="14" name="Text 11"/>
          <p:cNvSpPr/>
          <p:nvPr/>
        </p:nvSpPr>
        <p:spPr>
          <a:xfrm>
            <a:off x="692944" y="2164556"/>
            <a:ext cx="3753041" cy="185166"/>
          </a:xfrm>
          <a:prstGeom prst="rect">
            <a:avLst/>
          </a:prstGeom>
          <a:noFill/>
          <a:ln/>
        </p:spPr>
        <p:txBody>
          <a:bodyPr wrap="square" lIns="0" tIns="0" rIns="0" bIns="0" rtlCol="0" anchor="t"/>
          <a:lstStyle/>
          <a:p>
            <a:pPr algn="l" indent="0" marL="0">
              <a:lnSpc>
                <a:spcPts val="1350"/>
              </a:lnSpc>
              <a:buNone/>
            </a:pPr>
            <a:r>
              <a:rPr lang="en-US" sz="900" b="1" spc="-9" kern="0" dirty="0">
                <a:solidFill>
                  <a:srgbClr val="F5F3EF"/>
                </a:solidFill>
                <a:latin typeface="Carlito" pitchFamily="34" charset="0"/>
                <a:ea typeface="Carlito" pitchFamily="34" charset="-122"/>
                <a:cs typeface="Carlito" pitchFamily="34" charset="-120"/>
              </a:rPr>
              <a:t>Délai de contact pharmacie de garde</a:t>
            </a:r>
            <a:endParaRPr lang="en-US" sz="900" dirty="0"/>
          </a:p>
        </p:txBody>
      </p:sp>
      <p:sp>
        <p:nvSpPr>
          <p:cNvPr id="15" name="Text 12"/>
          <p:cNvSpPr/>
          <p:nvPr/>
        </p:nvSpPr>
        <p:spPr>
          <a:xfrm>
            <a:off x="692944" y="2393156"/>
            <a:ext cx="3643313" cy="143321"/>
          </a:xfrm>
          <a:prstGeom prst="rect">
            <a:avLst/>
          </a:prstGeom>
          <a:noFill/>
          <a:ln/>
        </p:spPr>
        <p:txBody>
          <a:bodyPr wrap="square" lIns="0" tIns="0" rIns="0" bIns="0" rtlCol="0" anchor="t"/>
          <a:lstStyle/>
          <a:p>
            <a:pPr algn="l" indent="0" marL="0">
              <a:lnSpc>
                <a:spcPts val="1055"/>
              </a:lnSpc>
              <a:buNone/>
            </a:pPr>
            <a:r>
              <a:rPr lang="en-US" sz="800" dirty="0">
                <a:solidFill>
                  <a:srgbClr val="F5F3EF">
                    <a:alpha val="70000"/>
                  </a:srgbClr>
                </a:solidFill>
                <a:latin typeface="Carlito" pitchFamily="34" charset="0"/>
                <a:ea typeface="Carlito" pitchFamily="34" charset="-122"/>
                <a:cs typeface="Carlito" pitchFamily="34" charset="-120"/>
              </a:rPr>
              <a:t>De plusieurs dizaines de minutes à moins de 5 minutes</a:t>
            </a:r>
            <a:endParaRPr lang="en-US" sz="800" dirty="0"/>
          </a:p>
        </p:txBody>
      </p:sp>
      <p:sp>
        <p:nvSpPr>
          <p:cNvPr id="16" name="Text 13"/>
          <p:cNvSpPr/>
          <p:nvPr/>
        </p:nvSpPr>
        <p:spPr>
          <a:xfrm>
            <a:off x="4632722" y="1403747"/>
            <a:ext cx="3993356" cy="1293465"/>
          </a:xfrm>
          <a:prstGeom prst="roundRect">
            <a:avLst>
              <a:gd name="adj" fmla="val 13255"/>
            </a:avLst>
          </a:prstGeom>
          <a:solidFill>
            <a:srgbClr val="FFFFFF">
              <a:alpha val="4000"/>
            </a:srgbClr>
          </a:solidFill>
          <a:ln w="7144">
            <a:solidFill>
              <a:srgbClr val="F5F3EF"/>
            </a:solidFill>
            <a:prstDash val="solid"/>
          </a:ln>
        </p:spPr>
        <p:txBody>
          <a:bodyPr wrap="square" rtlCol="0" anchor="ctr"/>
          <a:lstStyle/>
          <a:p>
            <a:pPr indent="0" marL="0">
              <a:buNone/>
            </a:pPr>
            <a:endParaRPr lang="en-US" dirty="0"/>
          </a:p>
        </p:txBody>
      </p:sp>
      <p:sp>
        <p:nvSpPr>
          <p:cNvPr id="17" name="Text 14"/>
          <p:cNvSpPr/>
          <p:nvPr/>
        </p:nvSpPr>
        <p:spPr>
          <a:xfrm>
            <a:off x="7769944" y="1535906"/>
            <a:ext cx="681112" cy="164592"/>
          </a:xfrm>
          <a:prstGeom prst="rect">
            <a:avLst/>
          </a:prstGeom>
          <a:noFill/>
          <a:ln/>
        </p:spPr>
        <p:txBody>
          <a:bodyPr wrap="square" lIns="0" tIns="0" rIns="0" bIns="0" rtlCol="0" anchor="t"/>
          <a:lstStyle/>
          <a:p>
            <a:pPr algn="l" indent="0" marL="0">
              <a:lnSpc>
                <a:spcPts val="928"/>
              </a:lnSpc>
              <a:buNone/>
            </a:pPr>
            <a:r>
              <a:rPr lang="en-US" sz="800" dirty="0">
                <a:solidFill>
                  <a:srgbClr val="D4B888">
                    <a:alpha val="65000"/>
                  </a:srgbClr>
                </a:solidFill>
                <a:latin typeface="Liberation Sans Narrow" pitchFamily="34" charset="0"/>
                <a:ea typeface="Liberation Sans Narrow" pitchFamily="34" charset="-122"/>
                <a:cs typeface="Liberation Sans Narrow" pitchFamily="34" charset="-120"/>
              </a:rPr>
              <a:t>02 · COUVERTURE</a:t>
            </a:r>
            <a:endParaRPr lang="en-US" sz="800" dirty="0"/>
          </a:p>
        </p:txBody>
      </p:sp>
      <p:sp>
        <p:nvSpPr>
          <p:cNvPr id="18" name="Text 15"/>
          <p:cNvSpPr/>
          <p:nvPr/>
        </p:nvSpPr>
        <p:spPr>
          <a:xfrm>
            <a:off x="4807744" y="1564481"/>
            <a:ext cx="3643313" cy="572643"/>
          </a:xfrm>
          <a:prstGeom prst="rect">
            <a:avLst/>
          </a:prstGeom>
          <a:noFill/>
          <a:ln/>
        </p:spPr>
        <p:txBody>
          <a:bodyPr wrap="none" lIns="0" tIns="0" rIns="0" bIns="0" rtlCol="0" anchor="t">
            <a:normAutofit/>
          </a:bodyPr>
          <a:lstStyle/>
          <a:p>
            <a:pPr algn="l" indent="0" marL="0">
              <a:lnSpc>
                <a:spcPts val="4275"/>
              </a:lnSpc>
              <a:buNone/>
            </a:pPr>
            <a:r>
              <a:rPr lang="en-US" sz="4275" b="1" spc="-171" kern="0" dirty="0">
                <a:solidFill>
                  <a:srgbClr val="2DA771"/>
                </a:solidFill>
                <a:latin typeface="Liberation Sans Narrow" pitchFamily="34" charset="0"/>
                <a:ea typeface="Liberation Sans Narrow" pitchFamily="34" charset="-122"/>
                <a:cs typeface="Liberation Sans Narrow" pitchFamily="34" charset="-120"/>
              </a:rPr>
              <a:t>100%</a:t>
            </a:r>
            <a:endParaRPr lang="en-US" sz="4275" dirty="0"/>
          </a:p>
        </p:txBody>
      </p:sp>
      <p:sp>
        <p:nvSpPr>
          <p:cNvPr id="19" name="Text 16"/>
          <p:cNvSpPr/>
          <p:nvPr/>
        </p:nvSpPr>
        <p:spPr>
          <a:xfrm>
            <a:off x="4807744" y="2164556"/>
            <a:ext cx="3753040" cy="185166"/>
          </a:xfrm>
          <a:prstGeom prst="rect">
            <a:avLst/>
          </a:prstGeom>
          <a:noFill/>
          <a:ln/>
        </p:spPr>
        <p:txBody>
          <a:bodyPr wrap="square" lIns="0" tIns="0" rIns="0" bIns="0" rtlCol="0" anchor="t"/>
          <a:lstStyle/>
          <a:p>
            <a:pPr algn="l" indent="0" marL="0">
              <a:lnSpc>
                <a:spcPts val="1350"/>
              </a:lnSpc>
              <a:buNone/>
            </a:pPr>
            <a:r>
              <a:rPr lang="en-US" sz="900" b="1" spc="-9" kern="0" dirty="0">
                <a:solidFill>
                  <a:srgbClr val="F5F3EF"/>
                </a:solidFill>
                <a:latin typeface="Carlito" pitchFamily="34" charset="0"/>
                <a:ea typeface="Carlito" pitchFamily="34" charset="-122"/>
                <a:cs typeface="Carlito" pitchFamily="34" charset="-120"/>
              </a:rPr>
              <a:t>Couverture pharmacies de garde officielles</a:t>
            </a:r>
            <a:endParaRPr lang="en-US" sz="900" dirty="0"/>
          </a:p>
        </p:txBody>
      </p:sp>
      <p:sp>
        <p:nvSpPr>
          <p:cNvPr id="20" name="Text 17"/>
          <p:cNvSpPr/>
          <p:nvPr/>
        </p:nvSpPr>
        <p:spPr>
          <a:xfrm>
            <a:off x="4807744" y="2393156"/>
            <a:ext cx="3753040" cy="143321"/>
          </a:xfrm>
          <a:prstGeom prst="rect">
            <a:avLst/>
          </a:prstGeom>
          <a:noFill/>
          <a:ln/>
        </p:spPr>
        <p:txBody>
          <a:bodyPr wrap="square" lIns="0" tIns="0" rIns="0" bIns="0" rtlCol="0" anchor="t"/>
          <a:lstStyle/>
          <a:p>
            <a:pPr algn="l" indent="0" marL="0">
              <a:lnSpc>
                <a:spcPts val="1055"/>
              </a:lnSpc>
              <a:buNone/>
            </a:pPr>
            <a:r>
              <a:rPr lang="en-US" sz="800" dirty="0">
                <a:solidFill>
                  <a:srgbClr val="F5F3EF">
                    <a:alpha val="70000"/>
                  </a:srgbClr>
                </a:solidFill>
                <a:latin typeface="Carlito" pitchFamily="34" charset="0"/>
                <a:ea typeface="Carlito" pitchFamily="34" charset="-122"/>
                <a:cs typeface="Carlito" pitchFamily="34" charset="-120"/>
              </a:rPr>
              <a:t>1348 entrées importées du Ministère de la Santé</a:t>
            </a:r>
            <a:endParaRPr lang="en-US" sz="800" dirty="0"/>
          </a:p>
        </p:txBody>
      </p:sp>
      <p:sp>
        <p:nvSpPr>
          <p:cNvPr id="21" name="Text 18"/>
          <p:cNvSpPr/>
          <p:nvPr/>
        </p:nvSpPr>
        <p:spPr>
          <a:xfrm>
            <a:off x="517922" y="2818656"/>
            <a:ext cx="3993356" cy="1293465"/>
          </a:xfrm>
          <a:prstGeom prst="roundRect">
            <a:avLst>
              <a:gd name="adj" fmla="val 13255"/>
            </a:avLst>
          </a:prstGeom>
          <a:solidFill>
            <a:srgbClr val="FFFFFF">
              <a:alpha val="4000"/>
            </a:srgbClr>
          </a:solidFill>
          <a:ln w="7144">
            <a:solidFill>
              <a:srgbClr val="F5F3EF"/>
            </a:solidFill>
            <a:prstDash val="solid"/>
          </a:ln>
        </p:spPr>
        <p:txBody>
          <a:bodyPr wrap="square" rtlCol="0" anchor="ctr"/>
          <a:lstStyle/>
          <a:p>
            <a:pPr indent="0" marL="0">
              <a:buNone/>
            </a:pPr>
            <a:endParaRPr lang="en-US" dirty="0"/>
          </a:p>
        </p:txBody>
      </p:sp>
      <p:sp>
        <p:nvSpPr>
          <p:cNvPr id="22" name="Text 19"/>
          <p:cNvSpPr/>
          <p:nvPr/>
        </p:nvSpPr>
        <p:spPr>
          <a:xfrm>
            <a:off x="3655144" y="2950815"/>
            <a:ext cx="681112" cy="164592"/>
          </a:xfrm>
          <a:prstGeom prst="rect">
            <a:avLst/>
          </a:prstGeom>
          <a:noFill/>
          <a:ln/>
        </p:spPr>
        <p:txBody>
          <a:bodyPr wrap="square" lIns="0" tIns="0" rIns="0" bIns="0" rtlCol="0" anchor="t"/>
          <a:lstStyle/>
          <a:p>
            <a:pPr algn="l" indent="0" marL="0">
              <a:lnSpc>
                <a:spcPts val="928"/>
              </a:lnSpc>
              <a:buNone/>
            </a:pPr>
            <a:r>
              <a:rPr lang="en-US" sz="800" dirty="0">
                <a:solidFill>
                  <a:srgbClr val="D4B888">
                    <a:alpha val="65000"/>
                  </a:srgbClr>
                </a:solidFill>
                <a:latin typeface="Liberation Sans Narrow" pitchFamily="34" charset="0"/>
                <a:ea typeface="Liberation Sans Narrow" pitchFamily="34" charset="-122"/>
                <a:cs typeface="Liberation Sans Narrow" pitchFamily="34" charset="-120"/>
              </a:rPr>
              <a:t>03 · TERRITOIRE</a:t>
            </a:r>
            <a:endParaRPr lang="en-US" sz="800" dirty="0"/>
          </a:p>
        </p:txBody>
      </p:sp>
      <p:sp>
        <p:nvSpPr>
          <p:cNvPr id="23" name="Text 20"/>
          <p:cNvSpPr/>
          <p:nvPr/>
        </p:nvSpPr>
        <p:spPr>
          <a:xfrm>
            <a:off x="692944" y="2979390"/>
            <a:ext cx="3643313" cy="572643"/>
          </a:xfrm>
          <a:prstGeom prst="rect">
            <a:avLst/>
          </a:prstGeom>
          <a:noFill/>
          <a:ln/>
        </p:spPr>
        <p:txBody>
          <a:bodyPr wrap="none" lIns="0" tIns="0" rIns="0" bIns="0" rtlCol="0" anchor="t">
            <a:normAutofit/>
          </a:bodyPr>
          <a:lstStyle/>
          <a:p>
            <a:pPr algn="l" indent="0" marL="0">
              <a:lnSpc>
                <a:spcPts val="4275"/>
              </a:lnSpc>
              <a:buNone/>
            </a:pPr>
            <a:r>
              <a:rPr lang="en-US" sz="4275" b="1" spc="-171" kern="0" dirty="0">
                <a:solidFill>
                  <a:srgbClr val="2DA771"/>
                </a:solidFill>
                <a:latin typeface="Liberation Sans Narrow" pitchFamily="34" charset="0"/>
                <a:ea typeface="Liberation Sans Narrow" pitchFamily="34" charset="-122"/>
                <a:cs typeface="Liberation Sans Narrow" pitchFamily="34" charset="-120"/>
              </a:rPr>
              <a:t>7</a:t>
            </a:r>
            <a:endParaRPr lang="en-US" sz="4275" dirty="0"/>
          </a:p>
        </p:txBody>
      </p:sp>
      <p:sp>
        <p:nvSpPr>
          <p:cNvPr id="24" name="Text 21"/>
          <p:cNvSpPr/>
          <p:nvPr/>
        </p:nvSpPr>
        <p:spPr>
          <a:xfrm>
            <a:off x="692944" y="3579465"/>
            <a:ext cx="3753041" cy="185166"/>
          </a:xfrm>
          <a:prstGeom prst="rect">
            <a:avLst/>
          </a:prstGeom>
          <a:noFill/>
          <a:ln/>
        </p:spPr>
        <p:txBody>
          <a:bodyPr wrap="square" lIns="0" tIns="0" rIns="0" bIns="0" rtlCol="0" anchor="t"/>
          <a:lstStyle/>
          <a:p>
            <a:pPr algn="l" indent="0" marL="0">
              <a:lnSpc>
                <a:spcPts val="1350"/>
              </a:lnSpc>
              <a:buNone/>
            </a:pPr>
            <a:r>
              <a:rPr lang="en-US" sz="900" b="1" spc="-9" kern="0" dirty="0">
                <a:solidFill>
                  <a:srgbClr val="F5F3EF"/>
                </a:solidFill>
                <a:latin typeface="Carlito" pitchFamily="34" charset="0"/>
                <a:ea typeface="Carlito" pitchFamily="34" charset="-122"/>
                <a:cs typeface="Carlito" pitchFamily="34" charset="-120"/>
              </a:rPr>
              <a:t>Villes togolaises desservies</a:t>
            </a:r>
            <a:endParaRPr lang="en-US" sz="900" dirty="0"/>
          </a:p>
        </p:txBody>
      </p:sp>
      <p:sp>
        <p:nvSpPr>
          <p:cNvPr id="25" name="Text 22"/>
          <p:cNvSpPr/>
          <p:nvPr/>
        </p:nvSpPr>
        <p:spPr>
          <a:xfrm>
            <a:off x="692944" y="3808065"/>
            <a:ext cx="3643313" cy="143321"/>
          </a:xfrm>
          <a:prstGeom prst="rect">
            <a:avLst/>
          </a:prstGeom>
          <a:noFill/>
          <a:ln/>
        </p:spPr>
        <p:txBody>
          <a:bodyPr wrap="square" lIns="0" tIns="0" rIns="0" bIns="0" rtlCol="0" anchor="t"/>
          <a:lstStyle/>
          <a:p>
            <a:pPr algn="l" indent="0" marL="0">
              <a:lnSpc>
                <a:spcPts val="1055"/>
              </a:lnSpc>
              <a:buNone/>
            </a:pPr>
            <a:r>
              <a:rPr lang="en-US" sz="800" dirty="0">
                <a:solidFill>
                  <a:srgbClr val="F5F3EF">
                    <a:alpha val="70000"/>
                  </a:srgbClr>
                </a:solidFill>
                <a:latin typeface="Carlito" pitchFamily="34" charset="0"/>
                <a:ea typeface="Carlito" pitchFamily="34" charset="-122"/>
                <a:cs typeface="Carlito" pitchFamily="34" charset="-120"/>
              </a:rPr>
              <a:t>Lomé, Kara, Sokodé, Kpalimé, Atakpamé, Dapaong, Tsévié</a:t>
            </a:r>
            <a:endParaRPr lang="en-US" sz="800" dirty="0"/>
          </a:p>
        </p:txBody>
      </p:sp>
      <p:sp>
        <p:nvSpPr>
          <p:cNvPr id="26" name="Text 23"/>
          <p:cNvSpPr/>
          <p:nvPr/>
        </p:nvSpPr>
        <p:spPr>
          <a:xfrm>
            <a:off x="4632722" y="2818656"/>
            <a:ext cx="3993356" cy="1293465"/>
          </a:xfrm>
          <a:prstGeom prst="roundRect">
            <a:avLst>
              <a:gd name="adj" fmla="val 13255"/>
            </a:avLst>
          </a:prstGeom>
          <a:solidFill>
            <a:srgbClr val="FFFFFF">
              <a:alpha val="4000"/>
            </a:srgbClr>
          </a:solidFill>
          <a:ln w="7144">
            <a:solidFill>
              <a:srgbClr val="F5F3EF"/>
            </a:solidFill>
            <a:prstDash val="solid"/>
          </a:ln>
        </p:spPr>
        <p:txBody>
          <a:bodyPr wrap="square" rtlCol="0" anchor="ctr"/>
          <a:lstStyle/>
          <a:p>
            <a:pPr indent="0" marL="0">
              <a:buNone/>
            </a:pPr>
            <a:endParaRPr lang="en-US" dirty="0"/>
          </a:p>
        </p:txBody>
      </p:sp>
      <p:sp>
        <p:nvSpPr>
          <p:cNvPr id="27" name="Text 24"/>
          <p:cNvSpPr/>
          <p:nvPr/>
        </p:nvSpPr>
        <p:spPr>
          <a:xfrm>
            <a:off x="7533419" y="2950815"/>
            <a:ext cx="917637" cy="164592"/>
          </a:xfrm>
          <a:prstGeom prst="rect">
            <a:avLst/>
          </a:prstGeom>
          <a:noFill/>
          <a:ln/>
        </p:spPr>
        <p:txBody>
          <a:bodyPr wrap="square" lIns="0" tIns="0" rIns="0" bIns="0" rtlCol="0" anchor="t"/>
          <a:lstStyle/>
          <a:p>
            <a:pPr algn="l" indent="0" marL="0">
              <a:lnSpc>
                <a:spcPts val="928"/>
              </a:lnSpc>
              <a:buNone/>
            </a:pPr>
            <a:r>
              <a:rPr lang="en-US" sz="800" dirty="0">
                <a:solidFill>
                  <a:srgbClr val="D4B888">
                    <a:alpha val="65000"/>
                  </a:srgbClr>
                </a:solidFill>
                <a:latin typeface="Liberation Sans Narrow" pitchFamily="34" charset="0"/>
                <a:ea typeface="Liberation Sans Narrow" pitchFamily="34" charset="-122"/>
                <a:cs typeface="Liberation Sans Narrow" pitchFamily="34" charset="-120"/>
              </a:rPr>
              <a:t>04 · CONFIDENTIALITÉ</a:t>
            </a:r>
            <a:endParaRPr lang="en-US" sz="800" dirty="0"/>
          </a:p>
        </p:txBody>
      </p:sp>
      <p:sp>
        <p:nvSpPr>
          <p:cNvPr id="28" name="Text 25"/>
          <p:cNvSpPr/>
          <p:nvPr/>
        </p:nvSpPr>
        <p:spPr>
          <a:xfrm>
            <a:off x="4807744" y="2979390"/>
            <a:ext cx="3643313" cy="572643"/>
          </a:xfrm>
          <a:prstGeom prst="rect">
            <a:avLst/>
          </a:prstGeom>
          <a:noFill/>
          <a:ln/>
        </p:spPr>
        <p:txBody>
          <a:bodyPr wrap="none" lIns="0" tIns="0" rIns="0" bIns="0" rtlCol="0" anchor="t">
            <a:normAutofit/>
          </a:bodyPr>
          <a:lstStyle/>
          <a:p>
            <a:pPr algn="l" indent="0" marL="0">
              <a:lnSpc>
                <a:spcPts val="4275"/>
              </a:lnSpc>
              <a:buNone/>
            </a:pPr>
            <a:r>
              <a:rPr lang="en-US" sz="4275" b="1" spc="-171" kern="0" dirty="0">
                <a:solidFill>
                  <a:srgbClr val="2DA771"/>
                </a:solidFill>
                <a:latin typeface="Liberation Sans Narrow" pitchFamily="34" charset="0"/>
                <a:ea typeface="Liberation Sans Narrow" pitchFamily="34" charset="-122"/>
                <a:cs typeface="Liberation Sans Narrow" pitchFamily="34" charset="-120"/>
              </a:rPr>
              <a:t>72h</a:t>
            </a:r>
            <a:endParaRPr lang="en-US" sz="4275" dirty="0"/>
          </a:p>
        </p:txBody>
      </p:sp>
      <p:sp>
        <p:nvSpPr>
          <p:cNvPr id="29" name="Text 26"/>
          <p:cNvSpPr/>
          <p:nvPr/>
        </p:nvSpPr>
        <p:spPr>
          <a:xfrm>
            <a:off x="4807744" y="3579465"/>
            <a:ext cx="3753040" cy="185166"/>
          </a:xfrm>
          <a:prstGeom prst="rect">
            <a:avLst/>
          </a:prstGeom>
          <a:noFill/>
          <a:ln/>
        </p:spPr>
        <p:txBody>
          <a:bodyPr wrap="square" lIns="0" tIns="0" rIns="0" bIns="0" rtlCol="0" anchor="t"/>
          <a:lstStyle/>
          <a:p>
            <a:pPr algn="l" indent="0" marL="0">
              <a:lnSpc>
                <a:spcPts val="1350"/>
              </a:lnSpc>
              <a:buNone/>
            </a:pPr>
            <a:r>
              <a:rPr lang="en-US" sz="900" b="1" spc="-9" kern="0" dirty="0">
                <a:solidFill>
                  <a:srgbClr val="F5F3EF"/>
                </a:solidFill>
                <a:latin typeface="Carlito" pitchFamily="34" charset="0"/>
                <a:ea typeface="Carlito" pitchFamily="34" charset="-122"/>
                <a:cs typeface="Carlito" pitchFamily="34" charset="-120"/>
              </a:rPr>
              <a:t>Auto-suppression photos patients</a:t>
            </a:r>
            <a:endParaRPr lang="en-US" sz="900" dirty="0"/>
          </a:p>
        </p:txBody>
      </p:sp>
      <p:sp>
        <p:nvSpPr>
          <p:cNvPr id="30" name="Text 27"/>
          <p:cNvSpPr/>
          <p:nvPr/>
        </p:nvSpPr>
        <p:spPr>
          <a:xfrm>
            <a:off x="4807744" y="3808065"/>
            <a:ext cx="3753040" cy="143321"/>
          </a:xfrm>
          <a:prstGeom prst="rect">
            <a:avLst/>
          </a:prstGeom>
          <a:noFill/>
          <a:ln/>
        </p:spPr>
        <p:txBody>
          <a:bodyPr wrap="square" lIns="0" tIns="0" rIns="0" bIns="0" rtlCol="0" anchor="t"/>
          <a:lstStyle/>
          <a:p>
            <a:pPr algn="l" indent="0" marL="0">
              <a:lnSpc>
                <a:spcPts val="1055"/>
              </a:lnSpc>
              <a:buNone/>
            </a:pPr>
            <a:r>
              <a:rPr lang="en-US" sz="800" dirty="0">
                <a:solidFill>
                  <a:srgbClr val="F5F3EF">
                    <a:alpha val="70000"/>
                  </a:srgbClr>
                </a:solidFill>
                <a:latin typeface="Carlito" pitchFamily="34" charset="0"/>
                <a:ea typeface="Carlito" pitchFamily="34" charset="-122"/>
                <a:cs typeface="Carlito" pitchFamily="34" charset="-120"/>
              </a:rPr>
              <a:t>Confidentialité garantie par conception</a:t>
            </a:r>
            <a:endParaRPr lang="en-US" sz="800" dirty="0"/>
          </a:p>
        </p:txBody>
      </p:sp>
      <p:sp>
        <p:nvSpPr>
          <p:cNvPr id="31" name="Text 28"/>
          <p:cNvSpPr/>
          <p:nvPr/>
        </p:nvSpPr>
        <p:spPr>
          <a:xfrm>
            <a:off x="514350" y="4229993"/>
            <a:ext cx="8115300" cy="513457"/>
          </a:xfrm>
          <a:prstGeom prst="rect">
            <a:avLst/>
          </a:prstGeom>
          <a:solidFill>
            <a:srgbClr val="B89968">
              <a:alpha val="6000"/>
            </a:srgbClr>
          </a:solidFill>
          <a:ln/>
        </p:spPr>
        <p:txBody>
          <a:bodyPr wrap="square" rtlCol="0" anchor="ctr"/>
          <a:lstStyle/>
          <a:p>
            <a:pPr indent="0" marL="0">
              <a:buNone/>
            </a:pPr>
            <a:endParaRPr lang="en-US" dirty="0"/>
          </a:p>
        </p:txBody>
      </p:sp>
      <p:sp>
        <p:nvSpPr>
          <p:cNvPr id="32" name="Shape 29"/>
          <p:cNvSpPr/>
          <p:nvPr/>
        </p:nvSpPr>
        <p:spPr>
          <a:xfrm>
            <a:off x="525066" y="4229993"/>
            <a:ext cx="0" cy="513457"/>
          </a:xfrm>
          <a:prstGeom prst="line">
            <a:avLst/>
          </a:prstGeom>
          <a:noFill/>
          <a:ln w="21431">
            <a:solidFill>
              <a:srgbClr val="B89968"/>
            </a:solidFill>
            <a:prstDash val="solid"/>
          </a:ln>
        </p:spPr>
      </p:sp>
      <p:sp>
        <p:nvSpPr>
          <p:cNvPr id="33" name="Text 30"/>
          <p:cNvSpPr/>
          <p:nvPr/>
        </p:nvSpPr>
        <p:spPr>
          <a:xfrm>
            <a:off x="692944" y="4330005"/>
            <a:ext cx="7779544" cy="313432"/>
          </a:xfrm>
          <a:prstGeom prst="rect">
            <a:avLst/>
          </a:prstGeom>
          <a:noFill/>
          <a:ln/>
        </p:spPr>
        <p:txBody>
          <a:bodyPr wrap="square" lIns="0" tIns="0" rIns="0" bIns="0" rtlCol="0" anchor="t"/>
          <a:lstStyle/>
          <a:p>
            <a:pPr algn="l" indent="0" marL="0">
              <a:lnSpc>
                <a:spcPts val="1234"/>
              </a:lnSpc>
              <a:buNone/>
            </a:pPr>
            <a:r>
              <a:rPr lang="en-US" sz="800" i="1" dirty="0">
                <a:solidFill>
                  <a:srgbClr val="F5F3EF"/>
                </a:solidFill>
                <a:latin typeface="Carlito" pitchFamily="34" charset="0"/>
                <a:ea typeface="Carlito" pitchFamily="34" charset="-122"/>
                <a:cs typeface="Carlito" pitchFamily="34" charset="-120"/>
              </a:rPr>
              <a:t>« MediTike s'inscrit dans une démarche d'innovation frugale, démontrant qu'une plateforme médicale sécurisée et accessible peut être conçue avec les technologies modernes du web, tout en respectant les réalités infrastructurelles togolaises. »</a:t>
            </a:r>
            <a:endParaRPr lang="en-US" sz="800" dirty="0"/>
          </a:p>
        </p:txBody>
      </p:sp>
      <p:sp>
        <p:nvSpPr>
          <p:cNvPr id="34" name="Text 31"/>
          <p:cNvSpPr/>
          <p:nvPr/>
        </p:nvSpPr>
        <p:spPr>
          <a:xfrm>
            <a:off x="514350" y="4854178"/>
            <a:ext cx="7270998" cy="164592"/>
          </a:xfrm>
          <a:prstGeom prst="rect">
            <a:avLst/>
          </a:prstGeom>
          <a:noFill/>
          <a:ln/>
        </p:spPr>
        <p:txBody>
          <a:bodyPr wrap="square" lIns="0" tIns="0" rIns="0" bIns="0" rtlCol="0" anchor="t"/>
          <a:lstStyle/>
          <a:p>
            <a:pPr algn="l" indent="0" marL="0">
              <a:lnSpc>
                <a:spcPts val="928"/>
              </a:lnSpc>
              <a:buNone/>
            </a:pPr>
            <a:r>
              <a:rPr lang="en-US" sz="800" dirty="0">
                <a:solidFill>
                  <a:srgbClr val="F5F3EF">
                    <a:alpha val="70000"/>
                  </a:srgbClr>
                </a:solidFill>
                <a:latin typeface="Carlito" pitchFamily="34" charset="0"/>
                <a:ea typeface="Carlito" pitchFamily="34" charset="-122"/>
                <a:cs typeface="Carlito" pitchFamily="34" charset="-120"/>
              </a:rPr>
              <a:t>MediTike · Gala Scientifique FSS 2026</a:t>
            </a:r>
            <a:endParaRPr lang="en-US" sz="800" dirty="0"/>
          </a:p>
        </p:txBody>
      </p:sp>
      <p:sp>
        <p:nvSpPr>
          <p:cNvPr id="35" name="Text 32"/>
          <p:cNvSpPr/>
          <p:nvPr/>
        </p:nvSpPr>
        <p:spPr>
          <a:xfrm>
            <a:off x="7799636" y="4854178"/>
            <a:ext cx="913016" cy="164592"/>
          </a:xfrm>
          <a:prstGeom prst="rect">
            <a:avLst/>
          </a:prstGeom>
          <a:noFill/>
          <a:ln/>
        </p:spPr>
        <p:txBody>
          <a:bodyPr wrap="square" lIns="0" tIns="0" rIns="0" bIns="0" rtlCol="0" anchor="t"/>
          <a:lstStyle/>
          <a:p>
            <a:pPr algn="l" indent="0" marL="0">
              <a:lnSpc>
                <a:spcPts val="928"/>
              </a:lnSpc>
              <a:buNone/>
            </a:pPr>
            <a:r>
              <a:rPr lang="en-US" sz="800" dirty="0">
                <a:solidFill>
                  <a:srgbClr val="F5F3EF">
                    <a:alpha val="70000"/>
                  </a:srgbClr>
                </a:solidFill>
                <a:latin typeface="Carlito" pitchFamily="34" charset="0"/>
                <a:ea typeface="Carlito" pitchFamily="34" charset="-122"/>
                <a:cs typeface="Carlito" pitchFamily="34" charset="-120"/>
              </a:rPr>
              <a:t>Impact · Santé publique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514350" y="400050"/>
            <a:ext cx="4466765" cy="231458"/>
          </a:xfrm>
          <a:prstGeom prst="rect">
            <a:avLst/>
          </a:prstGeom>
          <a:noFill/>
          <a:ln/>
        </p:spPr>
        <p:txBody>
          <a:bodyPr wrap="none" lIns="0" tIns="0" rIns="0" bIns="0" rtlCol="0" anchor="t"/>
          <a:lstStyle/>
          <a:p>
            <a:pPr algn="l" indent="0" marL="0">
              <a:lnSpc>
                <a:spcPts val="1688"/>
              </a:lnSpc>
              <a:buNone/>
            </a:pPr>
            <a:r>
              <a:rPr lang="en-US" sz="1125" b="1" spc="56" kern="0" dirty="0">
                <a:solidFill>
                  <a:srgbClr val="B89968"/>
                </a:solidFill>
                <a:latin typeface="Liberation Sans Narrow" pitchFamily="34" charset="0"/>
                <a:ea typeface="Liberation Sans Narrow" pitchFamily="34" charset="-122"/>
                <a:cs typeface="Liberation Sans Narrow" pitchFamily="34" charset="-120"/>
              </a:rPr>
              <a:t>06 / 06</a:t>
            </a:r>
            <a:endParaRPr lang="en-US" sz="1125" dirty="0"/>
          </a:p>
        </p:txBody>
      </p:sp>
      <p:sp>
        <p:nvSpPr>
          <p:cNvPr id="4" name="Text 1"/>
          <p:cNvSpPr/>
          <p:nvPr/>
        </p:nvSpPr>
        <p:spPr>
          <a:xfrm>
            <a:off x="514350" y="671513"/>
            <a:ext cx="3167918" cy="293180"/>
          </a:xfrm>
          <a:prstGeom prst="rect">
            <a:avLst/>
          </a:prstGeom>
          <a:noFill/>
          <a:ln/>
        </p:spPr>
        <p:txBody>
          <a:bodyPr wrap="square" lIns="0" tIns="0" rIns="0" bIns="0" rtlCol="0" anchor="t"/>
          <a:lstStyle/>
          <a:p>
            <a:pPr algn="l" indent="0" marL="0">
              <a:lnSpc>
                <a:spcPts val="2138"/>
              </a:lnSpc>
              <a:buNone/>
            </a:pPr>
            <a:r>
              <a:rPr lang="en-US" sz="2138" b="1" spc="-43" kern="0" dirty="0">
                <a:solidFill>
                  <a:srgbClr val="0F5132"/>
                </a:solidFill>
                <a:latin typeface="Carlito" pitchFamily="34" charset="0"/>
                <a:ea typeface="Carlito" pitchFamily="34" charset="-122"/>
                <a:cs typeface="Carlito" pitchFamily="34" charset="-120"/>
              </a:rPr>
              <a:t>Faisabilité &amp; Déploiement</a:t>
            </a:r>
            <a:endParaRPr lang="en-US" sz="2138" dirty="0"/>
          </a:p>
        </p:txBody>
      </p:sp>
      <p:sp>
        <p:nvSpPr>
          <p:cNvPr id="5" name="Text 2"/>
          <p:cNvSpPr/>
          <p:nvPr/>
        </p:nvSpPr>
        <p:spPr>
          <a:xfrm>
            <a:off x="514350" y="1000125"/>
            <a:ext cx="3167918" cy="173593"/>
          </a:xfrm>
          <a:prstGeom prst="rect">
            <a:avLst/>
          </a:prstGeom>
          <a:noFill/>
          <a:ln/>
        </p:spPr>
        <p:txBody>
          <a:bodyPr wrap="square" lIns="0" tIns="0" rIns="0" bIns="0" rtlCol="0" anchor="t"/>
          <a:lstStyle/>
          <a:p>
            <a:pPr algn="l" indent="0" marL="0">
              <a:lnSpc>
                <a:spcPts val="1266"/>
              </a:lnSpc>
              <a:buNone/>
            </a:pPr>
            <a:r>
              <a:rPr lang="en-US" sz="844" dirty="0">
                <a:solidFill>
                  <a:srgbClr val="6B7C72"/>
                </a:solidFill>
                <a:latin typeface="Carlito" pitchFamily="34" charset="0"/>
                <a:ea typeface="Carlito" pitchFamily="34" charset="-122"/>
                <a:cs typeface="Carlito" pitchFamily="34" charset="-120"/>
              </a:rPr>
              <a:t>Une plateforme déjà opérationnelle en production</a:t>
            </a:r>
            <a:endParaRPr lang="en-US" sz="844" dirty="0"/>
          </a:p>
        </p:txBody>
      </p:sp>
      <p:sp>
        <p:nvSpPr>
          <p:cNvPr id="6" name="Text 3"/>
          <p:cNvSpPr/>
          <p:nvPr/>
        </p:nvSpPr>
        <p:spPr>
          <a:xfrm>
            <a:off x="7704668" y="975336"/>
            <a:ext cx="947842" cy="196025"/>
          </a:xfrm>
          <a:prstGeom prst="roundRect">
            <a:avLst>
              <a:gd name="adj" fmla="val 4854215"/>
            </a:avLst>
          </a:prstGeom>
          <a:solidFill>
            <a:srgbClr val="0F5132">
              <a:alpha val="10000"/>
            </a:srgbClr>
          </a:solidFill>
          <a:ln/>
        </p:spPr>
        <p:txBody>
          <a:bodyPr wrap="square" rtlCol="0" anchor="ctr"/>
          <a:lstStyle/>
          <a:p>
            <a:pPr indent="0" marL="0">
              <a:buNone/>
            </a:pPr>
            <a:endParaRPr lang="en-US" dirty="0"/>
          </a:p>
        </p:txBody>
      </p:sp>
      <p:sp>
        <p:nvSpPr>
          <p:cNvPr id="7" name="Text 4"/>
          <p:cNvSpPr/>
          <p:nvPr/>
        </p:nvSpPr>
        <p:spPr>
          <a:xfrm>
            <a:off x="7798966" y="1044773"/>
            <a:ext cx="57150" cy="57150"/>
          </a:xfrm>
          <a:prstGeom prst="roundRect">
            <a:avLst>
              <a:gd name="adj" fmla="val 66667"/>
            </a:avLst>
          </a:prstGeom>
          <a:solidFill>
            <a:srgbClr val="0F5132"/>
          </a:solidFill>
          <a:ln/>
        </p:spPr>
        <p:txBody>
          <a:bodyPr wrap="square" rtlCol="0" anchor="ctr"/>
          <a:lstStyle/>
          <a:p>
            <a:pPr indent="0" marL="0">
              <a:buNone/>
            </a:pPr>
            <a:endParaRPr lang="en-US" dirty="0"/>
          </a:p>
        </p:txBody>
      </p:sp>
      <p:sp>
        <p:nvSpPr>
          <p:cNvPr id="8" name="Text 5"/>
          <p:cNvSpPr/>
          <p:nvPr/>
        </p:nvSpPr>
        <p:spPr>
          <a:xfrm>
            <a:off x="7727528" y="985838"/>
            <a:ext cx="902122" cy="175022"/>
          </a:xfrm>
          <a:prstGeom prst="rect">
            <a:avLst/>
          </a:prstGeom>
          <a:noFill/>
          <a:ln/>
        </p:spPr>
        <p:txBody>
          <a:bodyPr wrap="none" lIns="0" tIns="0" rIns="0" bIns="0" rtlCol="0" anchor="ctr"/>
          <a:lstStyle/>
          <a:p>
            <a:pPr algn="ctr" indent="0" marL="0">
              <a:lnSpc>
                <a:spcPts val="928"/>
              </a:lnSpc>
              <a:buNone/>
            </a:pPr>
            <a:r>
              <a:rPr lang="en-US" sz="800" b="1" dirty="0">
                <a:solidFill>
                  <a:srgbClr val="0F5132"/>
                </a:solidFill>
                <a:latin typeface="Carlito" pitchFamily="34" charset="0"/>
                <a:ea typeface="Carlito" pitchFamily="34" charset="-122"/>
                <a:cs typeface="Carlito" pitchFamily="34" charset="-120"/>
              </a:rPr>
              <a:t>LIVE · Production</a:t>
            </a:r>
            <a:endParaRPr lang="en-US" sz="800" dirty="0"/>
          </a:p>
        </p:txBody>
      </p:sp>
      <p:sp>
        <p:nvSpPr>
          <p:cNvPr id="9" name="Text 6"/>
          <p:cNvSpPr/>
          <p:nvPr/>
        </p:nvSpPr>
        <p:spPr>
          <a:xfrm>
            <a:off x="714375" y="1296591"/>
            <a:ext cx="1374893" cy="146590"/>
          </a:xfrm>
          <a:prstGeom prst="rect">
            <a:avLst/>
          </a:prstGeom>
          <a:noFill/>
          <a:ln/>
        </p:spPr>
        <p:txBody>
          <a:bodyPr wrap="none" lIns="0" tIns="0" rIns="0" bIns="0" rtlCol="0" anchor="t"/>
          <a:lstStyle/>
          <a:p>
            <a:pPr algn="l" indent="0" marL="0">
              <a:lnSpc>
                <a:spcPts val="1434"/>
              </a:lnSpc>
              <a:buNone/>
            </a:pPr>
            <a:r>
              <a:rPr lang="en-US" sz="956" b="1" dirty="0">
                <a:solidFill>
                  <a:srgbClr val="0F5132"/>
                </a:solidFill>
                <a:latin typeface="Carlito" pitchFamily="34" charset="0"/>
                <a:ea typeface="Carlito" pitchFamily="34" charset="-122"/>
                <a:cs typeface="Carlito" pitchFamily="34" charset="-120"/>
              </a:rPr>
              <a:t>Déjà en production</a:t>
            </a:r>
            <a:endParaRPr lang="en-US" sz="956" dirty="0"/>
          </a:p>
        </p:txBody>
      </p:sp>
      <p:sp>
        <p:nvSpPr>
          <p:cNvPr id="10" name="Text 7"/>
          <p:cNvSpPr/>
          <p:nvPr/>
        </p:nvSpPr>
        <p:spPr>
          <a:xfrm>
            <a:off x="514350" y="1294805"/>
            <a:ext cx="142875" cy="142875"/>
          </a:xfrm>
          <a:prstGeom prst="rect">
            <a:avLst/>
          </a:prstGeom>
          <a:noFill/>
          <a:ln/>
        </p:spPr>
        <p:txBody>
          <a:bodyPr wrap="none" lIns="0" tIns="0" rIns="0" bIns="0" rtlCol="0" anchor="ctr"/>
          <a:lstStyle/>
          <a:p>
            <a:pPr algn="ctr" indent="0" marL="0">
              <a:buNone/>
            </a:pPr>
            <a:r>
              <a:rPr lang="en-US" sz="1406" dirty="0">
                <a:solidFill>
                  <a:srgbClr val="0F5132"/>
                </a:solidFill>
                <a:latin typeface="Segoe UI Symbol" pitchFamily="34" charset="0"/>
                <a:ea typeface="Segoe UI Symbol" pitchFamily="34" charset="-122"/>
                <a:cs typeface="Segoe UI Symbol" pitchFamily="34" charset="-120"/>
              </a:rPr>
              <a:t>✓</a:t>
            </a:r>
            <a:endParaRPr lang="en-US" sz="1406" dirty="0"/>
          </a:p>
        </p:txBody>
      </p:sp>
      <p:sp>
        <p:nvSpPr>
          <p:cNvPr id="11" name="Text 8"/>
          <p:cNvSpPr/>
          <p:nvPr/>
        </p:nvSpPr>
        <p:spPr>
          <a:xfrm>
            <a:off x="517922" y="1546622"/>
            <a:ext cx="3964781" cy="2257425"/>
          </a:xfrm>
          <a:prstGeom prst="roundRect">
            <a:avLst>
              <a:gd name="adj" fmla="val 6751"/>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12" name="Shape 9"/>
          <p:cNvSpPr/>
          <p:nvPr/>
        </p:nvSpPr>
        <p:spPr>
          <a:xfrm>
            <a:off x="650081" y="1903809"/>
            <a:ext cx="3700463" cy="0"/>
          </a:xfrm>
          <a:prstGeom prst="line">
            <a:avLst/>
          </a:prstGeom>
          <a:noFill/>
          <a:ln w="7144">
            <a:solidFill>
              <a:srgbClr val="E5E0D5"/>
            </a:solidFill>
            <a:prstDash val="dash"/>
          </a:ln>
        </p:spPr>
      </p:sp>
      <p:sp>
        <p:nvSpPr>
          <p:cNvPr id="13" name="Text 10"/>
          <p:cNvSpPr/>
          <p:nvPr/>
        </p:nvSpPr>
        <p:spPr>
          <a:xfrm>
            <a:off x="650081" y="1707356"/>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14" name="Text 11"/>
          <p:cNvSpPr/>
          <p:nvPr/>
        </p:nvSpPr>
        <p:spPr>
          <a:xfrm>
            <a:off x="650081" y="1707356"/>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15" name="Text 12"/>
          <p:cNvSpPr/>
          <p:nvPr/>
        </p:nvSpPr>
        <p:spPr>
          <a:xfrm>
            <a:off x="864394" y="1700213"/>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Frontend déployé sur Vercel (Next.js 16, HTTPS automatique)</a:t>
            </a:r>
            <a:endParaRPr lang="en-US" sz="800" dirty="0"/>
          </a:p>
        </p:txBody>
      </p:sp>
      <p:sp>
        <p:nvSpPr>
          <p:cNvPr id="16" name="Shape 13"/>
          <p:cNvSpPr/>
          <p:nvPr/>
        </p:nvSpPr>
        <p:spPr>
          <a:xfrm>
            <a:off x="650081" y="2160984"/>
            <a:ext cx="3700463" cy="0"/>
          </a:xfrm>
          <a:prstGeom prst="line">
            <a:avLst/>
          </a:prstGeom>
          <a:noFill/>
          <a:ln w="7144">
            <a:solidFill>
              <a:srgbClr val="E5E0D5"/>
            </a:solidFill>
            <a:prstDash val="dash"/>
          </a:ln>
        </p:spPr>
      </p:sp>
      <p:sp>
        <p:nvSpPr>
          <p:cNvPr id="17" name="Text 14"/>
          <p:cNvSpPr/>
          <p:nvPr/>
        </p:nvSpPr>
        <p:spPr>
          <a:xfrm>
            <a:off x="650081" y="1964531"/>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18" name="Text 15"/>
          <p:cNvSpPr/>
          <p:nvPr/>
        </p:nvSpPr>
        <p:spPr>
          <a:xfrm>
            <a:off x="650081" y="1964531"/>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19" name="Text 16"/>
          <p:cNvSpPr/>
          <p:nvPr/>
        </p:nvSpPr>
        <p:spPr>
          <a:xfrm>
            <a:off x="864394" y="1957388"/>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Base de données PostgreSQL sur Supabase (région Frankfurt)</a:t>
            </a:r>
            <a:endParaRPr lang="en-US" sz="800" dirty="0"/>
          </a:p>
        </p:txBody>
      </p:sp>
      <p:sp>
        <p:nvSpPr>
          <p:cNvPr id="20" name="Shape 17"/>
          <p:cNvSpPr/>
          <p:nvPr/>
        </p:nvSpPr>
        <p:spPr>
          <a:xfrm>
            <a:off x="650081" y="2418159"/>
            <a:ext cx="3700463" cy="0"/>
          </a:xfrm>
          <a:prstGeom prst="line">
            <a:avLst/>
          </a:prstGeom>
          <a:noFill/>
          <a:ln w="7144">
            <a:solidFill>
              <a:srgbClr val="E5E0D5"/>
            </a:solidFill>
            <a:prstDash val="dash"/>
          </a:ln>
        </p:spPr>
      </p:sp>
      <p:sp>
        <p:nvSpPr>
          <p:cNvPr id="21" name="Text 18"/>
          <p:cNvSpPr/>
          <p:nvPr/>
        </p:nvSpPr>
        <p:spPr>
          <a:xfrm>
            <a:off x="650081" y="2221706"/>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22" name="Text 19"/>
          <p:cNvSpPr/>
          <p:nvPr/>
        </p:nvSpPr>
        <p:spPr>
          <a:xfrm>
            <a:off x="650081" y="2221706"/>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23" name="Text 20"/>
          <p:cNvSpPr/>
          <p:nvPr/>
        </p:nvSpPr>
        <p:spPr>
          <a:xfrm>
            <a:off x="864394" y="2214563"/>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Bucket Storage privé Supabase configuré</a:t>
            </a:r>
            <a:endParaRPr lang="en-US" sz="800" dirty="0"/>
          </a:p>
        </p:txBody>
      </p:sp>
      <p:sp>
        <p:nvSpPr>
          <p:cNvPr id="24" name="Shape 21"/>
          <p:cNvSpPr/>
          <p:nvPr/>
        </p:nvSpPr>
        <p:spPr>
          <a:xfrm>
            <a:off x="650081" y="2675334"/>
            <a:ext cx="3700463" cy="0"/>
          </a:xfrm>
          <a:prstGeom prst="line">
            <a:avLst/>
          </a:prstGeom>
          <a:noFill/>
          <a:ln w="7144">
            <a:solidFill>
              <a:srgbClr val="E5E0D5"/>
            </a:solidFill>
            <a:prstDash val="dash"/>
          </a:ln>
        </p:spPr>
      </p:sp>
      <p:sp>
        <p:nvSpPr>
          <p:cNvPr id="25" name="Text 22"/>
          <p:cNvSpPr/>
          <p:nvPr/>
        </p:nvSpPr>
        <p:spPr>
          <a:xfrm>
            <a:off x="650081" y="2478881"/>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26" name="Text 23"/>
          <p:cNvSpPr/>
          <p:nvPr/>
        </p:nvSpPr>
        <p:spPr>
          <a:xfrm>
            <a:off x="650081" y="2478881"/>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27" name="Text 24"/>
          <p:cNvSpPr/>
          <p:nvPr/>
        </p:nvSpPr>
        <p:spPr>
          <a:xfrm>
            <a:off x="864394" y="2471738"/>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Cron jobs Vercel opérationnels (cleanup + refresh hebdo)</a:t>
            </a:r>
            <a:endParaRPr lang="en-US" sz="800" dirty="0"/>
          </a:p>
        </p:txBody>
      </p:sp>
      <p:sp>
        <p:nvSpPr>
          <p:cNvPr id="28" name="Shape 25"/>
          <p:cNvSpPr/>
          <p:nvPr/>
        </p:nvSpPr>
        <p:spPr>
          <a:xfrm>
            <a:off x="650081" y="2932509"/>
            <a:ext cx="3700463" cy="0"/>
          </a:xfrm>
          <a:prstGeom prst="line">
            <a:avLst/>
          </a:prstGeom>
          <a:noFill/>
          <a:ln w="7144">
            <a:solidFill>
              <a:srgbClr val="E5E0D5"/>
            </a:solidFill>
            <a:prstDash val="dash"/>
          </a:ln>
        </p:spPr>
      </p:sp>
      <p:sp>
        <p:nvSpPr>
          <p:cNvPr id="29" name="Text 26"/>
          <p:cNvSpPr/>
          <p:nvPr/>
        </p:nvSpPr>
        <p:spPr>
          <a:xfrm>
            <a:off x="650081" y="2736056"/>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30" name="Text 27"/>
          <p:cNvSpPr/>
          <p:nvPr/>
        </p:nvSpPr>
        <p:spPr>
          <a:xfrm>
            <a:off x="650081" y="2736056"/>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31" name="Text 28"/>
          <p:cNvSpPr/>
          <p:nvPr/>
        </p:nvSpPr>
        <p:spPr>
          <a:xfrm>
            <a:off x="864394" y="2728913"/>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1348 pharmacies de garde importées (26 semaines)</a:t>
            </a:r>
            <a:endParaRPr lang="en-US" sz="800" dirty="0"/>
          </a:p>
        </p:txBody>
      </p:sp>
      <p:sp>
        <p:nvSpPr>
          <p:cNvPr id="32" name="Shape 29"/>
          <p:cNvSpPr/>
          <p:nvPr/>
        </p:nvSpPr>
        <p:spPr>
          <a:xfrm>
            <a:off x="650081" y="3189684"/>
            <a:ext cx="3700463" cy="0"/>
          </a:xfrm>
          <a:prstGeom prst="line">
            <a:avLst/>
          </a:prstGeom>
          <a:noFill/>
          <a:ln w="7144">
            <a:solidFill>
              <a:srgbClr val="E5E0D5"/>
            </a:solidFill>
            <a:prstDash val="dash"/>
          </a:ln>
        </p:spPr>
      </p:sp>
      <p:sp>
        <p:nvSpPr>
          <p:cNvPr id="33" name="Text 30"/>
          <p:cNvSpPr/>
          <p:nvPr/>
        </p:nvSpPr>
        <p:spPr>
          <a:xfrm>
            <a:off x="650081" y="2993231"/>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34" name="Text 31"/>
          <p:cNvSpPr/>
          <p:nvPr/>
        </p:nvSpPr>
        <p:spPr>
          <a:xfrm>
            <a:off x="650081" y="2993231"/>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35" name="Text 32"/>
          <p:cNvSpPr/>
          <p:nvPr/>
        </p:nvSpPr>
        <p:spPr>
          <a:xfrm>
            <a:off x="864394" y="2986088"/>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Comptes admin + 2 pharmacies démo + 1 client démo créés</a:t>
            </a:r>
            <a:endParaRPr lang="en-US" sz="800" dirty="0"/>
          </a:p>
        </p:txBody>
      </p:sp>
      <p:sp>
        <p:nvSpPr>
          <p:cNvPr id="36" name="Shape 33"/>
          <p:cNvSpPr/>
          <p:nvPr/>
        </p:nvSpPr>
        <p:spPr>
          <a:xfrm>
            <a:off x="650081" y="3446859"/>
            <a:ext cx="3700463" cy="0"/>
          </a:xfrm>
          <a:prstGeom prst="line">
            <a:avLst/>
          </a:prstGeom>
          <a:noFill/>
          <a:ln w="7144">
            <a:solidFill>
              <a:srgbClr val="E5E0D5"/>
            </a:solidFill>
            <a:prstDash val="dash"/>
          </a:ln>
        </p:spPr>
      </p:sp>
      <p:sp>
        <p:nvSpPr>
          <p:cNvPr id="37" name="Text 34"/>
          <p:cNvSpPr/>
          <p:nvPr/>
        </p:nvSpPr>
        <p:spPr>
          <a:xfrm>
            <a:off x="650081" y="3250406"/>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38" name="Text 35"/>
          <p:cNvSpPr/>
          <p:nvPr/>
        </p:nvSpPr>
        <p:spPr>
          <a:xfrm>
            <a:off x="650081" y="3250406"/>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39" name="Text 36"/>
          <p:cNvSpPr/>
          <p:nvPr/>
        </p:nvSpPr>
        <p:spPr>
          <a:xfrm>
            <a:off x="864394" y="3243263"/>
            <a:ext cx="3486150" cy="150019"/>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Code source sur GitHub (kennethafantsawo/MediTike)</a:t>
            </a:r>
            <a:endParaRPr lang="en-US" sz="800" dirty="0"/>
          </a:p>
        </p:txBody>
      </p:sp>
      <p:sp>
        <p:nvSpPr>
          <p:cNvPr id="40" name="Text 37"/>
          <p:cNvSpPr/>
          <p:nvPr/>
        </p:nvSpPr>
        <p:spPr>
          <a:xfrm>
            <a:off x="650081" y="3507581"/>
            <a:ext cx="142875" cy="142875"/>
          </a:xfrm>
          <a:prstGeom prst="roundRect">
            <a:avLst>
              <a:gd name="adj" fmla="val 40000"/>
            </a:avLst>
          </a:prstGeom>
          <a:solidFill>
            <a:srgbClr val="0F5132">
              <a:alpha val="10000"/>
            </a:srgbClr>
          </a:solidFill>
          <a:ln/>
        </p:spPr>
        <p:txBody>
          <a:bodyPr wrap="square" rtlCol="0" anchor="ctr"/>
          <a:lstStyle/>
          <a:p>
            <a:pPr indent="0" marL="0">
              <a:buNone/>
            </a:pPr>
            <a:endParaRPr lang="en-US" dirty="0"/>
          </a:p>
        </p:txBody>
      </p:sp>
      <p:sp>
        <p:nvSpPr>
          <p:cNvPr id="41" name="Text 38"/>
          <p:cNvSpPr/>
          <p:nvPr/>
        </p:nvSpPr>
        <p:spPr>
          <a:xfrm>
            <a:off x="650081" y="3507581"/>
            <a:ext cx="142875" cy="142875"/>
          </a:xfrm>
          <a:prstGeom prst="rect">
            <a:avLst/>
          </a:prstGeom>
          <a:noFill/>
          <a:ln/>
        </p:spPr>
        <p:txBody>
          <a:bodyPr wrap="none" lIns="0" tIns="0" rIns="0" bIns="0" rtlCol="0" anchor="ctr"/>
          <a:lstStyle/>
          <a:p>
            <a:pPr algn="ctr" indent="0" marL="0">
              <a:buNone/>
            </a:pPr>
            <a:r>
              <a:rPr lang="en-US" sz="984" dirty="0">
                <a:solidFill>
                  <a:srgbClr val="0F5132"/>
                </a:solidFill>
                <a:latin typeface="Segoe UI Symbol" pitchFamily="34" charset="0"/>
                <a:ea typeface="Segoe UI Symbol" pitchFamily="34" charset="-122"/>
                <a:cs typeface="Segoe UI Symbol" pitchFamily="34" charset="-120"/>
              </a:rPr>
              <a:t>✓</a:t>
            </a:r>
            <a:endParaRPr lang="en-US" sz="984" dirty="0"/>
          </a:p>
        </p:txBody>
      </p:sp>
      <p:sp>
        <p:nvSpPr>
          <p:cNvPr id="42" name="Text 39"/>
          <p:cNvSpPr/>
          <p:nvPr/>
        </p:nvSpPr>
        <p:spPr>
          <a:xfrm>
            <a:off x="864394" y="3500438"/>
            <a:ext cx="3486150" cy="159106"/>
          </a:xfrm>
          <a:prstGeom prst="rect">
            <a:avLst/>
          </a:prstGeom>
          <a:noFill/>
          <a:ln/>
        </p:spPr>
        <p:txBody>
          <a:bodyPr wrap="square" lIns="0" tIns="0" rIns="0" bIns="0" rtlCol="0" anchor="t"/>
          <a:lstStyle/>
          <a:p>
            <a:pPr algn="l" indent="0" marL="0">
              <a:lnSpc>
                <a:spcPts val="1020"/>
              </a:lnSpc>
              <a:buNone/>
            </a:pPr>
            <a:r>
              <a:rPr lang="en-US" sz="800" dirty="0">
                <a:solidFill>
                  <a:srgbClr val="1A2B22"/>
                </a:solidFill>
                <a:latin typeface="Carlito" pitchFamily="34" charset="0"/>
                <a:ea typeface="Carlito" pitchFamily="34" charset="-122"/>
                <a:cs typeface="Carlito" pitchFamily="34" charset="-120"/>
              </a:rPr>
              <a:t>Documentation complète (DEPLOYMENT.md)</a:t>
            </a:r>
            <a:endParaRPr lang="en-US" sz="800" dirty="0"/>
          </a:p>
        </p:txBody>
      </p:sp>
      <p:sp>
        <p:nvSpPr>
          <p:cNvPr id="43" name="Text 40"/>
          <p:cNvSpPr/>
          <p:nvPr/>
        </p:nvSpPr>
        <p:spPr>
          <a:xfrm>
            <a:off x="4857750" y="1296591"/>
            <a:ext cx="1400426" cy="146590"/>
          </a:xfrm>
          <a:prstGeom prst="rect">
            <a:avLst/>
          </a:prstGeom>
          <a:noFill/>
          <a:ln/>
        </p:spPr>
        <p:txBody>
          <a:bodyPr wrap="none" lIns="0" tIns="0" rIns="0" bIns="0" rtlCol="0" anchor="t"/>
          <a:lstStyle/>
          <a:p>
            <a:pPr algn="l" indent="0" marL="0">
              <a:lnSpc>
                <a:spcPts val="1434"/>
              </a:lnSpc>
              <a:buNone/>
            </a:pPr>
            <a:r>
              <a:rPr lang="en-US" sz="956" b="1" dirty="0">
                <a:solidFill>
                  <a:srgbClr val="0F5132"/>
                </a:solidFill>
                <a:latin typeface="Carlito" pitchFamily="34" charset="0"/>
                <a:ea typeface="Carlito" pitchFamily="34" charset="-122"/>
                <a:cs typeface="Carlito" pitchFamily="34" charset="-120"/>
              </a:rPr>
              <a:t>Évolutions prévues</a:t>
            </a:r>
            <a:endParaRPr lang="en-US" sz="956" dirty="0"/>
          </a:p>
        </p:txBody>
      </p:sp>
      <p:sp>
        <p:nvSpPr>
          <p:cNvPr id="44" name="Text 41"/>
          <p:cNvSpPr/>
          <p:nvPr/>
        </p:nvSpPr>
        <p:spPr>
          <a:xfrm>
            <a:off x="4657725" y="1294805"/>
            <a:ext cx="142875" cy="142875"/>
          </a:xfrm>
          <a:prstGeom prst="rect">
            <a:avLst/>
          </a:prstGeom>
          <a:noFill/>
          <a:ln/>
        </p:spPr>
        <p:txBody>
          <a:bodyPr wrap="none" lIns="0" tIns="0" rIns="0" bIns="0" rtlCol="0" anchor="ctr"/>
          <a:lstStyle/>
          <a:p>
            <a:pPr algn="ctr" indent="0" marL="0">
              <a:buNone/>
            </a:pPr>
            <a:r>
              <a:rPr lang="en-US" sz="1406" dirty="0">
                <a:solidFill>
                  <a:srgbClr val="B89968"/>
                </a:solidFill>
                <a:latin typeface="Segoe UI Symbol" pitchFamily="34" charset="0"/>
                <a:ea typeface="Segoe UI Symbol" pitchFamily="34" charset="-122"/>
                <a:cs typeface="Segoe UI Symbol" pitchFamily="34" charset="-120"/>
              </a:rPr>
              <a:t>➤</a:t>
            </a:r>
            <a:endParaRPr lang="en-US" sz="1406" dirty="0"/>
          </a:p>
        </p:txBody>
      </p:sp>
      <p:sp>
        <p:nvSpPr>
          <p:cNvPr id="45" name="Text 42"/>
          <p:cNvSpPr/>
          <p:nvPr/>
        </p:nvSpPr>
        <p:spPr>
          <a:xfrm>
            <a:off x="4661297" y="1546622"/>
            <a:ext cx="3964781" cy="782464"/>
          </a:xfrm>
          <a:prstGeom prst="roundRect">
            <a:avLst>
              <a:gd name="adj" fmla="val 17042"/>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46" name="Text 43"/>
          <p:cNvSpPr/>
          <p:nvPr/>
        </p:nvSpPr>
        <p:spPr>
          <a:xfrm>
            <a:off x="4764881" y="1635919"/>
            <a:ext cx="3499991" cy="164592"/>
          </a:xfrm>
          <a:prstGeom prst="rect">
            <a:avLst/>
          </a:prstGeom>
          <a:noFill/>
          <a:ln/>
        </p:spPr>
        <p:txBody>
          <a:bodyPr wrap="none" lIns="0" tIns="0" rIns="0" bIns="0" rtlCol="0" anchor="t"/>
          <a:lstStyle/>
          <a:p>
            <a:pPr algn="l" indent="0" marL="0">
              <a:lnSpc>
                <a:spcPts val="1139"/>
              </a:lnSpc>
              <a:buNone/>
            </a:pPr>
            <a:r>
              <a:rPr lang="en-US" sz="800" b="1" dirty="0">
                <a:solidFill>
                  <a:srgbClr val="1A2B22"/>
                </a:solidFill>
                <a:latin typeface="Carlito" pitchFamily="34" charset="0"/>
                <a:ea typeface="Carlito" pitchFamily="34" charset="-122"/>
                <a:cs typeface="Carlito" pitchFamily="34" charset="-120"/>
              </a:rPr>
              <a:t>Court terme </a:t>
            </a:r>
            <a:pPr algn="l" indent="0" marL="0">
              <a:lnSpc>
                <a:spcPts val="1139"/>
              </a:lnSpc>
              <a:buNone/>
            </a:pPr>
            <a:r>
              <a:rPr lang="en-US" sz="800" b="1" dirty="0">
                <a:solidFill>
                  <a:srgbClr val="6B7C72"/>
                </a:solidFill>
                <a:latin typeface="Liberation Sans Narrow" pitchFamily="34" charset="0"/>
                <a:ea typeface="Liberation Sans Narrow" pitchFamily="34" charset="-122"/>
                <a:cs typeface="Liberation Sans Narrow" pitchFamily="34" charset="-120"/>
              </a:rPr>
              <a:t>(3 mois)</a:t>
            </a:r>
            <a:endParaRPr lang="en-US" sz="800" dirty="0"/>
          </a:p>
        </p:txBody>
      </p:sp>
      <p:sp>
        <p:nvSpPr>
          <p:cNvPr id="47" name="Text 44"/>
          <p:cNvSpPr/>
          <p:nvPr/>
        </p:nvSpPr>
        <p:spPr>
          <a:xfrm>
            <a:off x="8268187" y="1632240"/>
            <a:ext cx="265280" cy="152019"/>
          </a:xfrm>
          <a:prstGeom prst="roundRect">
            <a:avLst>
              <a:gd name="adj" fmla="val 6259398"/>
            </a:avLst>
          </a:prstGeom>
          <a:solidFill>
            <a:srgbClr val="B89968">
              <a:alpha val="10000"/>
            </a:srgbClr>
          </a:solidFill>
          <a:ln/>
        </p:spPr>
        <p:txBody>
          <a:bodyPr wrap="square" rtlCol="0" anchor="ctr"/>
          <a:lstStyle/>
          <a:p>
            <a:pPr indent="0" marL="0">
              <a:buNone/>
            </a:pPr>
            <a:endParaRPr lang="en-US" dirty="0"/>
          </a:p>
        </p:txBody>
      </p:sp>
      <p:sp>
        <p:nvSpPr>
          <p:cNvPr id="48" name="Text 45"/>
          <p:cNvSpPr/>
          <p:nvPr/>
        </p:nvSpPr>
        <p:spPr>
          <a:xfrm>
            <a:off x="8279160" y="1640384"/>
            <a:ext cx="243334" cy="135731"/>
          </a:xfrm>
          <a:prstGeom prst="rect">
            <a:avLst/>
          </a:prstGeom>
          <a:noFill/>
          <a:ln/>
        </p:spPr>
        <p:txBody>
          <a:bodyPr wrap="none" lIns="0" tIns="0" rIns="0" bIns="0" rtlCol="0" anchor="ctr"/>
          <a:lstStyle/>
          <a:p>
            <a:pPr algn="ctr" indent="0" marL="0">
              <a:lnSpc>
                <a:spcPts val="844"/>
              </a:lnSpc>
              <a:buNone/>
            </a:pPr>
            <a:r>
              <a:rPr lang="en-US" sz="800" dirty="0">
                <a:solidFill>
                  <a:srgbClr val="B89968"/>
                </a:solidFill>
                <a:latin typeface="Liberation Sans Narrow" pitchFamily="34" charset="0"/>
                <a:ea typeface="Liberation Sans Narrow" pitchFamily="34" charset="-122"/>
                <a:cs typeface="Liberation Sans Narrow" pitchFamily="34" charset="-120"/>
              </a:rPr>
              <a:t>3 M</a:t>
            </a:r>
            <a:endParaRPr lang="en-US" sz="800" dirty="0"/>
          </a:p>
        </p:txBody>
      </p:sp>
      <p:sp>
        <p:nvSpPr>
          <p:cNvPr id="49" name="Text 46"/>
          <p:cNvSpPr/>
          <p:nvPr/>
        </p:nvSpPr>
        <p:spPr>
          <a:xfrm>
            <a:off x="4764881" y="1837730"/>
            <a:ext cx="3757613" cy="454758"/>
          </a:xfrm>
          <a:prstGeom prst="rect">
            <a:avLst/>
          </a:prstGeom>
          <a:noFill/>
          <a:ln/>
        </p:spPr>
        <p:txBody>
          <a:bodyPr wrap="square" lIns="0" tIns="0" rIns="0" bIns="0" rtlCol="0" anchor="t"/>
          <a:lstStyle/>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Notifications WhatsApp Business API</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Application mobile native (APK Android via Capacitor)</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Géolocalisation des pharmacies</a:t>
            </a:r>
            <a:endParaRPr lang="en-US" sz="800" dirty="0"/>
          </a:p>
        </p:txBody>
      </p:sp>
      <p:sp>
        <p:nvSpPr>
          <p:cNvPr id="50" name="Text 47"/>
          <p:cNvSpPr/>
          <p:nvPr/>
        </p:nvSpPr>
        <p:spPr>
          <a:xfrm>
            <a:off x="4661297" y="2407667"/>
            <a:ext cx="3964781" cy="782464"/>
          </a:xfrm>
          <a:prstGeom prst="roundRect">
            <a:avLst>
              <a:gd name="adj" fmla="val 17042"/>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51" name="Text 48"/>
          <p:cNvSpPr/>
          <p:nvPr/>
        </p:nvSpPr>
        <p:spPr>
          <a:xfrm>
            <a:off x="4764881" y="2496964"/>
            <a:ext cx="3370957" cy="164592"/>
          </a:xfrm>
          <a:prstGeom prst="rect">
            <a:avLst/>
          </a:prstGeom>
          <a:noFill/>
          <a:ln/>
        </p:spPr>
        <p:txBody>
          <a:bodyPr wrap="none" lIns="0" tIns="0" rIns="0" bIns="0" rtlCol="0" anchor="t"/>
          <a:lstStyle/>
          <a:p>
            <a:pPr algn="l" indent="0" marL="0">
              <a:lnSpc>
                <a:spcPts val="1139"/>
              </a:lnSpc>
              <a:buNone/>
            </a:pPr>
            <a:r>
              <a:rPr lang="en-US" sz="800" b="1" dirty="0">
                <a:solidFill>
                  <a:srgbClr val="1A2B22"/>
                </a:solidFill>
                <a:latin typeface="Carlito" pitchFamily="34" charset="0"/>
                <a:ea typeface="Carlito" pitchFamily="34" charset="-122"/>
                <a:cs typeface="Carlito" pitchFamily="34" charset="-120"/>
              </a:rPr>
              <a:t>Moyen terme </a:t>
            </a:r>
            <a:pPr algn="l" indent="0" marL="0">
              <a:lnSpc>
                <a:spcPts val="1139"/>
              </a:lnSpc>
              <a:buNone/>
            </a:pPr>
            <a:r>
              <a:rPr lang="en-US" sz="800" b="1" dirty="0">
                <a:solidFill>
                  <a:srgbClr val="6B7C72"/>
                </a:solidFill>
                <a:latin typeface="Liberation Sans Narrow" pitchFamily="34" charset="0"/>
                <a:ea typeface="Liberation Sans Narrow" pitchFamily="34" charset="-122"/>
                <a:cs typeface="Liberation Sans Narrow" pitchFamily="34" charset="-120"/>
              </a:rPr>
              <a:t>(6-12 mois)</a:t>
            </a:r>
            <a:endParaRPr lang="en-US" sz="800" dirty="0"/>
          </a:p>
        </p:txBody>
      </p:sp>
      <p:sp>
        <p:nvSpPr>
          <p:cNvPr id="52" name="Text 49"/>
          <p:cNvSpPr/>
          <p:nvPr/>
        </p:nvSpPr>
        <p:spPr>
          <a:xfrm>
            <a:off x="8135231" y="2493285"/>
            <a:ext cx="402157" cy="152019"/>
          </a:xfrm>
          <a:prstGeom prst="roundRect">
            <a:avLst>
              <a:gd name="adj" fmla="val 6259398"/>
            </a:avLst>
          </a:prstGeom>
          <a:solidFill>
            <a:srgbClr val="B89968">
              <a:alpha val="10000"/>
            </a:srgbClr>
          </a:solidFill>
          <a:ln/>
        </p:spPr>
        <p:txBody>
          <a:bodyPr wrap="square" rtlCol="0" anchor="ctr"/>
          <a:lstStyle/>
          <a:p>
            <a:pPr indent="0" marL="0">
              <a:buNone/>
            </a:pPr>
            <a:endParaRPr lang="en-US" dirty="0"/>
          </a:p>
        </p:txBody>
      </p:sp>
      <p:sp>
        <p:nvSpPr>
          <p:cNvPr id="53" name="Text 50"/>
          <p:cNvSpPr/>
          <p:nvPr/>
        </p:nvSpPr>
        <p:spPr>
          <a:xfrm>
            <a:off x="8150126" y="2501429"/>
            <a:ext cx="372368" cy="135731"/>
          </a:xfrm>
          <a:prstGeom prst="rect">
            <a:avLst/>
          </a:prstGeom>
          <a:noFill/>
          <a:ln/>
        </p:spPr>
        <p:txBody>
          <a:bodyPr wrap="none" lIns="0" tIns="0" rIns="0" bIns="0" rtlCol="0" anchor="ctr"/>
          <a:lstStyle/>
          <a:p>
            <a:pPr algn="ctr" indent="0" marL="0">
              <a:lnSpc>
                <a:spcPts val="844"/>
              </a:lnSpc>
              <a:buNone/>
            </a:pPr>
            <a:r>
              <a:rPr lang="en-US" sz="800" dirty="0">
                <a:solidFill>
                  <a:srgbClr val="B89968"/>
                </a:solidFill>
                <a:latin typeface="Liberation Sans Narrow" pitchFamily="34" charset="0"/>
                <a:ea typeface="Liberation Sans Narrow" pitchFamily="34" charset="-122"/>
                <a:cs typeface="Liberation Sans Narrow" pitchFamily="34" charset="-120"/>
              </a:rPr>
              <a:t>6-12 M</a:t>
            </a:r>
            <a:endParaRPr lang="en-US" sz="800" dirty="0"/>
          </a:p>
        </p:txBody>
      </p:sp>
      <p:sp>
        <p:nvSpPr>
          <p:cNvPr id="54" name="Text 51"/>
          <p:cNvSpPr/>
          <p:nvPr/>
        </p:nvSpPr>
        <p:spPr>
          <a:xfrm>
            <a:off x="4764881" y="2698775"/>
            <a:ext cx="3757613" cy="454758"/>
          </a:xfrm>
          <a:prstGeom prst="rect">
            <a:avLst/>
          </a:prstGeom>
          <a:noFill/>
          <a:ln/>
        </p:spPr>
        <p:txBody>
          <a:bodyPr wrap="square" lIns="0" tIns="0" rIns="0" bIns="0" rtlCol="0" anchor="t"/>
          <a:lstStyle/>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Paiement Mobile Money (Moov / T-Money)</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Téléconsultation pharmaceutique</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Extension à la sous-région CEDEAO</a:t>
            </a:r>
            <a:endParaRPr lang="en-US" sz="800" dirty="0"/>
          </a:p>
        </p:txBody>
      </p:sp>
      <p:sp>
        <p:nvSpPr>
          <p:cNvPr id="55" name="Text 52"/>
          <p:cNvSpPr/>
          <p:nvPr/>
        </p:nvSpPr>
        <p:spPr>
          <a:xfrm>
            <a:off x="4661297" y="3268712"/>
            <a:ext cx="3964781" cy="782464"/>
          </a:xfrm>
          <a:prstGeom prst="roundRect">
            <a:avLst>
              <a:gd name="adj" fmla="val 17042"/>
            </a:avLst>
          </a:prstGeom>
          <a:solidFill>
            <a:srgbClr val="FFFFFF"/>
          </a:solidFill>
          <a:ln w="7144">
            <a:solidFill>
              <a:srgbClr val="E5E0D5"/>
            </a:solidFill>
            <a:prstDash val="solid"/>
          </a:ln>
        </p:spPr>
        <p:txBody>
          <a:bodyPr wrap="square" rtlCol="0" anchor="ctr"/>
          <a:lstStyle/>
          <a:p>
            <a:pPr indent="0" marL="0">
              <a:buNone/>
            </a:pPr>
            <a:endParaRPr lang="en-US" dirty="0"/>
          </a:p>
        </p:txBody>
      </p:sp>
      <p:sp>
        <p:nvSpPr>
          <p:cNvPr id="56" name="Text 53"/>
          <p:cNvSpPr/>
          <p:nvPr/>
        </p:nvSpPr>
        <p:spPr>
          <a:xfrm>
            <a:off x="4764881" y="3358009"/>
            <a:ext cx="3370957" cy="164592"/>
          </a:xfrm>
          <a:prstGeom prst="rect">
            <a:avLst/>
          </a:prstGeom>
          <a:noFill/>
          <a:ln/>
        </p:spPr>
        <p:txBody>
          <a:bodyPr wrap="none" lIns="0" tIns="0" rIns="0" bIns="0" rtlCol="0" anchor="t"/>
          <a:lstStyle/>
          <a:p>
            <a:pPr algn="l" indent="0" marL="0">
              <a:lnSpc>
                <a:spcPts val="1139"/>
              </a:lnSpc>
              <a:buNone/>
            </a:pPr>
            <a:r>
              <a:rPr lang="en-US" sz="800" b="1" dirty="0">
                <a:solidFill>
                  <a:srgbClr val="1A2B22"/>
                </a:solidFill>
                <a:latin typeface="Carlito" pitchFamily="34" charset="0"/>
                <a:ea typeface="Carlito" pitchFamily="34" charset="-122"/>
                <a:cs typeface="Carlito" pitchFamily="34" charset="-120"/>
              </a:rPr>
              <a:t>Long terme </a:t>
            </a:r>
            <a:pPr algn="l" indent="0" marL="0">
              <a:lnSpc>
                <a:spcPts val="1139"/>
              </a:lnSpc>
              <a:buNone/>
            </a:pPr>
            <a:r>
              <a:rPr lang="en-US" sz="800" b="1" dirty="0">
                <a:solidFill>
                  <a:srgbClr val="6B7C72"/>
                </a:solidFill>
                <a:latin typeface="Carlito" pitchFamily="34" charset="0"/>
                <a:ea typeface="Carlito" pitchFamily="34" charset="-122"/>
                <a:cs typeface="Carlito" pitchFamily="34" charset="-120"/>
              </a:rPr>
              <a:t>(vision)</a:t>
            </a:r>
            <a:endParaRPr lang="en-US" sz="800" dirty="0"/>
          </a:p>
        </p:txBody>
      </p:sp>
      <p:sp>
        <p:nvSpPr>
          <p:cNvPr id="57" name="Text 54"/>
          <p:cNvSpPr/>
          <p:nvPr/>
        </p:nvSpPr>
        <p:spPr>
          <a:xfrm>
            <a:off x="8135231" y="3354330"/>
            <a:ext cx="402157" cy="152019"/>
          </a:xfrm>
          <a:prstGeom prst="roundRect">
            <a:avLst>
              <a:gd name="adj" fmla="val 6259398"/>
            </a:avLst>
          </a:prstGeom>
          <a:solidFill>
            <a:srgbClr val="B89968">
              <a:alpha val="10000"/>
            </a:srgbClr>
          </a:solidFill>
          <a:ln/>
        </p:spPr>
        <p:txBody>
          <a:bodyPr wrap="square" rtlCol="0" anchor="ctr"/>
          <a:lstStyle/>
          <a:p>
            <a:pPr indent="0" marL="0">
              <a:buNone/>
            </a:pPr>
            <a:endParaRPr lang="en-US" dirty="0"/>
          </a:p>
        </p:txBody>
      </p:sp>
      <p:sp>
        <p:nvSpPr>
          <p:cNvPr id="58" name="Text 55"/>
          <p:cNvSpPr/>
          <p:nvPr/>
        </p:nvSpPr>
        <p:spPr>
          <a:xfrm>
            <a:off x="8150126" y="3362474"/>
            <a:ext cx="372368" cy="135731"/>
          </a:xfrm>
          <a:prstGeom prst="rect">
            <a:avLst/>
          </a:prstGeom>
          <a:noFill/>
          <a:ln/>
        </p:spPr>
        <p:txBody>
          <a:bodyPr wrap="none" lIns="0" tIns="0" rIns="0" bIns="0" rtlCol="0" anchor="ctr"/>
          <a:lstStyle/>
          <a:p>
            <a:pPr algn="ctr" indent="0" marL="0">
              <a:lnSpc>
                <a:spcPts val="844"/>
              </a:lnSpc>
              <a:buNone/>
            </a:pPr>
            <a:r>
              <a:rPr lang="en-US" sz="800" dirty="0">
                <a:solidFill>
                  <a:srgbClr val="B89968"/>
                </a:solidFill>
                <a:latin typeface="Courier New" pitchFamily="34" charset="0"/>
                <a:ea typeface="Courier New" pitchFamily="34" charset="-122"/>
                <a:cs typeface="Courier New" pitchFamily="34" charset="-120"/>
              </a:rPr>
              <a:t>VISION</a:t>
            </a:r>
            <a:endParaRPr lang="en-US" sz="800" dirty="0"/>
          </a:p>
        </p:txBody>
      </p:sp>
      <p:sp>
        <p:nvSpPr>
          <p:cNvPr id="59" name="Text 56"/>
          <p:cNvSpPr/>
          <p:nvPr/>
        </p:nvSpPr>
        <p:spPr>
          <a:xfrm>
            <a:off x="4764881" y="3559820"/>
            <a:ext cx="3757613" cy="454758"/>
          </a:xfrm>
          <a:prstGeom prst="rect">
            <a:avLst/>
          </a:prstGeom>
          <a:noFill/>
          <a:ln/>
        </p:spPr>
        <p:txBody>
          <a:bodyPr wrap="square" lIns="0" tIns="0" rIns="0" bIns="0" rtlCol="0" anchor="t"/>
          <a:lstStyle/>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Intégration dossier pharmaceutique patient</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IA recommandation médicaments génériques</a:t>
            </a:r>
            <a:endParaRPr lang="en-US" sz="800" dirty="0"/>
          </a:p>
          <a:p>
            <a:pPr algn="l" indent="0" marL="0">
              <a:lnSpc>
                <a:spcPts val="906"/>
              </a:lnSpc>
              <a:spcAft>
                <a:spcPts val="225"/>
              </a:spcAft>
              <a:buNone/>
            </a:pPr>
            <a:r>
              <a:rPr lang="en-US" sz="600" dirty="0">
                <a:solidFill>
                  <a:srgbClr val="B89968"/>
                </a:solidFill>
                <a:latin typeface="Carlito" pitchFamily="34" charset="0"/>
                <a:ea typeface="Carlito" pitchFamily="34" charset="-122"/>
                <a:cs typeface="Carlito" pitchFamily="34" charset="-120"/>
              </a:rPr>
              <a:t>●  </a:t>
            </a:r>
            <a:pPr algn="l" indent="0" marL="0">
              <a:lnSpc>
                <a:spcPts val="906"/>
              </a:lnSpc>
              <a:spcAft>
                <a:spcPts val="225"/>
              </a:spcAft>
              <a:buNone/>
            </a:pPr>
            <a:r>
              <a:rPr lang="en-US" sz="800" dirty="0">
                <a:solidFill>
                  <a:srgbClr val="6B7C72"/>
                </a:solidFill>
                <a:latin typeface="Carlito" pitchFamily="34" charset="0"/>
                <a:ea typeface="Carlito" pitchFamily="34" charset="-122"/>
                <a:cs typeface="Carlito" pitchFamily="34" charset="-120"/>
              </a:rPr>
              <a:t>Partenariat ONP (Ordre National des Pharmaciens)</a:t>
            </a:r>
            <a:endParaRPr lang="en-US" sz="800" dirty="0"/>
          </a:p>
        </p:txBody>
      </p:sp>
      <p:sp>
        <p:nvSpPr>
          <p:cNvPr id="60" name="Text 57"/>
          <p:cNvSpPr/>
          <p:nvPr/>
        </p:nvSpPr>
        <p:spPr>
          <a:xfrm>
            <a:off x="514350" y="4854178"/>
            <a:ext cx="7000317"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Carlito" pitchFamily="34" charset="0"/>
                <a:ea typeface="Carlito" pitchFamily="34" charset="-122"/>
                <a:cs typeface="Carlito" pitchFamily="34" charset="-120"/>
              </a:rPr>
              <a:t>MediTike · Gala Scientifique FSS 2026</a:t>
            </a:r>
            <a:endParaRPr lang="en-US" sz="800" dirty="0"/>
          </a:p>
        </p:txBody>
      </p:sp>
      <p:sp>
        <p:nvSpPr>
          <p:cNvPr id="61" name="Text 58"/>
          <p:cNvSpPr/>
          <p:nvPr/>
        </p:nvSpPr>
        <p:spPr>
          <a:xfrm>
            <a:off x="7528954" y="4854178"/>
            <a:ext cx="1188751"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Liberation Sans Narrow" pitchFamily="34" charset="0"/>
                <a:ea typeface="Liberation Sans Narrow" pitchFamily="34" charset="-122"/>
                <a:cs typeface="Liberation Sans Narrow" pitchFamily="34" charset="-120"/>
              </a:rPr>
              <a:t>06 — Faisabilité &amp; Déploiement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sp>
        <p:nvSpPr>
          <p:cNvPr id="3" name="Text 0"/>
          <p:cNvSpPr/>
          <p:nvPr/>
        </p:nvSpPr>
        <p:spPr>
          <a:xfrm>
            <a:off x="491490" y="389549"/>
            <a:ext cx="887678" cy="196025"/>
          </a:xfrm>
          <a:prstGeom prst="roundRect">
            <a:avLst>
              <a:gd name="adj" fmla="val 4854215"/>
            </a:avLst>
          </a:prstGeom>
          <a:solidFill>
            <a:srgbClr val="0F5132">
              <a:alpha val="8000"/>
            </a:srgbClr>
          </a:solidFill>
          <a:ln/>
        </p:spPr>
        <p:txBody>
          <a:bodyPr wrap="square" rtlCol="0" anchor="ctr"/>
          <a:lstStyle/>
          <a:p>
            <a:pPr indent="0" marL="0">
              <a:buNone/>
            </a:pPr>
            <a:endParaRPr lang="en-US" dirty="0"/>
          </a:p>
        </p:txBody>
      </p:sp>
      <p:sp>
        <p:nvSpPr>
          <p:cNvPr id="4" name="Text 1"/>
          <p:cNvSpPr/>
          <p:nvPr/>
        </p:nvSpPr>
        <p:spPr>
          <a:xfrm>
            <a:off x="721519" y="442913"/>
            <a:ext cx="563352" cy="91440"/>
          </a:xfrm>
          <a:prstGeom prst="rect">
            <a:avLst/>
          </a:prstGeom>
          <a:noFill/>
          <a:ln/>
        </p:spPr>
        <p:txBody>
          <a:bodyPr wrap="none" lIns="0" tIns="0" rIns="0" bIns="0" rtlCol="0" anchor="ctr"/>
          <a:lstStyle/>
          <a:p>
            <a:pPr algn="ctr" indent="0" marL="0">
              <a:lnSpc>
                <a:spcPts val="928"/>
              </a:lnSpc>
              <a:buNone/>
            </a:pPr>
            <a:r>
              <a:rPr lang="en-US" sz="800" b="1" dirty="0">
                <a:solidFill>
                  <a:srgbClr val="0F5132"/>
                </a:solidFill>
                <a:latin typeface="Carlito" pitchFamily="34" charset="0"/>
                <a:ea typeface="Carlito" pitchFamily="34" charset="-122"/>
                <a:cs typeface="Carlito" pitchFamily="34" charset="-120"/>
              </a:rPr>
              <a:t>Évaluation jury</a:t>
            </a:r>
            <a:endParaRPr lang="en-US" sz="800" dirty="0"/>
          </a:p>
        </p:txBody>
      </p:sp>
      <p:sp>
        <p:nvSpPr>
          <p:cNvPr id="5" name="Text 2"/>
          <p:cNvSpPr/>
          <p:nvPr/>
        </p:nvSpPr>
        <p:spPr>
          <a:xfrm>
            <a:off x="585788" y="441127"/>
            <a:ext cx="92869" cy="92869"/>
          </a:xfrm>
          <a:prstGeom prst="rect">
            <a:avLst/>
          </a:prstGeom>
          <a:noFill/>
          <a:ln/>
        </p:spPr>
        <p:txBody>
          <a:bodyPr wrap="none" lIns="0" tIns="0" rIns="0" bIns="0" rtlCol="0" anchor="ctr"/>
          <a:lstStyle/>
          <a:p>
            <a:pPr algn="ctr" indent="0" marL="0">
              <a:buNone/>
            </a:pPr>
            <a:r>
              <a:rPr lang="en-US" sz="914" dirty="0">
                <a:solidFill>
                  <a:srgbClr val="0F5132"/>
                </a:solidFill>
                <a:latin typeface="Segoe UI Symbol" pitchFamily="34" charset="0"/>
                <a:ea typeface="Segoe UI Symbol" pitchFamily="34" charset="-122"/>
                <a:cs typeface="Segoe UI Symbol" pitchFamily="34" charset="-120"/>
              </a:rPr>
              <a:t>♛</a:t>
            </a:r>
            <a:endParaRPr lang="en-US" sz="914" dirty="0"/>
          </a:p>
        </p:txBody>
      </p:sp>
      <p:sp>
        <p:nvSpPr>
          <p:cNvPr id="6" name="Text 3"/>
          <p:cNvSpPr/>
          <p:nvPr/>
        </p:nvSpPr>
        <p:spPr>
          <a:xfrm>
            <a:off x="1390598" y="389549"/>
            <a:ext cx="673924" cy="196025"/>
          </a:xfrm>
          <a:prstGeom prst="roundRect">
            <a:avLst>
              <a:gd name="adj" fmla="val 4854215"/>
            </a:avLst>
          </a:prstGeom>
          <a:solidFill>
            <a:srgbClr val="B89968">
              <a:alpha val="10000"/>
            </a:srgbClr>
          </a:solidFill>
          <a:ln/>
        </p:spPr>
        <p:txBody>
          <a:bodyPr wrap="square" rtlCol="0" anchor="ctr"/>
          <a:lstStyle/>
          <a:p>
            <a:pPr indent="0" marL="0">
              <a:buNone/>
            </a:pPr>
            <a:endParaRPr lang="en-US" dirty="0"/>
          </a:p>
        </p:txBody>
      </p:sp>
      <p:sp>
        <p:nvSpPr>
          <p:cNvPr id="7" name="Text 4"/>
          <p:cNvSpPr/>
          <p:nvPr/>
        </p:nvSpPr>
        <p:spPr>
          <a:xfrm>
            <a:off x="1620627" y="442913"/>
            <a:ext cx="349597" cy="91440"/>
          </a:xfrm>
          <a:prstGeom prst="rect">
            <a:avLst/>
          </a:prstGeom>
          <a:noFill/>
          <a:ln/>
        </p:spPr>
        <p:txBody>
          <a:bodyPr wrap="none" lIns="0" tIns="0" rIns="0" bIns="0" rtlCol="0" anchor="ctr"/>
          <a:lstStyle/>
          <a:p>
            <a:pPr algn="ctr" indent="0" marL="0">
              <a:lnSpc>
                <a:spcPts val="928"/>
              </a:lnSpc>
              <a:buNone/>
            </a:pPr>
            <a:r>
              <a:rPr lang="en-US" sz="800" b="1" dirty="0">
                <a:solidFill>
                  <a:srgbClr val="B89968"/>
                </a:solidFill>
                <a:latin typeface="Liberation Sans Narrow" pitchFamily="34" charset="0"/>
                <a:ea typeface="Liberation Sans Narrow" pitchFamily="34" charset="-122"/>
                <a:cs typeface="Liberation Sans Narrow" pitchFamily="34" charset="-120"/>
              </a:rPr>
              <a:t>4 critères</a:t>
            </a:r>
            <a:endParaRPr lang="en-US" sz="800" dirty="0"/>
          </a:p>
        </p:txBody>
      </p:sp>
      <p:sp>
        <p:nvSpPr>
          <p:cNvPr id="8" name="Text 5"/>
          <p:cNvSpPr/>
          <p:nvPr/>
        </p:nvSpPr>
        <p:spPr>
          <a:xfrm>
            <a:off x="1484895" y="441127"/>
            <a:ext cx="92869" cy="92869"/>
          </a:xfrm>
          <a:prstGeom prst="rect">
            <a:avLst/>
          </a:prstGeom>
          <a:noFill/>
          <a:ln/>
        </p:spPr>
        <p:txBody>
          <a:bodyPr wrap="none" lIns="0" tIns="0" rIns="0" bIns="0" rtlCol="0" anchor="ctr"/>
          <a:lstStyle/>
          <a:p>
            <a:pPr algn="ctr" indent="0" marL="0">
              <a:buNone/>
            </a:pPr>
            <a:r>
              <a:rPr lang="en-US" sz="914" dirty="0">
                <a:solidFill>
                  <a:srgbClr val="B89968"/>
                </a:solidFill>
                <a:latin typeface="Segoe UI Symbol" pitchFamily="34" charset="0"/>
                <a:ea typeface="Segoe UI Symbol" pitchFamily="34" charset="-122"/>
                <a:cs typeface="Segoe UI Symbol" pitchFamily="34" charset="-120"/>
              </a:rPr>
              <a:t>✦</a:t>
            </a:r>
            <a:endParaRPr lang="en-US" sz="914" dirty="0"/>
          </a:p>
        </p:txBody>
      </p:sp>
      <p:sp>
        <p:nvSpPr>
          <p:cNvPr id="9" name="Text 6"/>
          <p:cNvSpPr/>
          <p:nvPr/>
        </p:nvSpPr>
        <p:spPr>
          <a:xfrm>
            <a:off x="514350" y="632222"/>
            <a:ext cx="2810742" cy="293180"/>
          </a:xfrm>
          <a:prstGeom prst="rect">
            <a:avLst/>
          </a:prstGeom>
          <a:noFill/>
          <a:ln/>
        </p:spPr>
        <p:txBody>
          <a:bodyPr wrap="none" lIns="0" tIns="0" rIns="0" bIns="0" rtlCol="0" anchor="t"/>
          <a:lstStyle/>
          <a:p>
            <a:pPr algn="l" indent="0" marL="0">
              <a:lnSpc>
                <a:spcPts val="2138"/>
              </a:lnSpc>
              <a:buNone/>
            </a:pPr>
            <a:r>
              <a:rPr lang="en-US" sz="2138" b="1" spc="-43" kern="0" dirty="0">
                <a:solidFill>
                  <a:srgbClr val="0F5132"/>
                </a:solidFill>
                <a:latin typeface="Carlito" pitchFamily="34" charset="0"/>
                <a:ea typeface="Carlito" pitchFamily="34" charset="-122"/>
                <a:cs typeface="Carlito" pitchFamily="34" charset="-120"/>
              </a:rPr>
              <a:t>Synthèse scientifique</a:t>
            </a:r>
            <a:endParaRPr lang="en-US" sz="2138" dirty="0"/>
          </a:p>
        </p:txBody>
      </p:sp>
      <p:sp>
        <p:nvSpPr>
          <p:cNvPr id="10" name="Text 7"/>
          <p:cNvSpPr/>
          <p:nvPr/>
        </p:nvSpPr>
        <p:spPr>
          <a:xfrm>
            <a:off x="514350" y="960834"/>
            <a:ext cx="2891049" cy="173593"/>
          </a:xfrm>
          <a:prstGeom prst="rect">
            <a:avLst/>
          </a:prstGeom>
          <a:noFill/>
          <a:ln/>
        </p:spPr>
        <p:txBody>
          <a:bodyPr wrap="square" lIns="0" tIns="0" rIns="0" bIns="0" rtlCol="0" anchor="t"/>
          <a:lstStyle/>
          <a:p>
            <a:pPr algn="l" indent="0" marL="0">
              <a:lnSpc>
                <a:spcPts val="1266"/>
              </a:lnSpc>
              <a:buNone/>
            </a:pPr>
            <a:r>
              <a:rPr lang="en-US" sz="844" dirty="0">
                <a:solidFill>
                  <a:srgbClr val="6B7C72"/>
                </a:solidFill>
                <a:latin typeface="Carlito" pitchFamily="34" charset="0"/>
                <a:ea typeface="Carlito" pitchFamily="34" charset="-122"/>
                <a:cs typeface="Carlito" pitchFamily="34" charset="-120"/>
              </a:rPr>
              <a:t>Réponse aux critères d'évaluation du jury</a:t>
            </a:r>
            <a:endParaRPr lang="en-US" sz="844" dirty="0"/>
          </a:p>
        </p:txBody>
      </p:sp>
      <p:sp>
        <p:nvSpPr>
          <p:cNvPr id="11" name="Text 8"/>
          <p:cNvSpPr/>
          <p:nvPr/>
        </p:nvSpPr>
        <p:spPr>
          <a:xfrm>
            <a:off x="6985636" y="842963"/>
            <a:ext cx="1644014" cy="91440"/>
          </a:xfrm>
          <a:prstGeom prst="rect">
            <a:avLst/>
          </a:prstGeom>
          <a:noFill/>
          <a:ln/>
        </p:spPr>
        <p:txBody>
          <a:bodyPr wrap="none" lIns="0" tIns="0" rIns="0" bIns="0" rtlCol="0" anchor="t">
            <a:normAutofit/>
          </a:bodyPr>
          <a:lstStyle/>
          <a:p>
            <a:pPr algn="r" indent="0" marL="0">
              <a:lnSpc>
                <a:spcPts val="928"/>
              </a:lnSpc>
              <a:buNone/>
            </a:pPr>
            <a:r>
              <a:rPr lang="en-US" sz="800" b="1" dirty="0">
                <a:solidFill>
                  <a:srgbClr val="6B7C72">
                    <a:alpha val="75000"/>
                  </a:srgbClr>
                </a:solidFill>
                <a:latin typeface="Courier New" pitchFamily="34" charset="0"/>
                <a:ea typeface="Courier New" pitchFamily="34" charset="-122"/>
                <a:cs typeface="Courier New" pitchFamily="34" charset="-120"/>
              </a:rPr>
              <a:t>CONCLUSION</a:t>
            </a:r>
            <a:endParaRPr lang="en-US" sz="800" dirty="0"/>
          </a:p>
        </p:txBody>
      </p:sp>
      <p:sp>
        <p:nvSpPr>
          <p:cNvPr id="12" name="Text 9"/>
          <p:cNvSpPr/>
          <p:nvPr/>
        </p:nvSpPr>
        <p:spPr>
          <a:xfrm>
            <a:off x="7114688" y="960834"/>
            <a:ext cx="1514962" cy="173593"/>
          </a:xfrm>
          <a:prstGeom prst="rect">
            <a:avLst/>
          </a:prstGeom>
          <a:noFill/>
          <a:ln/>
        </p:spPr>
        <p:txBody>
          <a:bodyPr wrap="square" lIns="0" tIns="0" rIns="0" bIns="0" rtlCol="0" anchor="t"/>
          <a:lstStyle/>
          <a:p>
            <a:pPr algn="r" indent="0" marL="0">
              <a:lnSpc>
                <a:spcPts val="1266"/>
              </a:lnSpc>
              <a:buNone/>
            </a:pPr>
            <a:r>
              <a:rPr lang="en-US" sz="844" b="1" spc="-17" kern="0" dirty="0">
                <a:solidFill>
                  <a:srgbClr val="0F5132"/>
                </a:solidFill>
                <a:latin typeface="Carlito" pitchFamily="34" charset="0"/>
                <a:ea typeface="Carlito" pitchFamily="34" charset="-122"/>
                <a:cs typeface="Carlito" pitchFamily="34" charset="-120"/>
              </a:rPr>
              <a:t>Note globale · Très favorable</a:t>
            </a:r>
            <a:endParaRPr lang="en-US" sz="844" dirty="0"/>
          </a:p>
        </p:txBody>
      </p:sp>
      <p:sp>
        <p:nvSpPr>
          <p:cNvPr id="13" name="Text 10"/>
          <p:cNvSpPr/>
          <p:nvPr/>
        </p:nvSpPr>
        <p:spPr>
          <a:xfrm>
            <a:off x="514350" y="1235869"/>
            <a:ext cx="1964531" cy="2891433"/>
          </a:xfrm>
          <a:prstGeom prst="roundRect">
            <a:avLst>
              <a:gd name="adj" fmla="val 6788"/>
            </a:avLst>
          </a:prstGeom>
          <a:solidFill>
            <a:srgbClr val="FFFFFF"/>
          </a:solidFill>
          <a:ln/>
        </p:spPr>
        <p:txBody>
          <a:bodyPr wrap="square" rtlCol="0" anchor="ctr"/>
          <a:lstStyle/>
          <a:p>
            <a:pPr indent="0" marL="0">
              <a:buNone/>
            </a:pPr>
            <a:endParaRPr lang="en-US" dirty="0"/>
          </a:p>
        </p:txBody>
      </p:sp>
      <p:sp>
        <p:nvSpPr>
          <p:cNvPr id="14" name="Shape 11"/>
          <p:cNvSpPr/>
          <p:nvPr/>
        </p:nvSpPr>
        <p:spPr>
          <a:xfrm>
            <a:off x="514350" y="1250156"/>
            <a:ext cx="1964531" cy="0"/>
          </a:xfrm>
          <a:prstGeom prst="line">
            <a:avLst/>
          </a:prstGeom>
          <a:noFill/>
          <a:ln w="28575">
            <a:solidFill>
              <a:srgbClr val="0F5132"/>
            </a:solidFill>
            <a:prstDash val="solid"/>
          </a:ln>
        </p:spPr>
      </p:sp>
      <p:sp>
        <p:nvSpPr>
          <p:cNvPr id="15" name="Shape 12"/>
          <p:cNvSpPr/>
          <p:nvPr/>
        </p:nvSpPr>
        <p:spPr>
          <a:xfrm>
            <a:off x="2475309" y="1235869"/>
            <a:ext cx="0" cy="2891433"/>
          </a:xfrm>
          <a:prstGeom prst="line">
            <a:avLst/>
          </a:prstGeom>
          <a:noFill/>
          <a:ln w="7144">
            <a:solidFill>
              <a:srgbClr val="E5E0D5"/>
            </a:solidFill>
            <a:prstDash val="solid"/>
          </a:ln>
        </p:spPr>
      </p:sp>
      <p:sp>
        <p:nvSpPr>
          <p:cNvPr id="16" name="Shape 13"/>
          <p:cNvSpPr/>
          <p:nvPr/>
        </p:nvSpPr>
        <p:spPr>
          <a:xfrm>
            <a:off x="514350" y="4123730"/>
            <a:ext cx="1964531" cy="0"/>
          </a:xfrm>
          <a:prstGeom prst="line">
            <a:avLst/>
          </a:prstGeom>
          <a:noFill/>
          <a:ln w="7144">
            <a:solidFill>
              <a:srgbClr val="E5E0D5"/>
            </a:solidFill>
            <a:prstDash val="solid"/>
          </a:ln>
        </p:spPr>
      </p:sp>
      <p:sp>
        <p:nvSpPr>
          <p:cNvPr id="17" name="Shape 14"/>
          <p:cNvSpPr/>
          <p:nvPr/>
        </p:nvSpPr>
        <p:spPr>
          <a:xfrm>
            <a:off x="517922" y="1235869"/>
            <a:ext cx="0" cy="2891433"/>
          </a:xfrm>
          <a:prstGeom prst="line">
            <a:avLst/>
          </a:prstGeom>
          <a:noFill/>
          <a:ln w="7144">
            <a:solidFill>
              <a:srgbClr val="E5E0D5"/>
            </a:solidFill>
            <a:prstDash val="solid"/>
          </a:ln>
        </p:spPr>
      </p:sp>
      <p:sp>
        <p:nvSpPr>
          <p:cNvPr id="18" name="Text 15"/>
          <p:cNvSpPr/>
          <p:nvPr/>
        </p:nvSpPr>
        <p:spPr>
          <a:xfrm>
            <a:off x="2027597" y="1364456"/>
            <a:ext cx="3298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alpha val="70000"/>
                  </a:srgbClr>
                </a:solidFill>
                <a:latin typeface="Liberation Sans Narrow" pitchFamily="34" charset="0"/>
                <a:ea typeface="Liberation Sans Narrow" pitchFamily="34" charset="-122"/>
                <a:cs typeface="Liberation Sans Narrow" pitchFamily="34" charset="-120"/>
              </a:rPr>
              <a:t>CRIT. 01</a:t>
            </a:r>
            <a:endParaRPr lang="en-US" sz="800" dirty="0"/>
          </a:p>
        </p:txBody>
      </p:sp>
      <p:sp>
        <p:nvSpPr>
          <p:cNvPr id="19" name="Text 16"/>
          <p:cNvSpPr/>
          <p:nvPr/>
        </p:nvSpPr>
        <p:spPr>
          <a:xfrm>
            <a:off x="635794" y="1378744"/>
            <a:ext cx="314325" cy="314325"/>
          </a:xfrm>
          <a:prstGeom prst="roundRect">
            <a:avLst>
              <a:gd name="adj" fmla="val 36364"/>
            </a:avLst>
          </a:prstGeom>
          <a:solidFill>
            <a:srgbClr val="0F5132">
              <a:alpha val="10000"/>
            </a:srgbClr>
          </a:solidFill>
          <a:ln/>
        </p:spPr>
        <p:txBody>
          <a:bodyPr wrap="square" rtlCol="0" anchor="ctr"/>
          <a:lstStyle/>
          <a:p>
            <a:pPr indent="0" marL="0">
              <a:buNone/>
            </a:pPr>
            <a:endParaRPr lang="en-US" dirty="0"/>
          </a:p>
        </p:txBody>
      </p:sp>
      <p:sp>
        <p:nvSpPr>
          <p:cNvPr id="20" name="Text 17"/>
          <p:cNvSpPr/>
          <p:nvPr/>
        </p:nvSpPr>
        <p:spPr>
          <a:xfrm>
            <a:off x="668655" y="1411605"/>
            <a:ext cx="248602" cy="248602"/>
          </a:xfrm>
          <a:prstGeom prst="rect">
            <a:avLst/>
          </a:prstGeom>
          <a:noFill/>
          <a:ln/>
        </p:spPr>
        <p:txBody>
          <a:bodyPr wrap="none" lIns="0" tIns="0" rIns="0" bIns="0" rtlCol="0" anchor="ctr"/>
          <a:lstStyle/>
          <a:p>
            <a:pPr algn="ctr" indent="0" marL="0">
              <a:buNone/>
            </a:pPr>
            <a:r>
              <a:rPr lang="en-US" sz="1688" dirty="0">
                <a:solidFill>
                  <a:srgbClr val="0F5132"/>
                </a:solidFill>
                <a:latin typeface="Segoe UI Symbol" pitchFamily="34" charset="0"/>
                <a:ea typeface="Segoe UI Symbol" pitchFamily="34" charset="-122"/>
                <a:cs typeface="Segoe UI Symbol" pitchFamily="34" charset="-120"/>
              </a:rPr>
              <a:t>⚗</a:t>
            </a:r>
            <a:endParaRPr lang="en-US" sz="1688" dirty="0"/>
          </a:p>
        </p:txBody>
      </p:sp>
      <p:sp>
        <p:nvSpPr>
          <p:cNvPr id="21" name="Text 18"/>
          <p:cNvSpPr/>
          <p:nvPr/>
        </p:nvSpPr>
        <p:spPr>
          <a:xfrm>
            <a:off x="635794" y="1764506"/>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Pertinence scientifique</a:t>
            </a:r>
            <a:endParaRPr lang="en-US" sz="844" dirty="0"/>
          </a:p>
        </p:txBody>
      </p:sp>
      <p:sp>
        <p:nvSpPr>
          <p:cNvPr id="22" name="Text 19"/>
          <p:cNvSpPr/>
          <p:nvPr/>
        </p:nvSpPr>
        <p:spPr>
          <a:xfrm>
            <a:off x="613635" y="1984891"/>
            <a:ext cx="598294" cy="220028"/>
          </a:xfrm>
          <a:prstGeom prst="roundRect">
            <a:avLst>
              <a:gd name="adj" fmla="val 4324665"/>
            </a:avLst>
          </a:prstGeom>
          <a:solidFill>
            <a:srgbClr val="0F5132">
              <a:alpha val="10000"/>
            </a:srgbClr>
          </a:solidFill>
          <a:ln/>
        </p:spPr>
        <p:txBody>
          <a:bodyPr wrap="square" rtlCol="0" anchor="ctr"/>
          <a:lstStyle/>
          <a:p>
            <a:pPr indent="0" marL="0">
              <a:buNone/>
            </a:pPr>
            <a:endParaRPr lang="en-US" dirty="0"/>
          </a:p>
        </p:txBody>
      </p:sp>
      <p:sp>
        <p:nvSpPr>
          <p:cNvPr id="23" name="Text 20"/>
          <p:cNvSpPr/>
          <p:nvPr/>
        </p:nvSpPr>
        <p:spPr>
          <a:xfrm>
            <a:off x="635794" y="1996678"/>
            <a:ext cx="553975" cy="196453"/>
          </a:xfrm>
          <a:prstGeom prst="rect">
            <a:avLst/>
          </a:prstGeom>
          <a:noFill/>
          <a:ln/>
        </p:spPr>
        <p:txBody>
          <a:bodyPr wrap="none" lIns="0" tIns="0" rIns="0" bIns="0" rtlCol="0" anchor="ctr"/>
          <a:lstStyle/>
          <a:p>
            <a:pPr algn="ctr" indent="0" marL="0">
              <a:lnSpc>
                <a:spcPts val="1097"/>
              </a:lnSpc>
              <a:buNone/>
            </a:pPr>
            <a:r>
              <a:rPr lang="en-US" sz="800" b="1" spc="59" kern="0" dirty="0">
                <a:solidFill>
                  <a:srgbClr val="0F5132"/>
                </a:solidFill>
                <a:latin typeface="Carlito" pitchFamily="34" charset="0"/>
                <a:ea typeface="Carlito" pitchFamily="34" charset="-122"/>
                <a:cs typeface="Carlito" pitchFamily="34" charset="-120"/>
              </a:rPr>
              <a:t>ÉLEVÉE</a:t>
            </a:r>
            <a:endParaRPr lang="en-US" sz="800" dirty="0"/>
          </a:p>
        </p:txBody>
      </p:sp>
      <p:sp>
        <p:nvSpPr>
          <p:cNvPr id="24" name="Text 21"/>
          <p:cNvSpPr/>
          <p:nvPr/>
        </p:nvSpPr>
        <p:spPr>
          <a:xfrm>
            <a:off x="635794" y="2264569"/>
            <a:ext cx="1721644" cy="849796"/>
          </a:xfrm>
          <a:prstGeom prst="rect">
            <a:avLst/>
          </a:prstGeom>
          <a:noFill/>
          <a:ln/>
        </p:spPr>
        <p:txBody>
          <a:bodyPr wrap="square" lIns="0" tIns="0" rIns="0" bIns="0" rtlCol="0" anchor="t"/>
          <a:lstStyle/>
          <a:p>
            <a:pPr algn="l" indent="0" marL="0">
              <a:lnSpc>
                <a:spcPts val="1003"/>
              </a:lnSpc>
              <a:buNone/>
            </a:pPr>
            <a:r>
              <a:rPr lang="en-US" sz="800" dirty="0">
                <a:solidFill>
                  <a:srgbClr val="6B7C72"/>
                </a:solidFill>
                <a:latin typeface="Carlito" pitchFamily="34" charset="0"/>
                <a:ea typeface="Carlito" pitchFamily="34" charset="-122"/>
                <a:cs typeface="Carlito" pitchFamily="34" charset="-120"/>
              </a:rPr>
              <a:t>Projet directement lié à la santé publique togolaise, basé sur l'analyse du fichier officiel du Ministère de la Santé (1348 pharmacies). Réponse à une problématique documentée de retard d'accès aux médicaments.</a:t>
            </a:r>
            <a:endParaRPr lang="en-US" sz="800" dirty="0"/>
          </a:p>
        </p:txBody>
      </p:sp>
      <p:sp>
        <p:nvSpPr>
          <p:cNvPr id="25" name="Text 22"/>
          <p:cNvSpPr/>
          <p:nvPr/>
        </p:nvSpPr>
        <p:spPr>
          <a:xfrm>
            <a:off x="2564606" y="1235869"/>
            <a:ext cx="1964531" cy="2891433"/>
          </a:xfrm>
          <a:prstGeom prst="roundRect">
            <a:avLst>
              <a:gd name="adj" fmla="val 6788"/>
            </a:avLst>
          </a:prstGeom>
          <a:solidFill>
            <a:srgbClr val="FFFFFF"/>
          </a:solidFill>
          <a:ln/>
        </p:spPr>
        <p:txBody>
          <a:bodyPr wrap="square" rtlCol="0" anchor="ctr"/>
          <a:lstStyle/>
          <a:p>
            <a:pPr indent="0" marL="0">
              <a:buNone/>
            </a:pPr>
            <a:endParaRPr lang="en-US" dirty="0"/>
          </a:p>
        </p:txBody>
      </p:sp>
      <p:sp>
        <p:nvSpPr>
          <p:cNvPr id="26" name="Shape 23"/>
          <p:cNvSpPr/>
          <p:nvPr/>
        </p:nvSpPr>
        <p:spPr>
          <a:xfrm>
            <a:off x="2564606" y="1250156"/>
            <a:ext cx="1964531" cy="0"/>
          </a:xfrm>
          <a:prstGeom prst="line">
            <a:avLst/>
          </a:prstGeom>
          <a:noFill/>
          <a:ln w="28575">
            <a:solidFill>
              <a:srgbClr val="B89968"/>
            </a:solidFill>
            <a:prstDash val="solid"/>
          </a:ln>
        </p:spPr>
      </p:sp>
      <p:sp>
        <p:nvSpPr>
          <p:cNvPr id="27" name="Shape 24"/>
          <p:cNvSpPr/>
          <p:nvPr/>
        </p:nvSpPr>
        <p:spPr>
          <a:xfrm>
            <a:off x="4525566" y="1235869"/>
            <a:ext cx="0" cy="2891433"/>
          </a:xfrm>
          <a:prstGeom prst="line">
            <a:avLst/>
          </a:prstGeom>
          <a:noFill/>
          <a:ln w="7144">
            <a:solidFill>
              <a:srgbClr val="E5E0D5"/>
            </a:solidFill>
            <a:prstDash val="solid"/>
          </a:ln>
        </p:spPr>
      </p:sp>
      <p:sp>
        <p:nvSpPr>
          <p:cNvPr id="28" name="Shape 25"/>
          <p:cNvSpPr/>
          <p:nvPr/>
        </p:nvSpPr>
        <p:spPr>
          <a:xfrm>
            <a:off x="2564606" y="4123730"/>
            <a:ext cx="1964531" cy="0"/>
          </a:xfrm>
          <a:prstGeom prst="line">
            <a:avLst/>
          </a:prstGeom>
          <a:noFill/>
          <a:ln w="7144">
            <a:solidFill>
              <a:srgbClr val="E5E0D5"/>
            </a:solidFill>
            <a:prstDash val="solid"/>
          </a:ln>
        </p:spPr>
      </p:sp>
      <p:sp>
        <p:nvSpPr>
          <p:cNvPr id="29" name="Shape 26"/>
          <p:cNvSpPr/>
          <p:nvPr/>
        </p:nvSpPr>
        <p:spPr>
          <a:xfrm>
            <a:off x="2568178" y="1235869"/>
            <a:ext cx="0" cy="2891433"/>
          </a:xfrm>
          <a:prstGeom prst="line">
            <a:avLst/>
          </a:prstGeom>
          <a:noFill/>
          <a:ln w="7144">
            <a:solidFill>
              <a:srgbClr val="E5E0D5"/>
            </a:solidFill>
            <a:prstDash val="solid"/>
          </a:ln>
        </p:spPr>
      </p:sp>
      <p:sp>
        <p:nvSpPr>
          <p:cNvPr id="30" name="Text 27"/>
          <p:cNvSpPr/>
          <p:nvPr/>
        </p:nvSpPr>
        <p:spPr>
          <a:xfrm>
            <a:off x="4077853" y="1364456"/>
            <a:ext cx="3298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alpha val="70000"/>
                  </a:srgbClr>
                </a:solidFill>
                <a:latin typeface="Liberation Sans Narrow" pitchFamily="34" charset="0"/>
                <a:ea typeface="Liberation Sans Narrow" pitchFamily="34" charset="-122"/>
                <a:cs typeface="Liberation Sans Narrow" pitchFamily="34" charset="-120"/>
              </a:rPr>
              <a:t>CRIT. 02</a:t>
            </a:r>
            <a:endParaRPr lang="en-US" sz="800" dirty="0"/>
          </a:p>
        </p:txBody>
      </p:sp>
      <p:sp>
        <p:nvSpPr>
          <p:cNvPr id="31" name="Text 28"/>
          <p:cNvSpPr/>
          <p:nvPr/>
        </p:nvSpPr>
        <p:spPr>
          <a:xfrm>
            <a:off x="2686050" y="1378744"/>
            <a:ext cx="314325" cy="314325"/>
          </a:xfrm>
          <a:prstGeom prst="roundRect">
            <a:avLst>
              <a:gd name="adj" fmla="val 36364"/>
            </a:avLst>
          </a:prstGeom>
          <a:solidFill>
            <a:srgbClr val="B89968">
              <a:alpha val="14000"/>
            </a:srgbClr>
          </a:solidFill>
          <a:ln/>
        </p:spPr>
        <p:txBody>
          <a:bodyPr wrap="square" rtlCol="0" anchor="ctr"/>
          <a:lstStyle/>
          <a:p>
            <a:pPr indent="0" marL="0">
              <a:buNone/>
            </a:pPr>
            <a:endParaRPr lang="en-US" dirty="0"/>
          </a:p>
        </p:txBody>
      </p:sp>
      <p:sp>
        <p:nvSpPr>
          <p:cNvPr id="32" name="Text 29"/>
          <p:cNvSpPr/>
          <p:nvPr/>
        </p:nvSpPr>
        <p:spPr>
          <a:xfrm>
            <a:off x="2718911" y="1411605"/>
            <a:ext cx="248602" cy="248602"/>
          </a:xfrm>
          <a:prstGeom prst="rect">
            <a:avLst/>
          </a:prstGeom>
          <a:noFill/>
          <a:ln/>
        </p:spPr>
        <p:txBody>
          <a:bodyPr wrap="none" lIns="0" tIns="0" rIns="0" bIns="0" rtlCol="0" anchor="ctr"/>
          <a:lstStyle/>
          <a:p>
            <a:pPr algn="ctr" indent="0" marL="0">
              <a:buNone/>
            </a:pPr>
            <a:r>
              <a:rPr lang="en-US" sz="1688" dirty="0">
                <a:solidFill>
                  <a:srgbClr val="B89968"/>
                </a:solidFill>
                <a:latin typeface="Segoe UI Symbol" pitchFamily="34" charset="0"/>
                <a:ea typeface="Segoe UI Symbol" pitchFamily="34" charset="-122"/>
                <a:cs typeface="Segoe UI Symbol" pitchFamily="34" charset="-120"/>
              </a:rPr>
              <a:t>⚒</a:t>
            </a:r>
            <a:endParaRPr lang="en-US" sz="1688" dirty="0"/>
          </a:p>
        </p:txBody>
      </p:sp>
      <p:sp>
        <p:nvSpPr>
          <p:cNvPr id="33" name="Text 30"/>
          <p:cNvSpPr/>
          <p:nvPr/>
        </p:nvSpPr>
        <p:spPr>
          <a:xfrm>
            <a:off x="2686050" y="1764506"/>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Faisabilité</a:t>
            </a:r>
            <a:endParaRPr lang="en-US" sz="844" dirty="0"/>
          </a:p>
        </p:txBody>
      </p:sp>
      <p:sp>
        <p:nvSpPr>
          <p:cNvPr id="34" name="Text 31"/>
          <p:cNvSpPr/>
          <p:nvPr/>
        </p:nvSpPr>
        <p:spPr>
          <a:xfrm>
            <a:off x="2663190" y="1984891"/>
            <a:ext cx="848834" cy="220028"/>
          </a:xfrm>
          <a:prstGeom prst="roundRect">
            <a:avLst>
              <a:gd name="adj" fmla="val 4324665"/>
            </a:avLst>
          </a:prstGeom>
          <a:solidFill>
            <a:srgbClr val="B89968">
              <a:alpha val="14000"/>
            </a:srgbClr>
          </a:solidFill>
          <a:ln/>
        </p:spPr>
        <p:txBody>
          <a:bodyPr wrap="square" rtlCol="0" anchor="ctr"/>
          <a:lstStyle/>
          <a:p>
            <a:pPr indent="0" marL="0">
              <a:buNone/>
            </a:pPr>
            <a:endParaRPr lang="en-US" dirty="0"/>
          </a:p>
        </p:txBody>
      </p:sp>
      <p:sp>
        <p:nvSpPr>
          <p:cNvPr id="35" name="Text 32"/>
          <p:cNvSpPr/>
          <p:nvPr/>
        </p:nvSpPr>
        <p:spPr>
          <a:xfrm>
            <a:off x="2686050" y="1996678"/>
            <a:ext cx="803114" cy="196453"/>
          </a:xfrm>
          <a:prstGeom prst="rect">
            <a:avLst/>
          </a:prstGeom>
          <a:noFill/>
          <a:ln/>
        </p:spPr>
        <p:txBody>
          <a:bodyPr wrap="none" lIns="0" tIns="0" rIns="0" bIns="0" rtlCol="0" anchor="ctr"/>
          <a:lstStyle/>
          <a:p>
            <a:pPr algn="ctr" indent="0" marL="0">
              <a:lnSpc>
                <a:spcPts val="1097"/>
              </a:lnSpc>
              <a:buNone/>
            </a:pPr>
            <a:r>
              <a:rPr lang="en-US" sz="800" b="1" spc="59" kern="0" dirty="0">
                <a:solidFill>
                  <a:srgbClr val="B89968"/>
                </a:solidFill>
                <a:latin typeface="Carlito" pitchFamily="34" charset="0"/>
                <a:ea typeface="Carlito" pitchFamily="34" charset="-122"/>
                <a:cs typeface="Carlito" pitchFamily="34" charset="-120"/>
              </a:rPr>
              <a:t>DÉMONTRÉE</a:t>
            </a:r>
            <a:endParaRPr lang="en-US" sz="800" dirty="0"/>
          </a:p>
        </p:txBody>
      </p:sp>
      <p:sp>
        <p:nvSpPr>
          <p:cNvPr id="36" name="Text 33"/>
          <p:cNvSpPr/>
          <p:nvPr/>
        </p:nvSpPr>
        <p:spPr>
          <a:xfrm>
            <a:off x="2686050" y="2264569"/>
            <a:ext cx="1721644" cy="679837"/>
          </a:xfrm>
          <a:prstGeom prst="rect">
            <a:avLst/>
          </a:prstGeom>
          <a:noFill/>
          <a:ln/>
        </p:spPr>
        <p:txBody>
          <a:bodyPr wrap="square" lIns="0" tIns="0" rIns="0" bIns="0" rtlCol="0" anchor="t"/>
          <a:lstStyle/>
          <a:p>
            <a:pPr algn="l" indent="0" marL="0">
              <a:lnSpc>
                <a:spcPts val="1003"/>
              </a:lnSpc>
              <a:buNone/>
            </a:pPr>
            <a:r>
              <a:rPr lang="en-US" sz="800" dirty="0">
                <a:solidFill>
                  <a:srgbClr val="6B7C72"/>
                </a:solidFill>
                <a:latin typeface="Carlito" pitchFamily="34" charset="0"/>
                <a:ea typeface="Carlito" pitchFamily="34" charset="-122"/>
                <a:cs typeface="Carlito" pitchFamily="34" charset="-120"/>
              </a:rPr>
              <a:t>Plateforme déjà déployée en production sur Vercel + Supabase. Code source versionné sur GitHub. Documentation technique complète. Architecture scalable et maintenable.</a:t>
            </a:r>
            <a:endParaRPr lang="en-US" sz="800" dirty="0"/>
          </a:p>
        </p:txBody>
      </p:sp>
      <p:sp>
        <p:nvSpPr>
          <p:cNvPr id="37" name="Text 34"/>
          <p:cNvSpPr/>
          <p:nvPr/>
        </p:nvSpPr>
        <p:spPr>
          <a:xfrm>
            <a:off x="4614863" y="1235869"/>
            <a:ext cx="1964531" cy="2891433"/>
          </a:xfrm>
          <a:prstGeom prst="roundRect">
            <a:avLst>
              <a:gd name="adj" fmla="val 6788"/>
            </a:avLst>
          </a:prstGeom>
          <a:solidFill>
            <a:srgbClr val="FFFFFF"/>
          </a:solidFill>
          <a:ln/>
        </p:spPr>
        <p:txBody>
          <a:bodyPr wrap="square" rtlCol="0" anchor="ctr"/>
          <a:lstStyle/>
          <a:p>
            <a:pPr indent="0" marL="0">
              <a:buNone/>
            </a:pPr>
            <a:endParaRPr lang="en-US" dirty="0"/>
          </a:p>
        </p:txBody>
      </p:sp>
      <p:sp>
        <p:nvSpPr>
          <p:cNvPr id="38" name="Shape 35"/>
          <p:cNvSpPr/>
          <p:nvPr/>
        </p:nvSpPr>
        <p:spPr>
          <a:xfrm>
            <a:off x="4614863" y="1250156"/>
            <a:ext cx="1964531" cy="0"/>
          </a:xfrm>
          <a:prstGeom prst="line">
            <a:avLst/>
          </a:prstGeom>
          <a:noFill/>
          <a:ln w="28575">
            <a:solidFill>
              <a:srgbClr val="0F5132"/>
            </a:solidFill>
            <a:prstDash val="solid"/>
          </a:ln>
        </p:spPr>
      </p:sp>
      <p:sp>
        <p:nvSpPr>
          <p:cNvPr id="39" name="Shape 36"/>
          <p:cNvSpPr/>
          <p:nvPr/>
        </p:nvSpPr>
        <p:spPr>
          <a:xfrm>
            <a:off x="6575822" y="1235869"/>
            <a:ext cx="0" cy="2891433"/>
          </a:xfrm>
          <a:prstGeom prst="line">
            <a:avLst/>
          </a:prstGeom>
          <a:noFill/>
          <a:ln w="7144">
            <a:solidFill>
              <a:srgbClr val="E5E0D5"/>
            </a:solidFill>
            <a:prstDash val="solid"/>
          </a:ln>
        </p:spPr>
      </p:sp>
      <p:sp>
        <p:nvSpPr>
          <p:cNvPr id="40" name="Shape 37"/>
          <p:cNvSpPr/>
          <p:nvPr/>
        </p:nvSpPr>
        <p:spPr>
          <a:xfrm>
            <a:off x="4614863" y="4123730"/>
            <a:ext cx="1964531" cy="0"/>
          </a:xfrm>
          <a:prstGeom prst="line">
            <a:avLst/>
          </a:prstGeom>
          <a:noFill/>
          <a:ln w="7144">
            <a:solidFill>
              <a:srgbClr val="E5E0D5"/>
            </a:solidFill>
            <a:prstDash val="solid"/>
          </a:ln>
        </p:spPr>
      </p:sp>
      <p:sp>
        <p:nvSpPr>
          <p:cNvPr id="41" name="Shape 38"/>
          <p:cNvSpPr/>
          <p:nvPr/>
        </p:nvSpPr>
        <p:spPr>
          <a:xfrm>
            <a:off x="4618434" y="1235869"/>
            <a:ext cx="0" cy="2891433"/>
          </a:xfrm>
          <a:prstGeom prst="line">
            <a:avLst/>
          </a:prstGeom>
          <a:noFill/>
          <a:ln w="7144">
            <a:solidFill>
              <a:srgbClr val="E5E0D5"/>
            </a:solidFill>
            <a:prstDash val="solid"/>
          </a:ln>
        </p:spPr>
      </p:sp>
      <p:sp>
        <p:nvSpPr>
          <p:cNvPr id="42" name="Text 39"/>
          <p:cNvSpPr/>
          <p:nvPr/>
        </p:nvSpPr>
        <p:spPr>
          <a:xfrm>
            <a:off x="6128110" y="1364456"/>
            <a:ext cx="3298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alpha val="70000"/>
                  </a:srgbClr>
                </a:solidFill>
                <a:latin typeface="Liberation Sans Narrow" pitchFamily="34" charset="0"/>
                <a:ea typeface="Liberation Sans Narrow" pitchFamily="34" charset="-122"/>
                <a:cs typeface="Liberation Sans Narrow" pitchFamily="34" charset="-120"/>
              </a:rPr>
              <a:t>CRIT. 03</a:t>
            </a:r>
            <a:endParaRPr lang="en-US" sz="800" dirty="0"/>
          </a:p>
        </p:txBody>
      </p:sp>
      <p:sp>
        <p:nvSpPr>
          <p:cNvPr id="43" name="Text 40"/>
          <p:cNvSpPr/>
          <p:nvPr/>
        </p:nvSpPr>
        <p:spPr>
          <a:xfrm>
            <a:off x="4736306" y="1378744"/>
            <a:ext cx="314325" cy="314325"/>
          </a:xfrm>
          <a:prstGeom prst="roundRect">
            <a:avLst>
              <a:gd name="adj" fmla="val 36364"/>
            </a:avLst>
          </a:prstGeom>
          <a:solidFill>
            <a:srgbClr val="0F5132">
              <a:alpha val="10000"/>
            </a:srgbClr>
          </a:solidFill>
          <a:ln/>
        </p:spPr>
        <p:txBody>
          <a:bodyPr wrap="square" rtlCol="0" anchor="ctr"/>
          <a:lstStyle/>
          <a:p>
            <a:pPr indent="0" marL="0">
              <a:buNone/>
            </a:pPr>
            <a:endParaRPr lang="en-US" dirty="0"/>
          </a:p>
        </p:txBody>
      </p:sp>
      <p:sp>
        <p:nvSpPr>
          <p:cNvPr id="44" name="Text 41"/>
          <p:cNvSpPr/>
          <p:nvPr/>
        </p:nvSpPr>
        <p:spPr>
          <a:xfrm>
            <a:off x="4769168" y="1411605"/>
            <a:ext cx="248602" cy="248602"/>
          </a:xfrm>
          <a:prstGeom prst="rect">
            <a:avLst/>
          </a:prstGeom>
          <a:noFill/>
          <a:ln/>
        </p:spPr>
        <p:txBody>
          <a:bodyPr wrap="none" lIns="0" tIns="0" rIns="0" bIns="0" rtlCol="0" anchor="ctr"/>
          <a:lstStyle/>
          <a:p>
            <a:pPr algn="ctr" indent="0" marL="0">
              <a:buNone/>
            </a:pPr>
            <a:r>
              <a:rPr lang="en-US" sz="1688" dirty="0">
                <a:solidFill>
                  <a:srgbClr val="0F5132"/>
                </a:solidFill>
                <a:latin typeface="Segoe UI Symbol" pitchFamily="34" charset="0"/>
                <a:ea typeface="Segoe UI Symbol" pitchFamily="34" charset="-122"/>
                <a:cs typeface="Segoe UI Symbol" pitchFamily="34" charset="-120"/>
              </a:rPr>
              <a:t>◯</a:t>
            </a:r>
            <a:endParaRPr lang="en-US" sz="1688" dirty="0"/>
          </a:p>
        </p:txBody>
      </p:sp>
      <p:sp>
        <p:nvSpPr>
          <p:cNvPr id="45" name="Text 42"/>
          <p:cNvSpPr/>
          <p:nvPr/>
        </p:nvSpPr>
        <p:spPr>
          <a:xfrm>
            <a:off x="4736306" y="1764506"/>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Impact santé publique</a:t>
            </a:r>
            <a:endParaRPr lang="en-US" sz="844" dirty="0"/>
          </a:p>
        </p:txBody>
      </p:sp>
      <p:sp>
        <p:nvSpPr>
          <p:cNvPr id="46" name="Text 43"/>
          <p:cNvSpPr/>
          <p:nvPr/>
        </p:nvSpPr>
        <p:spPr>
          <a:xfrm>
            <a:off x="4713446" y="1984891"/>
            <a:ext cx="625368" cy="220028"/>
          </a:xfrm>
          <a:prstGeom prst="roundRect">
            <a:avLst>
              <a:gd name="adj" fmla="val 4324665"/>
            </a:avLst>
          </a:prstGeom>
          <a:solidFill>
            <a:srgbClr val="0F5132">
              <a:alpha val="10000"/>
            </a:srgbClr>
          </a:solidFill>
          <a:ln/>
        </p:spPr>
        <p:txBody>
          <a:bodyPr wrap="square" rtlCol="0" anchor="ctr"/>
          <a:lstStyle/>
          <a:p>
            <a:pPr indent="0" marL="0">
              <a:buNone/>
            </a:pPr>
            <a:endParaRPr lang="en-US" dirty="0"/>
          </a:p>
        </p:txBody>
      </p:sp>
      <p:sp>
        <p:nvSpPr>
          <p:cNvPr id="47" name="Text 44"/>
          <p:cNvSpPr/>
          <p:nvPr/>
        </p:nvSpPr>
        <p:spPr>
          <a:xfrm>
            <a:off x="4736306" y="1996678"/>
            <a:ext cx="579648" cy="196453"/>
          </a:xfrm>
          <a:prstGeom prst="rect">
            <a:avLst/>
          </a:prstGeom>
          <a:noFill/>
          <a:ln/>
        </p:spPr>
        <p:txBody>
          <a:bodyPr wrap="none" lIns="0" tIns="0" rIns="0" bIns="0" rtlCol="0" anchor="ctr"/>
          <a:lstStyle/>
          <a:p>
            <a:pPr algn="ctr" indent="0" marL="0">
              <a:lnSpc>
                <a:spcPts val="1097"/>
              </a:lnSpc>
              <a:buNone/>
            </a:pPr>
            <a:r>
              <a:rPr lang="en-US" sz="800" b="1" spc="59" kern="0" dirty="0">
                <a:solidFill>
                  <a:srgbClr val="0F5132"/>
                </a:solidFill>
                <a:latin typeface="Carlito" pitchFamily="34" charset="0"/>
                <a:ea typeface="Carlito" pitchFamily="34" charset="-122"/>
                <a:cs typeface="Carlito" pitchFamily="34" charset="-120"/>
              </a:rPr>
              <a:t>MAJEUR</a:t>
            </a:r>
            <a:endParaRPr lang="en-US" sz="800" dirty="0"/>
          </a:p>
        </p:txBody>
      </p:sp>
      <p:sp>
        <p:nvSpPr>
          <p:cNvPr id="48" name="Text 45"/>
          <p:cNvSpPr/>
          <p:nvPr/>
        </p:nvSpPr>
        <p:spPr>
          <a:xfrm>
            <a:off x="4736306" y="2264569"/>
            <a:ext cx="1721644" cy="849796"/>
          </a:xfrm>
          <a:prstGeom prst="rect">
            <a:avLst/>
          </a:prstGeom>
          <a:noFill/>
          <a:ln/>
        </p:spPr>
        <p:txBody>
          <a:bodyPr wrap="square" lIns="0" tIns="0" rIns="0" bIns="0" rtlCol="0" anchor="t"/>
          <a:lstStyle/>
          <a:p>
            <a:pPr algn="l" indent="0" marL="0">
              <a:lnSpc>
                <a:spcPts val="1003"/>
              </a:lnSpc>
              <a:buNone/>
            </a:pPr>
            <a:r>
              <a:rPr lang="en-US" sz="800" dirty="0">
                <a:solidFill>
                  <a:srgbClr val="6B7C72"/>
                </a:solidFill>
                <a:latin typeface="Carlito" pitchFamily="34" charset="0"/>
                <a:ea typeface="Carlito" pitchFamily="34" charset="-122"/>
                <a:cs typeface="Carlito" pitchFamily="34" charset="-120"/>
              </a:rPr>
              <a:t>Réduction estimée de 90% du délai patient-pharmacie. Couverture nationale (7 villes). Confidentialité des données patients garantie par auto-suppression. Innovation frugale adaptable à la sous-région.</a:t>
            </a:r>
            <a:endParaRPr lang="en-US" sz="800" dirty="0"/>
          </a:p>
        </p:txBody>
      </p:sp>
      <p:sp>
        <p:nvSpPr>
          <p:cNvPr id="49" name="Text 46"/>
          <p:cNvSpPr/>
          <p:nvPr/>
        </p:nvSpPr>
        <p:spPr>
          <a:xfrm>
            <a:off x="6665119" y="1235869"/>
            <a:ext cx="1964531" cy="2891433"/>
          </a:xfrm>
          <a:prstGeom prst="roundRect">
            <a:avLst>
              <a:gd name="adj" fmla="val 6788"/>
            </a:avLst>
          </a:prstGeom>
          <a:solidFill>
            <a:srgbClr val="FFFFFF"/>
          </a:solidFill>
          <a:ln/>
        </p:spPr>
        <p:txBody>
          <a:bodyPr wrap="square" rtlCol="0" anchor="ctr"/>
          <a:lstStyle/>
          <a:p>
            <a:pPr indent="0" marL="0">
              <a:buNone/>
            </a:pPr>
            <a:endParaRPr lang="en-US" dirty="0"/>
          </a:p>
        </p:txBody>
      </p:sp>
      <p:sp>
        <p:nvSpPr>
          <p:cNvPr id="50" name="Shape 47"/>
          <p:cNvSpPr/>
          <p:nvPr/>
        </p:nvSpPr>
        <p:spPr>
          <a:xfrm>
            <a:off x="6665119" y="1250156"/>
            <a:ext cx="1964531" cy="0"/>
          </a:xfrm>
          <a:prstGeom prst="line">
            <a:avLst/>
          </a:prstGeom>
          <a:noFill/>
          <a:ln w="28575">
            <a:solidFill>
              <a:srgbClr val="B89968"/>
            </a:solidFill>
            <a:prstDash val="solid"/>
          </a:ln>
        </p:spPr>
      </p:sp>
      <p:sp>
        <p:nvSpPr>
          <p:cNvPr id="51" name="Shape 48"/>
          <p:cNvSpPr/>
          <p:nvPr/>
        </p:nvSpPr>
        <p:spPr>
          <a:xfrm>
            <a:off x="8626078" y="1235869"/>
            <a:ext cx="0" cy="2891433"/>
          </a:xfrm>
          <a:prstGeom prst="line">
            <a:avLst/>
          </a:prstGeom>
          <a:noFill/>
          <a:ln w="7144">
            <a:solidFill>
              <a:srgbClr val="E5E0D5"/>
            </a:solidFill>
            <a:prstDash val="solid"/>
          </a:ln>
        </p:spPr>
      </p:sp>
      <p:sp>
        <p:nvSpPr>
          <p:cNvPr id="52" name="Shape 49"/>
          <p:cNvSpPr/>
          <p:nvPr/>
        </p:nvSpPr>
        <p:spPr>
          <a:xfrm>
            <a:off x="6665119" y="4123730"/>
            <a:ext cx="1964531" cy="0"/>
          </a:xfrm>
          <a:prstGeom prst="line">
            <a:avLst/>
          </a:prstGeom>
          <a:noFill/>
          <a:ln w="7144">
            <a:solidFill>
              <a:srgbClr val="E5E0D5"/>
            </a:solidFill>
            <a:prstDash val="solid"/>
          </a:ln>
        </p:spPr>
      </p:sp>
      <p:sp>
        <p:nvSpPr>
          <p:cNvPr id="53" name="Shape 50"/>
          <p:cNvSpPr/>
          <p:nvPr/>
        </p:nvSpPr>
        <p:spPr>
          <a:xfrm>
            <a:off x="6668691" y="1235869"/>
            <a:ext cx="0" cy="2891433"/>
          </a:xfrm>
          <a:prstGeom prst="line">
            <a:avLst/>
          </a:prstGeom>
          <a:noFill/>
          <a:ln w="7144">
            <a:solidFill>
              <a:srgbClr val="E5E0D5"/>
            </a:solidFill>
            <a:prstDash val="solid"/>
          </a:ln>
        </p:spPr>
      </p:sp>
      <p:sp>
        <p:nvSpPr>
          <p:cNvPr id="54" name="Text 51"/>
          <p:cNvSpPr/>
          <p:nvPr/>
        </p:nvSpPr>
        <p:spPr>
          <a:xfrm>
            <a:off x="8178366" y="1364456"/>
            <a:ext cx="329840" cy="164592"/>
          </a:xfrm>
          <a:prstGeom prst="rect">
            <a:avLst/>
          </a:prstGeom>
          <a:noFill/>
          <a:ln/>
        </p:spPr>
        <p:txBody>
          <a:bodyPr wrap="square" lIns="0" tIns="0" rIns="0" bIns="0" rtlCol="0" anchor="t"/>
          <a:lstStyle/>
          <a:p>
            <a:pPr algn="l" indent="0" marL="0">
              <a:lnSpc>
                <a:spcPts val="844"/>
              </a:lnSpc>
              <a:buNone/>
            </a:pPr>
            <a:r>
              <a:rPr lang="en-US" sz="800" dirty="0">
                <a:solidFill>
                  <a:srgbClr val="6B7C72">
                    <a:alpha val="70000"/>
                  </a:srgbClr>
                </a:solidFill>
                <a:latin typeface="Liberation Sans Narrow" pitchFamily="34" charset="0"/>
                <a:ea typeface="Liberation Sans Narrow" pitchFamily="34" charset="-122"/>
                <a:cs typeface="Liberation Sans Narrow" pitchFamily="34" charset="-120"/>
              </a:rPr>
              <a:t>CRIT. 04</a:t>
            </a:r>
            <a:endParaRPr lang="en-US" sz="800" dirty="0"/>
          </a:p>
        </p:txBody>
      </p:sp>
      <p:sp>
        <p:nvSpPr>
          <p:cNvPr id="55" name="Text 52"/>
          <p:cNvSpPr/>
          <p:nvPr/>
        </p:nvSpPr>
        <p:spPr>
          <a:xfrm>
            <a:off x="6786563" y="1378744"/>
            <a:ext cx="314325" cy="314325"/>
          </a:xfrm>
          <a:prstGeom prst="roundRect">
            <a:avLst>
              <a:gd name="adj" fmla="val 36364"/>
            </a:avLst>
          </a:prstGeom>
          <a:solidFill>
            <a:srgbClr val="B89968">
              <a:alpha val="14000"/>
            </a:srgbClr>
          </a:solidFill>
          <a:ln/>
        </p:spPr>
        <p:txBody>
          <a:bodyPr wrap="square" rtlCol="0" anchor="ctr"/>
          <a:lstStyle/>
          <a:p>
            <a:pPr indent="0" marL="0">
              <a:buNone/>
            </a:pPr>
            <a:endParaRPr lang="en-US" dirty="0"/>
          </a:p>
        </p:txBody>
      </p:sp>
      <p:sp>
        <p:nvSpPr>
          <p:cNvPr id="56" name="Text 53"/>
          <p:cNvSpPr/>
          <p:nvPr/>
        </p:nvSpPr>
        <p:spPr>
          <a:xfrm>
            <a:off x="6819424" y="1411605"/>
            <a:ext cx="248602" cy="248602"/>
          </a:xfrm>
          <a:prstGeom prst="rect">
            <a:avLst/>
          </a:prstGeom>
          <a:noFill/>
          <a:ln/>
        </p:spPr>
        <p:txBody>
          <a:bodyPr wrap="none" lIns="0" tIns="0" rIns="0" bIns="0" rtlCol="0" anchor="ctr"/>
          <a:lstStyle/>
          <a:p>
            <a:pPr algn="ctr" indent="0" marL="0">
              <a:buNone/>
            </a:pPr>
            <a:r>
              <a:rPr lang="en-US" sz="1688" dirty="0">
                <a:solidFill>
                  <a:srgbClr val="B89968"/>
                </a:solidFill>
                <a:latin typeface="Segoe UI Symbol" pitchFamily="34" charset="0"/>
                <a:ea typeface="Segoe UI Symbol" pitchFamily="34" charset="-122"/>
                <a:cs typeface="Segoe UI Symbol" pitchFamily="34" charset="-120"/>
              </a:rPr>
              <a:t>✦</a:t>
            </a:r>
            <a:endParaRPr lang="en-US" sz="1688" dirty="0"/>
          </a:p>
        </p:txBody>
      </p:sp>
      <p:sp>
        <p:nvSpPr>
          <p:cNvPr id="57" name="Text 54"/>
          <p:cNvSpPr/>
          <p:nvPr/>
        </p:nvSpPr>
        <p:spPr>
          <a:xfrm>
            <a:off x="6786563" y="1764506"/>
            <a:ext cx="1721644" cy="173593"/>
          </a:xfrm>
          <a:prstGeom prst="rect">
            <a:avLst/>
          </a:prstGeom>
          <a:noFill/>
          <a:ln/>
        </p:spPr>
        <p:txBody>
          <a:bodyPr wrap="none" lIns="0" tIns="0" rIns="0" bIns="0" rtlCol="0" anchor="t"/>
          <a:lstStyle/>
          <a:p>
            <a:pPr algn="l" indent="0" marL="0">
              <a:lnSpc>
                <a:spcPts val="1266"/>
              </a:lnSpc>
              <a:buNone/>
            </a:pPr>
            <a:r>
              <a:rPr lang="en-US" sz="844" b="1" spc="-8" kern="0" dirty="0">
                <a:solidFill>
                  <a:srgbClr val="1A2B22"/>
                </a:solidFill>
                <a:latin typeface="Carlito" pitchFamily="34" charset="0"/>
                <a:ea typeface="Carlito" pitchFamily="34" charset="-122"/>
                <a:cs typeface="Carlito" pitchFamily="34" charset="-120"/>
              </a:rPr>
              <a:t>Qualité présentation</a:t>
            </a:r>
            <a:endParaRPr lang="en-US" sz="844" dirty="0"/>
          </a:p>
        </p:txBody>
      </p:sp>
      <p:sp>
        <p:nvSpPr>
          <p:cNvPr id="58" name="Text 55"/>
          <p:cNvSpPr/>
          <p:nvPr/>
        </p:nvSpPr>
        <p:spPr>
          <a:xfrm>
            <a:off x="6763703" y="1984891"/>
            <a:ext cx="1213388" cy="220028"/>
          </a:xfrm>
          <a:prstGeom prst="roundRect">
            <a:avLst>
              <a:gd name="adj" fmla="val 4324665"/>
            </a:avLst>
          </a:prstGeom>
          <a:solidFill>
            <a:srgbClr val="B89968">
              <a:alpha val="14000"/>
            </a:srgbClr>
          </a:solidFill>
          <a:ln/>
        </p:spPr>
        <p:txBody>
          <a:bodyPr wrap="square" rtlCol="0" anchor="ctr"/>
          <a:lstStyle/>
          <a:p>
            <a:pPr indent="0" marL="0">
              <a:buNone/>
            </a:pPr>
            <a:endParaRPr lang="en-US" dirty="0"/>
          </a:p>
        </p:txBody>
      </p:sp>
      <p:sp>
        <p:nvSpPr>
          <p:cNvPr id="59" name="Text 56"/>
          <p:cNvSpPr/>
          <p:nvPr/>
        </p:nvSpPr>
        <p:spPr>
          <a:xfrm>
            <a:off x="6786563" y="1996678"/>
            <a:ext cx="1167668" cy="196453"/>
          </a:xfrm>
          <a:prstGeom prst="rect">
            <a:avLst/>
          </a:prstGeom>
          <a:noFill/>
          <a:ln/>
        </p:spPr>
        <p:txBody>
          <a:bodyPr wrap="none" lIns="0" tIns="0" rIns="0" bIns="0" rtlCol="0" anchor="ctr"/>
          <a:lstStyle/>
          <a:p>
            <a:pPr algn="ctr" indent="0" marL="0">
              <a:lnSpc>
                <a:spcPts val="1097"/>
              </a:lnSpc>
              <a:buNone/>
            </a:pPr>
            <a:r>
              <a:rPr lang="en-US" sz="800" b="1" spc="59" kern="0" dirty="0">
                <a:solidFill>
                  <a:srgbClr val="B89968"/>
                </a:solidFill>
                <a:latin typeface="Carlito" pitchFamily="34" charset="0"/>
                <a:ea typeface="Carlito" pitchFamily="34" charset="-122"/>
                <a:cs typeface="Carlito" pitchFamily="34" charset="-120"/>
              </a:rPr>
              <a:t>PROFESSIONNELLE</a:t>
            </a:r>
            <a:endParaRPr lang="en-US" sz="800" dirty="0"/>
          </a:p>
        </p:txBody>
      </p:sp>
      <p:sp>
        <p:nvSpPr>
          <p:cNvPr id="60" name="Text 57"/>
          <p:cNvSpPr/>
          <p:nvPr/>
        </p:nvSpPr>
        <p:spPr>
          <a:xfrm>
            <a:off x="6786563" y="2264569"/>
            <a:ext cx="1721644" cy="679837"/>
          </a:xfrm>
          <a:prstGeom prst="rect">
            <a:avLst/>
          </a:prstGeom>
          <a:noFill/>
          <a:ln/>
        </p:spPr>
        <p:txBody>
          <a:bodyPr wrap="square" lIns="0" tIns="0" rIns="0" bIns="0" rtlCol="0" anchor="t"/>
          <a:lstStyle/>
          <a:p>
            <a:pPr algn="l" indent="0" marL="0">
              <a:lnSpc>
                <a:spcPts val="1003"/>
              </a:lnSpc>
              <a:buNone/>
            </a:pPr>
            <a:r>
              <a:rPr lang="en-US" sz="800" dirty="0">
                <a:solidFill>
                  <a:srgbClr val="6B7C72"/>
                </a:solidFill>
                <a:latin typeface="Carlito" pitchFamily="34" charset="0"/>
                <a:ea typeface="Carlito" pitchFamily="34" charset="-122"/>
                <a:cs typeface="Carlito" pitchFamily="34" charset="-120"/>
              </a:rPr>
              <a:t>Design sobre et institutionnel. Identité visuelle africaine subtile (Kente, Adinkra). UX testée sur desktop et mobile. Code propre, lint 0 erreur, 100% TypeScript.</a:t>
            </a:r>
            <a:endParaRPr lang="en-US" sz="800" dirty="0"/>
          </a:p>
        </p:txBody>
      </p:sp>
      <p:sp>
        <p:nvSpPr>
          <p:cNvPr id="61" name="Text 58"/>
          <p:cNvSpPr/>
          <p:nvPr/>
        </p:nvSpPr>
        <p:spPr>
          <a:xfrm>
            <a:off x="514350" y="4241602"/>
            <a:ext cx="8115300" cy="501848"/>
          </a:xfrm>
          <a:prstGeom prst="rect">
            <a:avLst/>
          </a:prstGeom>
          <a:solidFill>
            <a:srgbClr val="B89968">
              <a:alpha val="6000"/>
            </a:srgbClr>
          </a:solidFill>
          <a:ln/>
        </p:spPr>
        <p:txBody>
          <a:bodyPr wrap="square" rtlCol="0" anchor="ctr"/>
          <a:lstStyle/>
          <a:p>
            <a:pPr indent="0" marL="0">
              <a:buNone/>
            </a:pPr>
            <a:endParaRPr lang="en-US" dirty="0"/>
          </a:p>
        </p:txBody>
      </p:sp>
      <p:sp>
        <p:nvSpPr>
          <p:cNvPr id="62" name="Shape 59"/>
          <p:cNvSpPr/>
          <p:nvPr/>
        </p:nvSpPr>
        <p:spPr>
          <a:xfrm>
            <a:off x="528638" y="4241602"/>
            <a:ext cx="0" cy="501848"/>
          </a:xfrm>
          <a:prstGeom prst="line">
            <a:avLst/>
          </a:prstGeom>
          <a:noFill/>
          <a:ln w="28575">
            <a:solidFill>
              <a:srgbClr val="B89968"/>
            </a:solidFill>
            <a:prstDash val="solid"/>
          </a:ln>
        </p:spPr>
      </p:sp>
      <p:sp>
        <p:nvSpPr>
          <p:cNvPr id="63" name="Text 60"/>
          <p:cNvSpPr/>
          <p:nvPr/>
        </p:nvSpPr>
        <p:spPr>
          <a:xfrm>
            <a:off x="700088" y="4363938"/>
            <a:ext cx="205740" cy="277749"/>
          </a:xfrm>
          <a:prstGeom prst="rect">
            <a:avLst/>
          </a:prstGeom>
          <a:noFill/>
          <a:ln/>
        </p:spPr>
        <p:txBody>
          <a:bodyPr wrap="none" lIns="0" tIns="0" rIns="0" bIns="0" rtlCol="0" anchor="t"/>
          <a:lstStyle/>
          <a:p>
            <a:pPr algn="l" indent="0" marL="0">
              <a:lnSpc>
                <a:spcPts val="2025"/>
              </a:lnSpc>
              <a:buNone/>
            </a:pPr>
            <a:r>
              <a:rPr lang="en-US" sz="2025" b="1" dirty="0">
                <a:solidFill>
                  <a:srgbClr val="B89968"/>
                </a:solidFill>
                <a:latin typeface="Carlito" pitchFamily="34" charset="0"/>
                <a:ea typeface="Carlito" pitchFamily="34" charset="-122"/>
                <a:cs typeface="Carlito" pitchFamily="34" charset="-120"/>
              </a:rPr>
              <a:t>“</a:t>
            </a:r>
            <a:endParaRPr lang="en-US" sz="2025" dirty="0"/>
          </a:p>
        </p:txBody>
      </p:sp>
      <p:sp>
        <p:nvSpPr>
          <p:cNvPr id="64" name="Text 61"/>
          <p:cNvSpPr/>
          <p:nvPr/>
        </p:nvSpPr>
        <p:spPr>
          <a:xfrm>
            <a:off x="928688" y="4341614"/>
            <a:ext cx="7543800" cy="301823"/>
          </a:xfrm>
          <a:prstGeom prst="rect">
            <a:avLst/>
          </a:prstGeom>
          <a:noFill/>
          <a:ln/>
        </p:spPr>
        <p:txBody>
          <a:bodyPr wrap="square" lIns="0" tIns="0" rIns="0" bIns="0" rtlCol="0" anchor="t"/>
          <a:lstStyle/>
          <a:p>
            <a:pPr algn="l" indent="0" marL="0">
              <a:lnSpc>
                <a:spcPts val="1188"/>
              </a:lnSpc>
              <a:buNone/>
            </a:pPr>
            <a:r>
              <a:rPr lang="en-US" sz="800" i="1" dirty="0">
                <a:solidFill>
                  <a:srgbClr val="1A2B22"/>
                </a:solidFill>
                <a:latin typeface="Carlito" pitchFamily="34" charset="0"/>
                <a:ea typeface="Carlito" pitchFamily="34" charset="-122"/>
                <a:cs typeface="Carlito" pitchFamily="34" charset="-120"/>
              </a:rPr>
              <a:t>MediTike illustre comment l'intersection entre santé et technologie peut produire des solutions concrètes, sécurisées et accessibles, répondant aux besoins réels de la population togolaise.</a:t>
            </a:r>
            <a:endParaRPr lang="en-US" sz="800" dirty="0"/>
          </a:p>
        </p:txBody>
      </p:sp>
      <p:sp>
        <p:nvSpPr>
          <p:cNvPr id="65" name="Text 62"/>
          <p:cNvSpPr/>
          <p:nvPr/>
        </p:nvSpPr>
        <p:spPr>
          <a:xfrm>
            <a:off x="514350" y="4854178"/>
            <a:ext cx="7358397"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Carlito" pitchFamily="34" charset="0"/>
                <a:ea typeface="Carlito" pitchFamily="34" charset="-122"/>
                <a:cs typeface="Carlito" pitchFamily="34" charset="-120"/>
              </a:rPr>
              <a:t>MediTike · Gala Scientifique FSS 2026</a:t>
            </a:r>
            <a:endParaRPr lang="en-US" sz="800" dirty="0"/>
          </a:p>
        </p:txBody>
      </p:sp>
      <p:sp>
        <p:nvSpPr>
          <p:cNvPr id="66" name="Text 63"/>
          <p:cNvSpPr/>
          <p:nvPr/>
        </p:nvSpPr>
        <p:spPr>
          <a:xfrm>
            <a:off x="7887035" y="4854178"/>
            <a:ext cx="870345" cy="164592"/>
          </a:xfrm>
          <a:prstGeom prst="rect">
            <a:avLst/>
          </a:prstGeom>
          <a:noFill/>
          <a:ln/>
        </p:spPr>
        <p:txBody>
          <a:bodyPr wrap="square" lIns="0" tIns="0" rIns="0" bIns="0" rtlCol="0" anchor="t"/>
          <a:lstStyle/>
          <a:p>
            <a:pPr algn="l" indent="0" marL="0">
              <a:lnSpc>
                <a:spcPts val="928"/>
              </a:lnSpc>
              <a:buNone/>
            </a:pPr>
            <a:r>
              <a:rPr lang="en-US" sz="800" dirty="0">
                <a:solidFill>
                  <a:srgbClr val="6B7C72"/>
                </a:solidFill>
                <a:latin typeface="Carlito" pitchFamily="34" charset="0"/>
                <a:ea typeface="Carlito" pitchFamily="34" charset="-122"/>
                <a:cs typeface="Carlito" pitchFamily="34" charset="-120"/>
              </a:rPr>
              <a:t>Synthèse scientifique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8575"/>
          </a:xfrm>
          <a:prstGeom prst="rect">
            <a:avLst/>
          </a:prstGeom>
        </p:spPr>
      </p:pic>
      <p:pic>
        <p:nvPicPr>
          <p:cNvPr id="3" name="Image 1" descr="preencoded.png">    </p:cNvPr>
          <p:cNvPicPr>
            <a:picLocks noChangeAspect="1"/>
          </p:cNvPicPr>
          <p:nvPr/>
        </p:nvPicPr>
        <p:blipFill>
          <a:blip r:embed="rId2"/>
          <a:stretch>
            <a:fillRect/>
          </a:stretch>
        </p:blipFill>
        <p:spPr>
          <a:xfrm>
            <a:off x="0" y="5114925"/>
            <a:ext cx="9144000" cy="28575"/>
          </a:xfrm>
          <a:prstGeom prst="rect">
            <a:avLst/>
          </a:prstGeom>
        </p:spPr>
      </p:pic>
      <p:sp>
        <p:nvSpPr>
          <p:cNvPr id="4" name="Text 0"/>
          <p:cNvSpPr/>
          <p:nvPr/>
        </p:nvSpPr>
        <p:spPr>
          <a:xfrm>
            <a:off x="-857250" y="-857250"/>
            <a:ext cx="2714625" cy="2714625"/>
          </a:xfrm>
          <a:prstGeom prst="ellipse">
            <a:avLst/>
          </a:prstGeom>
          <a:solidFill>
            <a:srgbClr val="FFFFFF">
              <a:alpha val="0"/>
            </a:srgbClr>
          </a:solidFill>
          <a:ln/>
        </p:spPr>
        <p:txBody>
          <a:bodyPr wrap="square" rtlCol="0" anchor="ctr"/>
          <a:lstStyle/>
          <a:p>
            <a:pPr indent="0" marL="0">
              <a:buNone/>
            </a:pPr>
            <a:endParaRPr lang="en-US" dirty="0"/>
          </a:p>
        </p:txBody>
      </p:sp>
      <p:sp>
        <p:nvSpPr>
          <p:cNvPr id="5" name="Text 1"/>
          <p:cNvSpPr/>
          <p:nvPr/>
        </p:nvSpPr>
        <p:spPr>
          <a:xfrm>
            <a:off x="7286625" y="3286125"/>
            <a:ext cx="2714625" cy="2714625"/>
          </a:xfrm>
          <a:prstGeom prst="ellipse">
            <a:avLst/>
          </a:prstGeom>
          <a:solidFill>
            <a:srgbClr val="FFFFFF">
              <a:alpha val="0"/>
            </a:srgbClr>
          </a:solidFill>
          <a:ln/>
        </p:spPr>
        <p:txBody>
          <a:bodyPr wrap="square" rtlCol="0" anchor="ctr"/>
          <a:lstStyle/>
          <a:p>
            <a:pPr indent="0" marL="0">
              <a:buNone/>
            </a:pPr>
            <a:endParaRPr lang="en-US" dirty="0"/>
          </a:p>
        </p:txBody>
      </p:sp>
      <p:pic>
        <p:nvPicPr>
          <p:cNvPr id="6" name="Image 2" descr="preencoded.png">    </p:cNvPr>
          <p:cNvPicPr>
            <a:picLocks noChangeAspect="1"/>
          </p:cNvPicPr>
          <p:nvPr/>
        </p:nvPicPr>
        <p:blipFill>
          <a:blip r:embed="rId3"/>
          <a:stretch>
            <a:fillRect/>
          </a:stretch>
        </p:blipFill>
        <p:spPr>
          <a:xfrm>
            <a:off x="4089016" y="400050"/>
            <a:ext cx="271463" cy="271463"/>
          </a:xfrm>
          <a:prstGeom prst="rect">
            <a:avLst/>
          </a:prstGeom>
        </p:spPr>
      </p:pic>
      <p:sp>
        <p:nvSpPr>
          <p:cNvPr id="7" name="Text 2"/>
          <p:cNvSpPr/>
          <p:nvPr/>
        </p:nvSpPr>
        <p:spPr>
          <a:xfrm>
            <a:off x="4089016" y="400050"/>
            <a:ext cx="314325" cy="271463"/>
          </a:xfrm>
          <a:prstGeom prst="rect">
            <a:avLst/>
          </a:prstGeom>
          <a:noFill/>
          <a:ln/>
        </p:spPr>
        <p:txBody>
          <a:bodyPr wrap="none" lIns="0" tIns="0" rIns="0" bIns="0" rtlCol="0" anchor="ctr"/>
          <a:lstStyle/>
          <a:p>
            <a:pPr algn="ctr" indent="0" marL="0">
              <a:lnSpc>
                <a:spcPts val="1519"/>
              </a:lnSpc>
              <a:buNone/>
            </a:pPr>
            <a:r>
              <a:rPr lang="en-US" sz="1013" b="1" dirty="0">
                <a:solidFill>
                  <a:srgbClr val="FFFFFF"/>
                </a:solidFill>
                <a:latin typeface="Carlito" pitchFamily="34" charset="0"/>
                <a:ea typeface="Carlito" pitchFamily="34" charset="-122"/>
                <a:cs typeface="Carlito" pitchFamily="34" charset="-120"/>
              </a:rPr>
              <a:t>+</a:t>
            </a:r>
            <a:endParaRPr lang="en-US" sz="1013" dirty="0"/>
          </a:p>
        </p:txBody>
      </p:sp>
      <p:sp>
        <p:nvSpPr>
          <p:cNvPr id="8" name="Text 3"/>
          <p:cNvSpPr/>
          <p:nvPr/>
        </p:nvSpPr>
        <p:spPr>
          <a:xfrm>
            <a:off x="4446203" y="428625"/>
            <a:ext cx="779240" cy="231458"/>
          </a:xfrm>
          <a:prstGeom prst="rect">
            <a:avLst/>
          </a:prstGeom>
          <a:noFill/>
          <a:ln/>
        </p:spPr>
        <p:txBody>
          <a:bodyPr wrap="none" lIns="0" tIns="0" rIns="0" bIns="0" rtlCol="0" anchor="t"/>
          <a:lstStyle/>
          <a:p>
            <a:pPr algn="l" indent="0" marL="0">
              <a:lnSpc>
                <a:spcPts val="1688"/>
              </a:lnSpc>
              <a:buNone/>
            </a:pPr>
            <a:r>
              <a:rPr lang="en-US" sz="1125" b="1" dirty="0">
                <a:solidFill>
                  <a:srgbClr val="F5F3EF"/>
                </a:solidFill>
                <a:latin typeface="Carlito" pitchFamily="34" charset="0"/>
                <a:ea typeface="Carlito" pitchFamily="34" charset="-122"/>
                <a:cs typeface="Carlito" pitchFamily="34" charset="-120"/>
              </a:rPr>
              <a:t>MediTike</a:t>
            </a:r>
            <a:endParaRPr lang="en-US" sz="1125" dirty="0"/>
          </a:p>
        </p:txBody>
      </p:sp>
      <p:sp>
        <p:nvSpPr>
          <p:cNvPr id="9" name="Shape 4"/>
          <p:cNvSpPr/>
          <p:nvPr/>
        </p:nvSpPr>
        <p:spPr>
          <a:xfrm>
            <a:off x="7065169" y="2458231"/>
            <a:ext cx="0" cy="737034"/>
          </a:xfrm>
          <a:prstGeom prst="line">
            <a:avLst/>
          </a:prstGeom>
          <a:noFill/>
          <a:ln w="14288">
            <a:solidFill>
              <a:srgbClr val="B89968"/>
            </a:solidFill>
            <a:prstDash val="solid"/>
          </a:ln>
        </p:spPr>
      </p:sp>
      <p:sp>
        <p:nvSpPr>
          <p:cNvPr id="10" name="Shape 5"/>
          <p:cNvSpPr/>
          <p:nvPr/>
        </p:nvSpPr>
        <p:spPr>
          <a:xfrm>
            <a:off x="2078831" y="2458231"/>
            <a:ext cx="0" cy="737034"/>
          </a:xfrm>
          <a:prstGeom prst="line">
            <a:avLst/>
          </a:prstGeom>
          <a:noFill/>
          <a:ln w="14288">
            <a:solidFill>
              <a:srgbClr val="B89968"/>
            </a:solidFill>
            <a:prstDash val="solid"/>
          </a:ln>
        </p:spPr>
      </p:sp>
      <p:sp>
        <p:nvSpPr>
          <p:cNvPr id="11" name="Text 6"/>
          <p:cNvSpPr/>
          <p:nvPr/>
        </p:nvSpPr>
        <p:spPr>
          <a:xfrm>
            <a:off x="0" y="4936331"/>
            <a:ext cx="8636000" cy="164592"/>
          </a:xfrm>
          <a:prstGeom prst="rect">
            <a:avLst/>
          </a:prstGeom>
          <a:noFill/>
          <a:ln/>
        </p:spPr>
        <p:txBody>
          <a:bodyPr wrap="square" lIns="0" tIns="0" rIns="0" bIns="0" rtlCol="0" anchor="t"/>
          <a:lstStyle/>
          <a:p>
            <a:pPr algn="ctr" indent="0" marL="0">
              <a:lnSpc>
                <a:spcPts val="844"/>
              </a:lnSpc>
              <a:buNone/>
            </a:pPr>
            <a:r>
              <a:rPr lang="en-US" sz="800" spc="28" kern="0" dirty="0">
                <a:solidFill>
                  <a:srgbClr val="F5F3EF">
                    <a:alpha val="38000"/>
                  </a:srgbClr>
                </a:solidFill>
                <a:latin typeface="Courier New" pitchFamily="34" charset="0"/>
                <a:ea typeface="Courier New" pitchFamily="34" charset="-122"/>
                <a:cs typeface="Courier New" pitchFamily="34" charset="-120"/>
              </a:rPr>
              <a:t>Code source : github.com/kennethafantsawo/MediTike</a:t>
            </a:r>
            <a:endParaRPr lang="en-US" sz="800" dirty="0"/>
          </a:p>
        </p:txBody>
      </p:sp>
      <p:sp>
        <p:nvSpPr>
          <p:cNvPr id="12" name="Text 7"/>
          <p:cNvSpPr/>
          <p:nvPr/>
        </p:nvSpPr>
        <p:spPr>
          <a:xfrm>
            <a:off x="274320" y="1626766"/>
            <a:ext cx="8595248" cy="388776"/>
          </a:xfrm>
          <a:prstGeom prst="rect">
            <a:avLst/>
          </a:prstGeom>
          <a:noFill/>
          <a:ln/>
        </p:spPr>
        <p:txBody>
          <a:bodyPr wrap="none" lIns="0" tIns="0" rIns="0" bIns="0" rtlCol="0" anchor="t"/>
          <a:lstStyle/>
          <a:p>
            <a:pPr algn="ctr" indent="0" marL="0">
              <a:lnSpc>
                <a:spcPts val="2835"/>
              </a:lnSpc>
              <a:buNone/>
            </a:pPr>
            <a:r>
              <a:rPr lang="en-US" sz="2700" b="1" spc="-67" kern="0" dirty="0">
                <a:solidFill>
                  <a:srgbClr val="F5F3EF"/>
                </a:solidFill>
                <a:latin typeface="Carlito" pitchFamily="34" charset="0"/>
                <a:ea typeface="Carlito" pitchFamily="34" charset="-122"/>
                <a:cs typeface="Carlito" pitchFamily="34" charset="-120"/>
              </a:rPr>
              <a:t>Merci de votre attention</a:t>
            </a:r>
            <a:endParaRPr lang="en-US" sz="2700" dirty="0"/>
          </a:p>
        </p:txBody>
      </p:sp>
      <p:sp>
        <p:nvSpPr>
          <p:cNvPr id="13" name="Text 8"/>
          <p:cNvSpPr/>
          <p:nvPr/>
        </p:nvSpPr>
        <p:spPr>
          <a:xfrm>
            <a:off x="3276204" y="2115331"/>
            <a:ext cx="2591480" cy="231458"/>
          </a:xfrm>
          <a:prstGeom prst="rect">
            <a:avLst/>
          </a:prstGeom>
          <a:noFill/>
          <a:ln/>
        </p:spPr>
        <p:txBody>
          <a:bodyPr wrap="square" lIns="0" tIns="0" rIns="0" bIns="0" rtlCol="0" anchor="t"/>
          <a:lstStyle/>
          <a:p>
            <a:pPr algn="ctr" indent="0" marL="0">
              <a:lnSpc>
                <a:spcPts val="1688"/>
              </a:lnSpc>
              <a:buNone/>
            </a:pPr>
            <a:r>
              <a:rPr lang="en-US" sz="1125" spc="11" kern="0" dirty="0">
                <a:solidFill>
                  <a:srgbClr val="D4B888"/>
                </a:solidFill>
                <a:latin typeface="Carlito" pitchFamily="34" charset="0"/>
                <a:ea typeface="Carlito" pitchFamily="34" charset="-122"/>
                <a:cs typeface="Carlito" pitchFamily="34" charset="-120"/>
              </a:rPr>
              <a:t>MediTike — Santé pour tous au Togo</a:t>
            </a:r>
            <a:endParaRPr lang="en-US" sz="1125" dirty="0"/>
          </a:p>
        </p:txBody>
      </p:sp>
      <p:sp>
        <p:nvSpPr>
          <p:cNvPr id="14" name="Text 9"/>
          <p:cNvSpPr/>
          <p:nvPr/>
        </p:nvSpPr>
        <p:spPr>
          <a:xfrm>
            <a:off x="2071688" y="2458231"/>
            <a:ext cx="5000625" cy="737034"/>
          </a:xfrm>
          <a:prstGeom prst="roundRect">
            <a:avLst>
              <a:gd name="adj" fmla="val 5169"/>
            </a:avLst>
          </a:prstGeom>
          <a:solidFill>
            <a:srgbClr val="B89968">
              <a:alpha val="6000"/>
            </a:srgbClr>
          </a:solidFill>
          <a:ln/>
        </p:spPr>
        <p:txBody>
          <a:bodyPr wrap="square" rtlCol="0" anchor="ctr"/>
          <a:lstStyle/>
          <a:p>
            <a:pPr indent="0" marL="0">
              <a:buNone/>
            </a:pPr>
            <a:endParaRPr lang="en-US" dirty="0"/>
          </a:p>
        </p:txBody>
      </p:sp>
      <p:sp>
        <p:nvSpPr>
          <p:cNvPr id="15" name="Text 10"/>
          <p:cNvSpPr/>
          <p:nvPr/>
        </p:nvSpPr>
        <p:spPr>
          <a:xfrm>
            <a:off x="2071688" y="2458231"/>
            <a:ext cx="5000625" cy="808632"/>
          </a:xfrm>
          <a:prstGeom prst="rect">
            <a:avLst/>
          </a:prstGeom>
          <a:noFill/>
          <a:ln/>
        </p:spPr>
        <p:txBody>
          <a:bodyPr wrap="square" lIns="200025" tIns="128588" rIns="200025" bIns="128588" rtlCol="0" anchor="t"/>
          <a:lstStyle/>
          <a:p>
            <a:pPr algn="ctr" indent="0" marL="0">
              <a:lnSpc>
                <a:spcPts val="1260"/>
              </a:lnSpc>
              <a:buNone/>
            </a:pPr>
            <a:r>
              <a:rPr lang="en-US" sz="800" i="1" dirty="0">
                <a:solidFill>
                  <a:srgbClr val="F5F3EF">
                    <a:alpha val="92000"/>
                  </a:srgbClr>
                </a:solidFill>
                <a:latin typeface="Carlito" pitchFamily="34" charset="0"/>
                <a:ea typeface="Carlito" pitchFamily="34" charset="-122"/>
                <a:cs typeface="Carlito" pitchFamily="34" charset="-120"/>
              </a:rPr>
              <a:t>« Le prochain grand pas en santé publique togolaise ne viendra pas seulement des hôpitaux, mais aussi des outils numériques qui rapprochent les patients des soins. MediTike est une contribution à cette dynamique. »</a:t>
            </a:r>
            <a:endParaRPr lang="en-US" sz="800" dirty="0"/>
          </a:p>
        </p:txBody>
      </p:sp>
      <p:sp>
        <p:nvSpPr>
          <p:cNvPr id="16" name="Text 11"/>
          <p:cNvSpPr/>
          <p:nvPr/>
        </p:nvSpPr>
        <p:spPr>
          <a:xfrm>
            <a:off x="2887508" y="3323853"/>
            <a:ext cx="1083320" cy="164592"/>
          </a:xfrm>
          <a:prstGeom prst="rect">
            <a:avLst/>
          </a:prstGeom>
          <a:noFill/>
          <a:ln/>
        </p:spPr>
        <p:txBody>
          <a:bodyPr wrap="none" lIns="0" tIns="0" rIns="0" bIns="0" rtlCol="0" anchor="t"/>
          <a:lstStyle/>
          <a:p>
            <a:pPr algn="ctr" indent="0" marL="0">
              <a:lnSpc>
                <a:spcPts val="1181"/>
              </a:lnSpc>
              <a:buNone/>
            </a:pPr>
            <a:r>
              <a:rPr lang="en-US" sz="800" dirty="0">
                <a:solidFill>
                  <a:srgbClr val="D4B888"/>
                </a:solidFill>
                <a:latin typeface="Segoe UI Symbol" pitchFamily="34" charset="0"/>
                <a:ea typeface="Segoe UI Symbol" pitchFamily="34" charset="-122"/>
                <a:cs typeface="Segoe UI Symbol" pitchFamily="34" charset="-120"/>
              </a:rPr>
              <a:t>☎</a:t>
            </a:r>
            <a:pPr algn="ctr" indent="0" marL="0">
              <a:lnSpc>
                <a:spcPts val="1181"/>
              </a:lnSpc>
              <a:buNone/>
            </a:pPr>
            <a:r>
              <a:rPr lang="en-US" sz="800" dirty="0">
                <a:solidFill>
                  <a:srgbClr val="F5F3EF"/>
                </a:solidFill>
                <a:latin typeface="Liberation Sans Narrow" pitchFamily="34" charset="0"/>
                <a:ea typeface="Liberation Sans Narrow" pitchFamily="34" charset="-122"/>
                <a:cs typeface="Liberation Sans Narrow" pitchFamily="34" charset="-120"/>
              </a:rPr>
              <a:t>+228 96 41 72 70</a:t>
            </a:r>
            <a:endParaRPr lang="en-US" sz="800" dirty="0"/>
          </a:p>
        </p:txBody>
      </p:sp>
      <p:sp>
        <p:nvSpPr>
          <p:cNvPr id="17" name="Text 12"/>
          <p:cNvSpPr/>
          <p:nvPr/>
        </p:nvSpPr>
        <p:spPr>
          <a:xfrm>
            <a:off x="4019922" y="3384575"/>
            <a:ext cx="28575" cy="28575"/>
          </a:xfrm>
          <a:prstGeom prst="ellipse">
            <a:avLst/>
          </a:prstGeom>
          <a:solidFill>
            <a:srgbClr val="B89968"/>
          </a:solidFill>
          <a:ln/>
        </p:spPr>
        <p:txBody>
          <a:bodyPr wrap="square" rtlCol="0" anchor="ctr"/>
          <a:lstStyle/>
          <a:p>
            <a:pPr indent="0" marL="0">
              <a:buNone/>
            </a:pPr>
            <a:endParaRPr lang="en-US" dirty="0"/>
          </a:p>
        </p:txBody>
      </p:sp>
      <p:sp>
        <p:nvSpPr>
          <p:cNvPr id="18" name="Text 13"/>
          <p:cNvSpPr/>
          <p:nvPr/>
        </p:nvSpPr>
        <p:spPr>
          <a:xfrm>
            <a:off x="4086744" y="3323853"/>
            <a:ext cx="1231146" cy="164592"/>
          </a:xfrm>
          <a:prstGeom prst="rect">
            <a:avLst/>
          </a:prstGeom>
          <a:noFill/>
          <a:ln/>
        </p:spPr>
        <p:txBody>
          <a:bodyPr wrap="none" lIns="0" tIns="0" rIns="0" bIns="0" rtlCol="0" anchor="t"/>
          <a:lstStyle/>
          <a:p>
            <a:pPr algn="ctr" indent="0" marL="0">
              <a:lnSpc>
                <a:spcPts val="1181"/>
              </a:lnSpc>
              <a:buNone/>
            </a:pPr>
            <a:r>
              <a:rPr lang="en-US" sz="800" dirty="0">
                <a:solidFill>
                  <a:srgbClr val="D4B888"/>
                </a:solidFill>
                <a:latin typeface="Segoe UI Symbol" pitchFamily="34" charset="0"/>
                <a:ea typeface="Segoe UI Symbol" pitchFamily="34" charset="-122"/>
                <a:cs typeface="Segoe UI Symbol" pitchFamily="34" charset="-120"/>
              </a:rPr>
              <a:t>✉</a:t>
            </a:r>
            <a:pPr algn="ctr" indent="0" marL="0">
              <a:lnSpc>
                <a:spcPts val="1181"/>
              </a:lnSpc>
              <a:buNone/>
            </a:pPr>
            <a:r>
              <a:rPr lang="en-US" sz="800" dirty="0">
                <a:solidFill>
                  <a:srgbClr val="F5F3EF"/>
                </a:solidFill>
                <a:latin typeface="Carlito" pitchFamily="34" charset="0"/>
                <a:ea typeface="Carlito" pitchFamily="34" charset="-122"/>
                <a:cs typeface="Carlito" pitchFamily="34" charset="-120"/>
              </a:rPr>
              <a:t>contact@meditike.tg</a:t>
            </a:r>
            <a:endParaRPr lang="en-US" sz="800" dirty="0"/>
          </a:p>
        </p:txBody>
      </p:sp>
      <p:sp>
        <p:nvSpPr>
          <p:cNvPr id="19" name="Text 14"/>
          <p:cNvSpPr/>
          <p:nvPr/>
        </p:nvSpPr>
        <p:spPr>
          <a:xfrm>
            <a:off x="5356138" y="3384575"/>
            <a:ext cx="28575" cy="28575"/>
          </a:xfrm>
          <a:prstGeom prst="ellipse">
            <a:avLst/>
          </a:prstGeom>
          <a:solidFill>
            <a:srgbClr val="B89968"/>
          </a:solidFill>
          <a:ln/>
        </p:spPr>
        <p:txBody>
          <a:bodyPr wrap="square" rtlCol="0" anchor="ctr"/>
          <a:lstStyle/>
          <a:p>
            <a:pPr indent="0" marL="0">
              <a:buNone/>
            </a:pPr>
            <a:endParaRPr lang="en-US" dirty="0"/>
          </a:p>
        </p:txBody>
      </p:sp>
      <p:sp>
        <p:nvSpPr>
          <p:cNvPr id="20" name="Text 15"/>
          <p:cNvSpPr/>
          <p:nvPr/>
        </p:nvSpPr>
        <p:spPr>
          <a:xfrm>
            <a:off x="5456223" y="3323853"/>
            <a:ext cx="777855" cy="164592"/>
          </a:xfrm>
          <a:prstGeom prst="rect">
            <a:avLst/>
          </a:prstGeom>
          <a:noFill/>
          <a:ln/>
        </p:spPr>
        <p:txBody>
          <a:bodyPr wrap="none" lIns="0" tIns="0" rIns="0" bIns="0" rtlCol="0" anchor="t"/>
          <a:lstStyle/>
          <a:p>
            <a:pPr algn="ctr" indent="0" marL="0">
              <a:lnSpc>
                <a:spcPts val="1181"/>
              </a:lnSpc>
              <a:buNone/>
            </a:pPr>
            <a:r>
              <a:rPr lang="en-US" sz="800" dirty="0">
                <a:solidFill>
                  <a:srgbClr val="D4B888"/>
                </a:solidFill>
                <a:latin typeface="Segoe UI Symbol" pitchFamily="34" charset="0"/>
                <a:ea typeface="Segoe UI Symbol" pitchFamily="34" charset="-122"/>
                <a:cs typeface="Segoe UI Symbol" pitchFamily="34" charset="-120"/>
              </a:rPr>
              <a:t>◎</a:t>
            </a:r>
            <a:pPr algn="ctr" indent="0" marL="0">
              <a:lnSpc>
                <a:spcPts val="1181"/>
              </a:lnSpc>
              <a:buNone/>
            </a:pPr>
            <a:r>
              <a:rPr lang="en-US" sz="800" dirty="0">
                <a:solidFill>
                  <a:srgbClr val="F5F3EF"/>
                </a:solidFill>
                <a:latin typeface="Carlito" pitchFamily="34" charset="0"/>
                <a:ea typeface="Carlito" pitchFamily="34" charset="-122"/>
                <a:cs typeface="Carlito" pitchFamily="34" charset="-120"/>
              </a:rPr>
              <a:t>Lomé, Togo</a:t>
            </a:r>
            <a:endParaRPr lang="en-US" sz="800" dirty="0"/>
          </a:p>
        </p:txBody>
      </p:sp>
      <p:sp>
        <p:nvSpPr>
          <p:cNvPr id="21" name="Text 16"/>
          <p:cNvSpPr/>
          <p:nvPr/>
        </p:nvSpPr>
        <p:spPr>
          <a:xfrm>
            <a:off x="2558244" y="3606031"/>
            <a:ext cx="1450628" cy="235744"/>
          </a:xfrm>
          <a:prstGeom prst="roundRect">
            <a:avLst>
              <a:gd name="adj" fmla="val 4036359"/>
            </a:avLst>
          </a:prstGeom>
          <a:solidFill>
            <a:srgbClr val="F5F3EF">
              <a:alpha val="7000"/>
            </a:srgbClr>
          </a:solidFill>
          <a:ln w="7144">
            <a:solidFill>
              <a:srgbClr val="F5F3EF"/>
            </a:solidFill>
            <a:prstDash val="solid"/>
          </a:ln>
        </p:spPr>
        <p:txBody>
          <a:bodyPr wrap="square" rtlCol="0" anchor="ctr"/>
          <a:lstStyle/>
          <a:p>
            <a:pPr indent="0" marL="0">
              <a:buNone/>
            </a:pPr>
            <a:endParaRPr lang="en-US" dirty="0"/>
          </a:p>
        </p:txBody>
      </p:sp>
      <p:sp>
        <p:nvSpPr>
          <p:cNvPr id="22" name="Text 17"/>
          <p:cNvSpPr/>
          <p:nvPr/>
        </p:nvSpPr>
        <p:spPr>
          <a:xfrm>
            <a:off x="2804703" y="3673897"/>
            <a:ext cx="1100584" cy="128016"/>
          </a:xfrm>
          <a:prstGeom prst="rect">
            <a:avLst/>
          </a:prstGeom>
          <a:noFill/>
          <a:ln/>
        </p:spPr>
        <p:txBody>
          <a:bodyPr wrap="none" lIns="100013" tIns="50006" rIns="100013" bIns="50006" rtlCol="0" anchor="t"/>
          <a:lstStyle/>
          <a:p>
            <a:pPr algn="ctr" indent="0" marL="0">
              <a:lnSpc>
                <a:spcPts val="1013"/>
              </a:lnSpc>
              <a:buNone/>
            </a:pPr>
            <a:r>
              <a:rPr lang="en-US" sz="800" dirty="0">
                <a:solidFill>
                  <a:srgbClr val="F5F3EF"/>
                </a:solidFill>
                <a:latin typeface="Liberation Sans Narrow" pitchFamily="34" charset="0"/>
                <a:ea typeface="Liberation Sans Narrow" pitchFamily="34" charset="-122"/>
                <a:cs typeface="Liberation Sans Narrow" pitchFamily="34" charset="-120"/>
              </a:rPr>
              <a:t>Gala Scientifique FSS 2026</a:t>
            </a:r>
            <a:endParaRPr lang="en-US" sz="800" dirty="0"/>
          </a:p>
        </p:txBody>
      </p:sp>
      <p:sp>
        <p:nvSpPr>
          <p:cNvPr id="23" name="Text 18"/>
          <p:cNvSpPr/>
          <p:nvPr/>
        </p:nvSpPr>
        <p:spPr>
          <a:xfrm>
            <a:off x="2661828" y="3673897"/>
            <a:ext cx="100013" cy="100013"/>
          </a:xfrm>
          <a:prstGeom prst="rect">
            <a:avLst/>
          </a:prstGeom>
          <a:noFill/>
          <a:ln/>
        </p:spPr>
        <p:txBody>
          <a:bodyPr wrap="none" lIns="0" tIns="0" rIns="0" bIns="0" rtlCol="0" anchor="ctr"/>
          <a:lstStyle/>
          <a:p>
            <a:pPr algn="ctr" indent="0" marL="0">
              <a:buNone/>
            </a:pPr>
            <a:r>
              <a:rPr lang="en-US" sz="984" dirty="0">
                <a:solidFill>
                  <a:srgbClr val="D4B888"/>
                </a:solidFill>
                <a:latin typeface="Segoe UI Symbol" pitchFamily="34" charset="0"/>
                <a:ea typeface="Segoe UI Symbol" pitchFamily="34" charset="-122"/>
                <a:cs typeface="Segoe UI Symbol" pitchFamily="34" charset="-120"/>
              </a:rPr>
              <a:t>♛</a:t>
            </a:r>
            <a:endParaRPr lang="en-US" sz="984" dirty="0"/>
          </a:p>
        </p:txBody>
      </p:sp>
      <p:sp>
        <p:nvSpPr>
          <p:cNvPr id="24" name="Text 19"/>
          <p:cNvSpPr/>
          <p:nvPr/>
        </p:nvSpPr>
        <p:spPr>
          <a:xfrm>
            <a:off x="4061021" y="3589658"/>
            <a:ext cx="1069844" cy="268491"/>
          </a:xfrm>
          <a:prstGeom prst="roundRect">
            <a:avLst>
              <a:gd name="adj" fmla="val 3544057"/>
            </a:avLst>
          </a:prstGeom>
          <a:solidFill>
            <a:srgbClr val="F5F3EF">
              <a:alpha val="7000"/>
            </a:srgbClr>
          </a:solidFill>
          <a:ln w="7144">
            <a:solidFill>
              <a:srgbClr val="F5F3EF"/>
            </a:solidFill>
            <a:prstDash val="solid"/>
          </a:ln>
        </p:spPr>
        <p:txBody>
          <a:bodyPr wrap="square" rtlCol="0" anchor="ctr"/>
          <a:lstStyle/>
          <a:p>
            <a:pPr indent="0" marL="0">
              <a:buNone/>
            </a:pPr>
            <a:endParaRPr lang="en-US" dirty="0"/>
          </a:p>
        </p:txBody>
      </p:sp>
      <p:sp>
        <p:nvSpPr>
          <p:cNvPr id="25" name="Text 20"/>
          <p:cNvSpPr/>
          <p:nvPr/>
        </p:nvSpPr>
        <p:spPr>
          <a:xfrm>
            <a:off x="4333912" y="3673897"/>
            <a:ext cx="666936" cy="100013"/>
          </a:xfrm>
          <a:prstGeom prst="rect">
            <a:avLst/>
          </a:prstGeom>
          <a:noFill/>
          <a:ln/>
        </p:spPr>
        <p:txBody>
          <a:bodyPr wrap="none" lIns="0" tIns="0" rIns="0" bIns="0" rtlCol="0" anchor="ctr"/>
          <a:lstStyle/>
          <a:p>
            <a:pPr algn="ctr" indent="0" marL="0">
              <a:lnSpc>
                <a:spcPts val="1013"/>
              </a:lnSpc>
              <a:buNone/>
            </a:pPr>
            <a:r>
              <a:rPr lang="en-US" sz="800" dirty="0">
                <a:solidFill>
                  <a:srgbClr val="F5F3EF"/>
                </a:solidFill>
                <a:latin typeface="Carlito" pitchFamily="34" charset="0"/>
                <a:ea typeface="Carlito" pitchFamily="34" charset="-122"/>
                <a:cs typeface="Carlito" pitchFamily="34" charset="-120"/>
              </a:rPr>
              <a:t>Projet individuel</a:t>
            </a:r>
            <a:endParaRPr lang="en-US" sz="800" dirty="0"/>
          </a:p>
        </p:txBody>
      </p:sp>
      <p:sp>
        <p:nvSpPr>
          <p:cNvPr id="26" name="Text 21"/>
          <p:cNvSpPr/>
          <p:nvPr/>
        </p:nvSpPr>
        <p:spPr>
          <a:xfrm>
            <a:off x="4191037" y="3673897"/>
            <a:ext cx="100013" cy="100013"/>
          </a:xfrm>
          <a:prstGeom prst="rect">
            <a:avLst/>
          </a:prstGeom>
          <a:noFill/>
          <a:ln/>
        </p:spPr>
        <p:txBody>
          <a:bodyPr wrap="none" lIns="0" tIns="0" rIns="0" bIns="0" rtlCol="0" anchor="ctr"/>
          <a:lstStyle/>
          <a:p>
            <a:pPr algn="ctr" indent="0" marL="0">
              <a:buNone/>
            </a:pPr>
            <a:r>
              <a:rPr lang="en-US" sz="984" dirty="0">
                <a:solidFill>
                  <a:srgbClr val="D4B888"/>
                </a:solidFill>
                <a:latin typeface="Segoe UI Symbol" pitchFamily="34" charset="0"/>
                <a:ea typeface="Segoe UI Symbol" pitchFamily="34" charset="-122"/>
                <a:cs typeface="Segoe UI Symbol" pitchFamily="34" charset="-120"/>
              </a:rPr>
              <a:t>☻</a:t>
            </a:r>
            <a:endParaRPr lang="en-US" sz="984" dirty="0"/>
          </a:p>
        </p:txBody>
      </p:sp>
      <p:sp>
        <p:nvSpPr>
          <p:cNvPr id="27" name="Text 22"/>
          <p:cNvSpPr/>
          <p:nvPr/>
        </p:nvSpPr>
        <p:spPr>
          <a:xfrm>
            <a:off x="5183014" y="3606031"/>
            <a:ext cx="1402742" cy="235744"/>
          </a:xfrm>
          <a:prstGeom prst="roundRect">
            <a:avLst>
              <a:gd name="adj" fmla="val 4036359"/>
            </a:avLst>
          </a:prstGeom>
          <a:solidFill>
            <a:srgbClr val="F5F3EF">
              <a:alpha val="7000"/>
            </a:srgbClr>
          </a:solidFill>
          <a:ln w="7144">
            <a:solidFill>
              <a:srgbClr val="F5F3EF"/>
            </a:solidFill>
            <a:prstDash val="solid"/>
          </a:ln>
        </p:spPr>
        <p:txBody>
          <a:bodyPr wrap="square" rtlCol="0" anchor="ctr"/>
          <a:lstStyle/>
          <a:p>
            <a:pPr indent="0" marL="0">
              <a:buNone/>
            </a:pPr>
            <a:endParaRPr lang="en-US" dirty="0"/>
          </a:p>
        </p:txBody>
      </p:sp>
      <p:sp>
        <p:nvSpPr>
          <p:cNvPr id="28" name="Text 23"/>
          <p:cNvSpPr/>
          <p:nvPr/>
        </p:nvSpPr>
        <p:spPr>
          <a:xfrm>
            <a:off x="5429473" y="3673897"/>
            <a:ext cx="1052699" cy="100013"/>
          </a:xfrm>
          <a:prstGeom prst="rect">
            <a:avLst/>
          </a:prstGeom>
          <a:noFill/>
          <a:ln/>
        </p:spPr>
        <p:txBody>
          <a:bodyPr wrap="none" lIns="0" tIns="0" rIns="0" bIns="0" rtlCol="0" anchor="ctr"/>
          <a:lstStyle/>
          <a:p>
            <a:pPr algn="ctr" indent="0" marL="0">
              <a:lnSpc>
                <a:spcPts val="1013"/>
              </a:lnSpc>
              <a:buNone/>
            </a:pPr>
            <a:r>
              <a:rPr lang="en-US" sz="800" dirty="0">
                <a:solidFill>
                  <a:srgbClr val="F5F3EF"/>
                </a:solidFill>
                <a:latin typeface="Carlito" pitchFamily="34" charset="0"/>
                <a:ea typeface="Carlito" pitchFamily="34" charset="-122"/>
                <a:cs typeface="Carlito" pitchFamily="34" charset="-120"/>
              </a:rPr>
              <a:t>Domaine : Santé publique</a:t>
            </a:r>
            <a:endParaRPr lang="en-US" sz="800" dirty="0"/>
          </a:p>
        </p:txBody>
      </p:sp>
      <p:sp>
        <p:nvSpPr>
          <p:cNvPr id="29" name="Text 24"/>
          <p:cNvSpPr/>
          <p:nvPr/>
        </p:nvSpPr>
        <p:spPr>
          <a:xfrm>
            <a:off x="5286598" y="3673897"/>
            <a:ext cx="100013" cy="100013"/>
          </a:xfrm>
          <a:prstGeom prst="rect">
            <a:avLst/>
          </a:prstGeom>
          <a:noFill/>
          <a:ln/>
        </p:spPr>
        <p:txBody>
          <a:bodyPr wrap="none" lIns="0" tIns="0" rIns="0" bIns="0" rtlCol="0" anchor="ctr"/>
          <a:lstStyle/>
          <a:p>
            <a:pPr algn="ctr" indent="0" marL="0">
              <a:buNone/>
            </a:pPr>
            <a:r>
              <a:rPr lang="en-US" sz="984" dirty="0">
                <a:solidFill>
                  <a:srgbClr val="D4B888"/>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2026-07-05T23:19:44Z</dcterms:created>
  <dcterms:modified xsi:type="dcterms:W3CDTF">2026-07-05T23:19:44Z</dcterms:modified>
</cp:coreProperties>
</file>