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Présenter MediTike en une phrase : une application qui met les patients en contact avec les pharmacies de garde au Togo.
- Insister sur la simplicité : même la nuit ou le week-end, on trouve son médicament.
- Donner le contact pour les questions : +228 96 41 72 70, contact@meditike.tg, Lomé.
- Rappeler que c'est une solution 100 % togolaise, pensée pour le terrain.
- Garder un ton chaleureux, rassurant, institutionnel.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Décrire la situation vécue par les patients sans jargon technique.
- Insister sur le temps perdu : appeler plusieurs pharmacies, tomber sur le répondeur.
- Rappeler que la liste officielle existe mais est difficile à trouver.
- Souligner les 3 chiffres : une centaine de pharmacies, 26 semaines, plus de 30 minutes en moyenne.
- Préparer la transition vers l'idée MediTike.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Présenter l'idée simplement : une demande, plusieurs réponses, un seul déplacement.
- Insister sur le gain de temps : 30 minutes à moins de 5 minutes.
- Lister les 4 objectifs concrets, un par un, sans jargon.
- Mentionner la protection de la vie privée (photos supprimées automatiquement).
- Souligner que l'outil reste gratuit et accessible même avec une connexion lente.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Présenter les 3 rôles simplement : le patient demande, le pharmacien répond, l'administrateur gère.
- Insister sur la simplicité du circuit : une demande part à plusieurs pharmacies.
- Détailler le rôle du patient : numéro de téléphone, photo, demande.
- Détailler le rôle du pharmacien : recevoir, répondre en un clic, donner le prix.
- Expliquer le rôle de l'administrateur : inscrire les pharmacies, importer la liste de garde.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Décrire les 3 étapes du parcours en insistant sur la simplicité.
- Étape 1 : le patient envoie une seule demande à toutes les pharmacies de garde.
- Étape 2 : les pharmaciens répondent en direct, avec le prix.
- Étape 3 : le patient contacte la pharmacie par WhatsApp ou appel.
- Insister sur le timing : moins de 5 minutes pour tout le parcours.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Expliquer chaque outil simplement, comme à quelqu'un qui ne connaît rien à l'informatique.
- Outil 1 : l'application web = un site internet, sans installation.
- Outil 2 : la base de données = un coffre sécurisé pour toutes les informations.
- Outil 3 : le stockage des photos = un coffre-fort privé, avec suppression automatique.
- Outil 4 : les tâches automatiques = le système fait le ménage tout seul chaque jour.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Insister sur l'auto-suppression des photos après 72 heures ou 7 jours.
- Rassurer : même l'équipe MediTike ne peut pas voir les mots de passe.
- Mentionner que la connexion est chiffrée comme pour les banques.
- Conclure : confidentialité et sécurité sont au cœur du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Mettre en avant l'impact concret pour les gens, pas la technique.
- Insister sur le passage de 30 minutes à moins de 5 minutes pour trouver une pharmacie.
- Rappeler que les pharmacies officielles sont toutes couvertes.
- Mentionner les 7 villes desservies et la suppression automatique des photos.
- Conclure avec la citation : solution simple et accessible, même avec une connexion modeste.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Insister sur le fait que l'application est déjà en service, pas juste une idée.
- Énumérer ce qui est fait : en ligne, photos sécurisées, ménage automatique, pharmacies importées.
- Présenter la feuille de route en 3 horizons : 3 mois, 6-12 mois, long terme.
- Mettre en avant WhatsApp, Mobile Money et l'extension à d'autres pays.
- Conclure : MediTike est concret aujourd'hui, et a une vision pour demain.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Présenter les 4 points forts simplement : utile, réel, bon pour la santé, bien fait.
- Insister sur le fait que ce n'est pas une idée, c'est déjà en service.
- Mettre en avant l'impact santé pour les maladies chroniques (diabète, hypertension).
- Souligner la simplicité d'usage, même pour les moins à l'aise avec les téléphones.
- Conclure avec la citation : une idée simple, avec les moyens d'aujourd'hui.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Remercier l'audience pour son attention.
- Rappeler la phrase clé : avoir ses médicaments à temps est un droit, pas un luxe.
- Donner le contact : téléphone, email, localisation à Lomé.
- Mettre en avant les badges : solution togolaise, projet individuel, santé pour tous.
- Laisser une impression positive et chaleureuse, ouvrir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85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72250" y="2857500"/>
            <a:ext cx="3714750" cy="3714750"/>
          </a:xfrm>
          <a:prstGeom prst="ellipse">
            <a:avLst/>
          </a:prstGeom>
          <a:solidFill>
            <a:srgbClr val="B89968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-714375" y="428625"/>
            <a:ext cx="2000250" cy="2000250"/>
          </a:xfrm>
          <a:prstGeom prst="ellipse">
            <a:avLst/>
          </a:prstGeom>
          <a:solidFill>
            <a:srgbClr val="0F5132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91490" y="467616"/>
            <a:ext cx="1412409" cy="264919"/>
          </a:xfrm>
          <a:prstGeom prst="roundRect">
            <a:avLst>
              <a:gd name="adj" fmla="val 3591843"/>
            </a:avLst>
          </a:prstGeom>
          <a:solidFill>
            <a:srgbClr val="B89968">
              <a:alpha val="12000"/>
            </a:srgbClr>
          </a:solidFill>
          <a:ln w="7144">
            <a:solidFill>
              <a:srgbClr val="B8996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764381" y="544711"/>
            <a:ext cx="1009501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Santé pour tous · Togo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621506" y="55006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♥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7393924" y="455414"/>
            <a:ext cx="74995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1125" b="1" spc="-23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MediTike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7430012" y="626864"/>
            <a:ext cx="71386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spc="37" kern="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LOMÉ · TOGO</a:t>
            </a:r>
            <a:endParaRPr lang="en-US" sz="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0050"/>
            <a:ext cx="400050" cy="4000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63890" y="434340"/>
            <a:ext cx="331470" cy="3314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＋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14350" y="1376288"/>
            <a:ext cx="285750" cy="14288"/>
          </a:xfrm>
          <a:prstGeom prst="rect">
            <a:avLst/>
          </a:prstGeom>
          <a:solidFill>
            <a:srgbClr val="B899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9"/>
          <p:cNvSpPr/>
          <p:nvPr/>
        </p:nvSpPr>
        <p:spPr>
          <a:xfrm>
            <a:off x="914400" y="1313780"/>
            <a:ext cx="77152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73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UNE SOLUTION TOGOLAISE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14350" y="1595958"/>
            <a:ext cx="8629650" cy="762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58"/>
              </a:lnSpc>
              <a:buNone/>
            </a:pPr>
            <a:r>
              <a:rPr lang="en-US" sz="5850" b="1" spc="-205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MediTike</a:t>
            </a:r>
            <a:endParaRPr lang="en-US" sz="5850" dirty="0"/>
          </a:p>
        </p:txBody>
      </p:sp>
      <p:sp>
        <p:nvSpPr>
          <p:cNvPr id="15" name="Text 11"/>
          <p:cNvSpPr/>
          <p:nvPr/>
        </p:nvSpPr>
        <p:spPr>
          <a:xfrm>
            <a:off x="514350" y="2473189"/>
            <a:ext cx="8629650" cy="6386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spc="-30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Trouvez vos médicaments facilement,</a:t>
            </a:r>
            <a:endParaRPr lang="en-US" sz="2025" dirty="0"/>
          </a:p>
          <a:p>
            <a:pPr algn="l" indent="0" marL="0">
              <a:lnSpc>
                <a:spcPts val="2329"/>
              </a:lnSpc>
              <a:buNone/>
            </a:pPr>
            <a:r>
              <a:rPr lang="en-US" sz="2025" spc="-30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même la nuit ou le week-end.</a:t>
            </a:r>
            <a:endParaRPr lang="en-US" sz="2025" dirty="0"/>
          </a:p>
        </p:txBody>
      </p:sp>
      <p:sp>
        <p:nvSpPr>
          <p:cNvPr id="16" name="Text 12"/>
          <p:cNvSpPr/>
          <p:nvPr/>
        </p:nvSpPr>
        <p:spPr>
          <a:xfrm>
            <a:off x="514350" y="3236007"/>
            <a:ext cx="4572000" cy="4327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8"/>
              </a:lnSpc>
              <a:buNone/>
            </a:pPr>
            <a:r>
              <a:rPr lang="en-US" sz="956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Une application simple qui met les patients en contact direct avec les pharmacies de garde, partout au Togo.</a:t>
            </a:r>
            <a:endParaRPr lang="en-US" sz="956" dirty="0"/>
          </a:p>
        </p:txBody>
      </p:sp>
      <p:sp>
        <p:nvSpPr>
          <p:cNvPr id="17" name="Text 13"/>
          <p:cNvSpPr/>
          <p:nvPr/>
        </p:nvSpPr>
        <p:spPr>
          <a:xfrm>
            <a:off x="514350" y="416123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☎</a:t>
            </a:r>
            <a:endParaRPr lang="en-US" sz="1266" dirty="0"/>
          </a:p>
        </p:txBody>
      </p:sp>
      <p:sp>
        <p:nvSpPr>
          <p:cNvPr id="18" name="Text 14"/>
          <p:cNvSpPr/>
          <p:nvPr/>
        </p:nvSpPr>
        <p:spPr>
          <a:xfrm>
            <a:off x="728663" y="4150519"/>
            <a:ext cx="120617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1A2B2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+228 96 41 72 70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514350" y="438269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✉</a:t>
            </a:r>
            <a:endParaRPr lang="en-US" sz="1266" dirty="0"/>
          </a:p>
        </p:txBody>
      </p:sp>
      <p:sp>
        <p:nvSpPr>
          <p:cNvPr id="20" name="Text 16"/>
          <p:cNvSpPr/>
          <p:nvPr/>
        </p:nvSpPr>
        <p:spPr>
          <a:xfrm>
            <a:off x="728663" y="4371975"/>
            <a:ext cx="106369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contact@meditike.tg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514350" y="4604147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◎</a:t>
            </a:r>
            <a:endParaRPr lang="en-US" sz="1266" dirty="0"/>
          </a:p>
        </p:txBody>
      </p:sp>
      <p:sp>
        <p:nvSpPr>
          <p:cNvPr id="22" name="Text 18"/>
          <p:cNvSpPr/>
          <p:nvPr/>
        </p:nvSpPr>
        <p:spPr>
          <a:xfrm>
            <a:off x="728663" y="4593431"/>
            <a:ext cx="9634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Lomé, Togo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6178483" y="4457700"/>
            <a:ext cx="2451167" cy="1190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r" indent="0" marL="0">
              <a:lnSpc>
                <a:spcPts val="928"/>
              </a:lnSpc>
              <a:buNone/>
            </a:pPr>
            <a:r>
              <a:rPr lang="en-US" sz="800" b="1" spc="62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NOTRE PROMESSE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6510729" y="4604147"/>
            <a:ext cx="2118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97"/>
              </a:lnSpc>
              <a:buNone/>
            </a:pPr>
            <a:r>
              <a:rPr lang="en-US" sz="800" i="1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« Une solution togolaise pour la santé de tous »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24328" y="257175"/>
            <a:ext cx="2019672" cy="1697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75"/>
              </a:lnSpc>
              <a:buNone/>
            </a:pPr>
            <a:r>
              <a:rPr lang="en-US" sz="12375" b="1" spc="-619" kern="0" dirty="0">
                <a:solidFill>
                  <a:srgbClr val="B89968">
                    <a:alpha val="7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2375" dirty="0"/>
          </a:p>
        </p:txBody>
      </p:sp>
      <p:sp>
        <p:nvSpPr>
          <p:cNvPr id="3" name="Text 1"/>
          <p:cNvSpPr/>
          <p:nvPr/>
        </p:nvSpPr>
        <p:spPr>
          <a:xfrm>
            <a:off x="514350" y="400050"/>
            <a:ext cx="8629650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spc="223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 / 06</a:t>
            </a:r>
            <a:endParaRPr lang="en-US" sz="1238" dirty="0"/>
          </a:p>
        </p:txBody>
      </p:sp>
      <p:sp>
        <p:nvSpPr>
          <p:cNvPr id="4" name="Text 2"/>
          <p:cNvSpPr/>
          <p:nvPr/>
        </p:nvSpPr>
        <p:spPr>
          <a:xfrm>
            <a:off x="514350" y="750094"/>
            <a:ext cx="862965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spc="-4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problème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514350" y="1265002"/>
            <a:ext cx="257175" cy="21431"/>
          </a:xfrm>
          <a:prstGeom prst="roundRect">
            <a:avLst>
              <a:gd name="adj" fmla="val 88890"/>
            </a:avLst>
          </a:prstGeom>
          <a:solidFill>
            <a:srgbClr val="B899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57250" y="1165771"/>
            <a:ext cx="7772400" cy="237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Trouver un médicament urgent au Togo</a:t>
            </a:r>
            <a:endParaRPr lang="en-US" sz="1238" dirty="0"/>
          </a:p>
        </p:txBody>
      </p:sp>
      <p:sp>
        <p:nvSpPr>
          <p:cNvPr id="7" name="Text 5"/>
          <p:cNvSpPr/>
          <p:nvPr/>
        </p:nvSpPr>
        <p:spPr>
          <a:xfrm>
            <a:off x="514350" y="161973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☾</a:t>
            </a:r>
            <a:endParaRPr lang="en-US" sz="1266" dirty="0"/>
          </a:p>
        </p:txBody>
      </p:sp>
      <p:sp>
        <p:nvSpPr>
          <p:cNvPr id="8" name="Text 6"/>
          <p:cNvSpPr/>
          <p:nvPr/>
        </p:nvSpPr>
        <p:spPr>
          <a:xfrm>
            <a:off x="700088" y="1614376"/>
            <a:ext cx="372903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88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 SITUATION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14350" y="1839404"/>
            <a:ext cx="3914775" cy="1016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Quand on a besoin d'un médicament urgent — la nuit, le week-end, ou quand on ne connaît pas bien le quartier — c'est souvent compliqué. Il faut appeler une pharmacie après l'autre pour savoir si elle a le médicament qu'on cherche. Parfois, on tombe sur le répondeur. Parfois, la pharmacie n'a pas le produit. On perd un temps précieux.</a:t>
            </a:r>
            <a:endParaRPr lang="en-US" sz="872" dirty="0"/>
          </a:p>
        </p:txBody>
      </p:sp>
      <p:sp>
        <p:nvSpPr>
          <p:cNvPr id="10" name="Text 8"/>
          <p:cNvSpPr/>
          <p:nvPr/>
        </p:nvSpPr>
        <p:spPr>
          <a:xfrm>
            <a:off x="4714875" y="161973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1266" dirty="0"/>
          </a:p>
        </p:txBody>
      </p:sp>
      <p:sp>
        <p:nvSpPr>
          <p:cNvPr id="11" name="Text 9"/>
          <p:cNvSpPr/>
          <p:nvPr/>
        </p:nvSpPr>
        <p:spPr>
          <a:xfrm>
            <a:off x="4900613" y="1614376"/>
            <a:ext cx="372903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88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L'INFORMATION EXISTE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14875" y="1839404"/>
            <a:ext cx="3914775" cy="812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Pourtant, le Ministère de la Santé publie chaque semaine la liste des pharmacies de garde. Le problème, c'est que cette liste est difficile à trouver quand on en a vraiment besoin. Les gens ne savent pas où la chercher, et encore moins comment contacter directement la bonne pharmacie.</a:t>
            </a:r>
            <a:endParaRPr lang="en-US" sz="872" dirty="0"/>
          </a:p>
        </p:txBody>
      </p:sp>
      <p:sp>
        <p:nvSpPr>
          <p:cNvPr id="13" name="Text 11"/>
          <p:cNvSpPr/>
          <p:nvPr/>
        </p:nvSpPr>
        <p:spPr>
          <a:xfrm>
            <a:off x="517922" y="3677692"/>
            <a:ext cx="2602669" cy="1062186"/>
          </a:xfrm>
          <a:prstGeom prst="roundRect">
            <a:avLst>
              <a:gd name="adj" fmla="val 14348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2944" y="3838426"/>
            <a:ext cx="2081175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spc="-94" kern="0" dirty="0">
                <a:solidFill>
                  <a:srgbClr val="0F51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~100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2788407" y="383842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16" name="Text 14"/>
          <p:cNvSpPr/>
          <p:nvPr/>
        </p:nvSpPr>
        <p:spPr>
          <a:xfrm>
            <a:off x="692944" y="4309914"/>
            <a:ext cx="2252625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pharmacies qui se répartissent la garde à tour de rôle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70610" y="3677692"/>
            <a:ext cx="2602669" cy="1062186"/>
          </a:xfrm>
          <a:prstGeom prst="roundRect">
            <a:avLst>
              <a:gd name="adj" fmla="val 14348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445632" y="3838426"/>
            <a:ext cx="2081175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spc="-94" kern="0" dirty="0">
                <a:solidFill>
                  <a:srgbClr val="0F51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26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5541094" y="383842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547" dirty="0"/>
          </a:p>
        </p:txBody>
      </p:sp>
      <p:sp>
        <p:nvSpPr>
          <p:cNvPr id="20" name="Text 18"/>
          <p:cNvSpPr/>
          <p:nvPr/>
        </p:nvSpPr>
        <p:spPr>
          <a:xfrm>
            <a:off x="3445632" y="4309914"/>
            <a:ext cx="2362353" cy="159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semaines de garde programmées chaque année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023297" y="3677692"/>
            <a:ext cx="2602781" cy="1062186"/>
          </a:xfrm>
          <a:prstGeom prst="roundRect">
            <a:avLst>
              <a:gd name="adj" fmla="val 14348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98319" y="3838426"/>
            <a:ext cx="2081287" cy="432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150" b="1" spc="-94" kern="0" dirty="0">
                <a:solidFill>
                  <a:srgbClr val="0F51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&gt;30 min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8293894" y="383842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⧖</a:t>
            </a:r>
            <a:endParaRPr lang="en-US" sz="1547" dirty="0"/>
          </a:p>
        </p:txBody>
      </p:sp>
      <p:sp>
        <p:nvSpPr>
          <p:cNvPr id="24" name="Text 22"/>
          <p:cNvSpPr/>
          <p:nvPr/>
        </p:nvSpPr>
        <p:spPr>
          <a:xfrm>
            <a:off x="6198319" y="4309914"/>
            <a:ext cx="2252737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temps moyen pour trouver une pharmacie qui a le médicament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24328" y="257175"/>
            <a:ext cx="2019672" cy="1697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75"/>
              </a:lnSpc>
              <a:buNone/>
            </a:pPr>
            <a:r>
              <a:rPr lang="en-US" sz="12375" b="1" spc="-619" kern="0" dirty="0">
                <a:solidFill>
                  <a:srgbClr val="B89968">
                    <a:alpha val="7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2375" dirty="0"/>
          </a:p>
        </p:txBody>
      </p:sp>
      <p:sp>
        <p:nvSpPr>
          <p:cNvPr id="3" name="Shape 1"/>
          <p:cNvSpPr/>
          <p:nvPr/>
        </p:nvSpPr>
        <p:spPr>
          <a:xfrm>
            <a:off x="514350" y="1726555"/>
            <a:ext cx="394335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54128" y="1722983"/>
            <a:ext cx="0" cy="3020467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4350" y="4739878"/>
            <a:ext cx="394335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8638" y="1722983"/>
            <a:ext cx="0" cy="3020467"/>
          </a:xfrm>
          <a:prstGeom prst="line">
            <a:avLst/>
          </a:prstGeom>
          <a:noFill/>
          <a:ln w="28575">
            <a:solidFill>
              <a:srgbClr val="B8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4350" y="400050"/>
            <a:ext cx="8629650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spc="223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 / 06</a:t>
            </a:r>
            <a:endParaRPr lang="en-US" sz="1238" dirty="0"/>
          </a:p>
        </p:txBody>
      </p:sp>
      <p:sp>
        <p:nvSpPr>
          <p:cNvPr id="8" name="Text 6"/>
          <p:cNvSpPr/>
          <p:nvPr/>
        </p:nvSpPr>
        <p:spPr>
          <a:xfrm>
            <a:off x="514350" y="721519"/>
            <a:ext cx="8629650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spc="-4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Notre idée</a:t>
            </a:r>
            <a:endParaRPr lang="en-US" sz="2475" dirty="0"/>
          </a:p>
        </p:txBody>
      </p:sp>
      <p:sp>
        <p:nvSpPr>
          <p:cNvPr id="9" name="Text 7"/>
          <p:cNvSpPr/>
          <p:nvPr/>
        </p:nvSpPr>
        <p:spPr>
          <a:xfrm>
            <a:off x="514350" y="1206847"/>
            <a:ext cx="257175" cy="21431"/>
          </a:xfrm>
          <a:prstGeom prst="roundRect">
            <a:avLst>
              <a:gd name="adj" fmla="val 88890"/>
            </a:avLst>
          </a:prstGeom>
          <a:solidFill>
            <a:srgbClr val="B899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57250" y="1137196"/>
            <a:ext cx="777240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Une seule demande, plusieurs réponses, un seul déplacement.</a:t>
            </a:r>
            <a:endParaRPr lang="en-US" sz="844" dirty="0"/>
          </a:p>
        </p:txBody>
      </p:sp>
      <p:sp>
        <p:nvSpPr>
          <p:cNvPr id="11" name="Text 9"/>
          <p:cNvSpPr/>
          <p:nvPr/>
        </p:nvSpPr>
        <p:spPr>
          <a:xfrm>
            <a:off x="514350" y="1503313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266" dirty="0"/>
          </a:p>
        </p:txBody>
      </p:sp>
      <p:sp>
        <p:nvSpPr>
          <p:cNvPr id="12" name="Text 10"/>
          <p:cNvSpPr/>
          <p:nvPr/>
        </p:nvSpPr>
        <p:spPr>
          <a:xfrm>
            <a:off x="700088" y="1497955"/>
            <a:ext cx="37576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88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L'IDÉE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4350" y="1722983"/>
            <a:ext cx="3943350" cy="3020467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90500" dist="57150" dir="5400000">
              <a:srgbClr val="0F5132">
                <a:alpha val="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054971" y="1844427"/>
            <a:ext cx="181273" cy="462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3375" dirty="0">
                <a:solidFill>
                  <a:srgbClr val="B89968">
                    <a:alpha val="18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«</a:t>
            </a:r>
            <a:endParaRPr lang="en-US" sz="3375" dirty="0"/>
          </a:p>
        </p:txBody>
      </p:sp>
      <p:sp>
        <p:nvSpPr>
          <p:cNvPr id="15" name="Text 13"/>
          <p:cNvSpPr/>
          <p:nvPr/>
        </p:nvSpPr>
        <p:spPr>
          <a:xfrm>
            <a:off x="757238" y="1930152"/>
            <a:ext cx="3479006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-10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L'idée</a:t>
            </a:r>
            <a:endParaRPr lang="en-US" sz="1013" dirty="0"/>
          </a:p>
        </p:txBody>
      </p:sp>
      <p:sp>
        <p:nvSpPr>
          <p:cNvPr id="16" name="Text 14"/>
          <p:cNvSpPr/>
          <p:nvPr/>
        </p:nvSpPr>
        <p:spPr>
          <a:xfrm>
            <a:off x="757238" y="2208758"/>
            <a:ext cx="3479006" cy="811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Et si on pouvait, depuis son téléphone, envoyer une seule demande de médicament à toutes les pharmacies de garde en même temps ? Les pharmaciens voient la demande, répondent directement, et le patient sait tout de suite où aller.</a:t>
            </a:r>
            <a:endParaRPr lang="en-US" sz="872" dirty="0"/>
          </a:p>
        </p:txBody>
      </p:sp>
      <p:sp>
        <p:nvSpPr>
          <p:cNvPr id="17" name="Text 15"/>
          <p:cNvSpPr/>
          <p:nvPr/>
        </p:nvSpPr>
        <p:spPr>
          <a:xfrm>
            <a:off x="757238" y="3047256"/>
            <a:ext cx="3479006" cy="406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Plus besoin d'appeler 5 ou 10 pharmacies : </a:t>
            </a:r>
            <a:pPr algn="l" indent="0" marL="0">
              <a:lnSpc>
                <a:spcPts val="1482"/>
              </a:lnSpc>
              <a:buNone/>
            </a:pPr>
            <a:r>
              <a:rPr lang="en-US" sz="872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une demande, plusieurs réponses, un seul déplacement.</a:t>
            </a:r>
            <a:endParaRPr lang="en-US" sz="872" dirty="0"/>
          </a:p>
        </p:txBody>
      </p:sp>
      <p:sp>
        <p:nvSpPr>
          <p:cNvPr id="18" name="Text 16"/>
          <p:cNvSpPr/>
          <p:nvPr/>
        </p:nvSpPr>
        <p:spPr>
          <a:xfrm>
            <a:off x="757238" y="4414838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▯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928688" y="4407694"/>
            <a:ext cx="330755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27" kern="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UNE IDÉE SIMPLE, POUR UN PROBLÈME RÉEL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86300" y="1503313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266" dirty="0"/>
          </a:p>
        </p:txBody>
      </p:sp>
      <p:sp>
        <p:nvSpPr>
          <p:cNvPr id="21" name="Text 19"/>
          <p:cNvSpPr/>
          <p:nvPr/>
        </p:nvSpPr>
        <p:spPr>
          <a:xfrm>
            <a:off x="4872038" y="1497955"/>
            <a:ext cx="37576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b="1" spc="88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CE QU'ON VEUT ACCOMPLIR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686300" y="1722983"/>
            <a:ext cx="4140518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-10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Ce qu'on veut accomplir</a:t>
            </a:r>
            <a:endParaRPr lang="en-US" sz="1013" dirty="0"/>
          </a:p>
        </p:txBody>
      </p:sp>
      <p:sp>
        <p:nvSpPr>
          <p:cNvPr id="23" name="Text 21"/>
          <p:cNvSpPr/>
          <p:nvPr/>
        </p:nvSpPr>
        <p:spPr>
          <a:xfrm>
            <a:off x="4689872" y="2005161"/>
            <a:ext cx="3936206" cy="496491"/>
          </a:xfrm>
          <a:prstGeom prst="roundRect">
            <a:avLst>
              <a:gd name="adj" fmla="val 23022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22031" y="2117675"/>
            <a:ext cx="271463" cy="271463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4822031" y="2117675"/>
            <a:ext cx="3286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207794" y="2108746"/>
            <a:ext cx="328612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Passer de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0F51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30 minutes à moins de 5 minutes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pour trouver une pharmacie qui a le médicament.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4689872" y="2580233"/>
            <a:ext cx="3936206" cy="496491"/>
          </a:xfrm>
          <a:prstGeom prst="roundRect">
            <a:avLst>
              <a:gd name="adj" fmla="val 23022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2031" y="2692747"/>
            <a:ext cx="271463" cy="271463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4822031" y="2692747"/>
            <a:ext cx="3286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207794" y="2683818"/>
            <a:ext cx="328612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Rendre la liste officielle des pharmacies de garde accessible à tout le monde,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 temps réel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4689872" y="3155305"/>
            <a:ext cx="3936206" cy="496491"/>
          </a:xfrm>
          <a:prstGeom prst="roundRect">
            <a:avLst>
              <a:gd name="adj" fmla="val 23022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2031" y="3267819"/>
            <a:ext cx="271463" cy="271463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822031" y="3267819"/>
            <a:ext cx="3286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5207794" y="3258889"/>
            <a:ext cx="328612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Protéger la vie privée des patients : leurs photos sont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supprimées automatiquement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après quelques jours.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4689872" y="3730377"/>
            <a:ext cx="3936206" cy="496491"/>
          </a:xfrm>
          <a:prstGeom prst="roundRect">
            <a:avLst>
              <a:gd name="adj" fmla="val 23022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031" y="3842891"/>
            <a:ext cx="271463" cy="271463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4822031" y="3842891"/>
            <a:ext cx="328613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2"/>
          <p:cNvSpPr/>
          <p:nvPr/>
        </p:nvSpPr>
        <p:spPr>
          <a:xfrm>
            <a:off x="5207794" y="3833961"/>
            <a:ext cx="328612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 outil simple, gratuit, qui marche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même avec une connexion internet lente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4350" y="400050"/>
            <a:ext cx="8629650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spc="223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 / 06</a:t>
            </a:r>
            <a:endParaRPr lang="en-US" sz="1238" dirty="0"/>
          </a:p>
        </p:txBody>
      </p:sp>
      <p:sp>
        <p:nvSpPr>
          <p:cNvPr id="3" name="Text 1"/>
          <p:cNvSpPr/>
          <p:nvPr/>
        </p:nvSpPr>
        <p:spPr>
          <a:xfrm>
            <a:off x="514350" y="721519"/>
            <a:ext cx="3134454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spc="-4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Comment ça marche</a:t>
            </a:r>
            <a:endParaRPr lang="en-US" sz="2475" dirty="0"/>
          </a:p>
        </p:txBody>
      </p:sp>
      <p:sp>
        <p:nvSpPr>
          <p:cNvPr id="4" name="Text 2"/>
          <p:cNvSpPr/>
          <p:nvPr/>
        </p:nvSpPr>
        <p:spPr>
          <a:xfrm>
            <a:off x="514350" y="1221470"/>
            <a:ext cx="257175" cy="21431"/>
          </a:xfrm>
          <a:prstGeom prst="roundRect">
            <a:avLst>
              <a:gd name="adj" fmla="val 88890"/>
            </a:avLst>
          </a:prstGeom>
          <a:solidFill>
            <a:srgbClr val="B899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57250" y="1137196"/>
            <a:ext cx="2642295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Trois personnes, un circuit simple</a:t>
            </a:r>
            <a:endParaRPr lang="en-US" sz="1069" dirty="0"/>
          </a:p>
        </p:txBody>
      </p:sp>
      <p:sp>
        <p:nvSpPr>
          <p:cNvPr id="6" name="Text 4"/>
          <p:cNvSpPr/>
          <p:nvPr/>
        </p:nvSpPr>
        <p:spPr>
          <a:xfrm>
            <a:off x="7072982" y="1212875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84" dirty="0"/>
          </a:p>
        </p:txBody>
      </p:sp>
      <p:sp>
        <p:nvSpPr>
          <p:cNvPr id="7" name="Text 5"/>
          <p:cNvSpPr/>
          <p:nvPr/>
        </p:nvSpPr>
        <p:spPr>
          <a:xfrm>
            <a:off x="7230145" y="1198587"/>
            <a:ext cx="16339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spc="54" kern="0" dirty="0">
                <a:solidFill>
                  <a:srgbClr val="6B7C7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 RÔLES COMPLÉMENTAIRES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17922" y="1530772"/>
            <a:ext cx="2602669" cy="3209106"/>
          </a:xfrm>
          <a:prstGeom prst="roundRect">
            <a:avLst>
              <a:gd name="adj" fmla="val 6587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944" y="1720081"/>
            <a:ext cx="371475" cy="37147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33663" y="1760800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☻</a:t>
            </a:r>
            <a:endParaRPr lang="en-US" sz="1969" dirty="0"/>
          </a:p>
        </p:txBody>
      </p:sp>
      <p:sp>
        <p:nvSpPr>
          <p:cNvPr id="11" name="Text 8"/>
          <p:cNvSpPr/>
          <p:nvPr/>
        </p:nvSpPr>
        <p:spPr>
          <a:xfrm>
            <a:off x="692944" y="2205856"/>
            <a:ext cx="2252625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87" kern="0" dirty="0">
                <a:solidFill>
                  <a:srgbClr val="1A6B4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RÔLE 01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92944" y="2366590"/>
            <a:ext cx="2252625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spc="-1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patient</a:t>
            </a:r>
            <a:endParaRPr lang="en-US" sz="1238" dirty="0"/>
          </a:p>
        </p:txBody>
      </p:sp>
      <p:sp>
        <p:nvSpPr>
          <p:cNvPr id="13" name="Text 10"/>
          <p:cNvSpPr/>
          <p:nvPr/>
        </p:nvSpPr>
        <p:spPr>
          <a:xfrm>
            <a:off x="692944" y="2673772"/>
            <a:ext cx="2252625" cy="702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patient décrit le médicament qu'il cherche. Il peut ajouter une photo (une ordonnance, la boîte vide). Sa demande part à toutes les pharmacies de garde en une seule fois.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92944" y="3562052"/>
            <a:ext cx="2252625" cy="1047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✓Crée un compte avec son numéro de téléphone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✓Écrit le nom du médicament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✓Ajoute une photo si besoin (jusqu'à 3 photos)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✓Attend les réponses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3270610" y="1530772"/>
            <a:ext cx="2602669" cy="3209106"/>
          </a:xfrm>
          <a:prstGeom prst="roundRect">
            <a:avLst>
              <a:gd name="adj" fmla="val 6587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5632" y="1720081"/>
            <a:ext cx="371475" cy="37147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86351" y="1760800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969" dirty="0"/>
          </a:p>
        </p:txBody>
      </p:sp>
      <p:sp>
        <p:nvSpPr>
          <p:cNvPr id="18" name="Text 14"/>
          <p:cNvSpPr/>
          <p:nvPr/>
        </p:nvSpPr>
        <p:spPr>
          <a:xfrm>
            <a:off x="3445632" y="2205856"/>
            <a:ext cx="2252625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87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RÔLE 02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3445632" y="2366590"/>
            <a:ext cx="2252625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spc="-1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pharmacien</a:t>
            </a:r>
            <a:endParaRPr lang="en-US" sz="1238" dirty="0"/>
          </a:p>
        </p:txBody>
      </p:sp>
      <p:sp>
        <p:nvSpPr>
          <p:cNvPr id="20" name="Text 16"/>
          <p:cNvSpPr/>
          <p:nvPr/>
        </p:nvSpPr>
        <p:spPr>
          <a:xfrm>
            <a:off x="3445632" y="2673772"/>
            <a:ext cx="2252625" cy="526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pharmacien reçoit la demande immédiatement. Il répond en un clic : oui ou non, le prix, et un petit mot si besoin.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3445632" y="3562052"/>
            <a:ext cx="2252625" cy="1047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✓Voit la demande arriver en direct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✓Répond : disponible ou non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✓Indique le prix en FCFA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✓Le patient est notifié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6023297" y="1530772"/>
            <a:ext cx="2602781" cy="3209106"/>
          </a:xfrm>
          <a:prstGeom prst="roundRect">
            <a:avLst>
              <a:gd name="adj" fmla="val 6587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319" y="1720081"/>
            <a:ext cx="371475" cy="371475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239039" y="1760800"/>
            <a:ext cx="2900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969" dirty="0"/>
          </a:p>
        </p:txBody>
      </p:sp>
      <p:sp>
        <p:nvSpPr>
          <p:cNvPr id="25" name="Text 20"/>
          <p:cNvSpPr/>
          <p:nvPr/>
        </p:nvSpPr>
        <p:spPr>
          <a:xfrm>
            <a:off x="6198319" y="2205856"/>
            <a:ext cx="2252737" cy="1333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87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RÔLE 03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6198319" y="2366590"/>
            <a:ext cx="2252737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spc="-1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L'administrateur</a:t>
            </a:r>
            <a:endParaRPr lang="en-US" sz="1238" dirty="0"/>
          </a:p>
        </p:txBody>
      </p:sp>
      <p:sp>
        <p:nvSpPr>
          <p:cNvPr id="27" name="Text 22"/>
          <p:cNvSpPr/>
          <p:nvPr/>
        </p:nvSpPr>
        <p:spPr>
          <a:xfrm>
            <a:off x="6198319" y="2673772"/>
            <a:ext cx="2252737" cy="526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L'administrateur gère tout : il inscrit les pharmacies, importe la liste de garde, et surveille que tout fonctionne bien.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6198319" y="3562052"/>
            <a:ext cx="2252737" cy="10478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✓Inscrit les pharmacies partenaires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✓Importe la liste hebdomadaire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✓Voit les statistiques</a:t>
            </a:r>
            <a:endParaRPr lang="en-US" sz="800" dirty="0"/>
          </a:p>
          <a:p>
            <a:pPr algn="l" marL="342900" indent="-342900">
              <a:lnSpc>
                <a:spcPts val="1060"/>
              </a:lnSpc>
              <a:buSzPct val="100000"/>
              <a:buChar char="•"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✓Garde une trace de toutes les actions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85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43625" y="-1428750"/>
            <a:ext cx="4286250" cy="4286250"/>
          </a:xfrm>
          <a:prstGeom prst="ellipse">
            <a:avLst/>
          </a:prstGeom>
          <a:solidFill>
            <a:srgbClr val="B89968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-857250" y="3500438"/>
            <a:ext cx="2714625" cy="2714625"/>
          </a:xfrm>
          <a:prstGeom prst="ellipse">
            <a:avLst/>
          </a:prstGeom>
          <a:solidFill>
            <a:srgbClr val="0F5132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678656" y="3811191"/>
            <a:ext cx="2243138" cy="0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450431" y="3811191"/>
            <a:ext cx="2243138" cy="0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22206" y="3811191"/>
            <a:ext cx="2243138" cy="0"/>
          </a:xfrm>
          <a:prstGeom prst="line">
            <a:avLst/>
          </a:prstGeom>
          <a:noFill/>
          <a:ln w="7144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14350" y="49291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⌇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685800" y="485775"/>
            <a:ext cx="794385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800" b="1" spc="122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PARCOURS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14350" y="700088"/>
            <a:ext cx="8521065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spc="-49" kern="0" dirty="0">
                <a:solidFill>
                  <a:srgbClr val="F5F3E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Le parcours en 3 étapes</a:t>
            </a:r>
            <a:endParaRPr lang="en-US" sz="2475" dirty="0"/>
          </a:p>
        </p:txBody>
      </p:sp>
      <p:sp>
        <p:nvSpPr>
          <p:cNvPr id="11" name="Text 8"/>
          <p:cNvSpPr/>
          <p:nvPr/>
        </p:nvSpPr>
        <p:spPr>
          <a:xfrm>
            <a:off x="514350" y="1200038"/>
            <a:ext cx="257175" cy="21431"/>
          </a:xfrm>
          <a:prstGeom prst="roundRect">
            <a:avLst>
              <a:gd name="adj" fmla="val 88890"/>
            </a:avLst>
          </a:prstGeom>
          <a:solidFill>
            <a:srgbClr val="B899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857250" y="1115764"/>
            <a:ext cx="7772400" cy="2051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96"/>
              </a:lnSpc>
              <a:buNone/>
            </a:pPr>
            <a:r>
              <a:rPr lang="en-US" sz="1069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30 secondes pour le patient, des réponses en quelques minutes</a:t>
            </a:r>
            <a:endParaRPr lang="en-US" sz="1069" dirty="0"/>
          </a:p>
        </p:txBody>
      </p:sp>
      <p:sp>
        <p:nvSpPr>
          <p:cNvPr id="13" name="Text 10"/>
          <p:cNvSpPr/>
          <p:nvPr/>
        </p:nvSpPr>
        <p:spPr>
          <a:xfrm>
            <a:off x="517922" y="1537915"/>
            <a:ext cx="2564606" cy="2655466"/>
          </a:xfrm>
          <a:prstGeom prst="roundRect">
            <a:avLst>
              <a:gd name="adj" fmla="val 6685"/>
            </a:avLst>
          </a:prstGeom>
          <a:solidFill>
            <a:srgbClr val="FFFFFF">
              <a:alpha val="3000"/>
            </a:srgbClr>
          </a:solidFill>
          <a:ln w="7144">
            <a:solidFill>
              <a:srgbClr val="F5F3E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794" y="1970112"/>
            <a:ext cx="314325" cy="142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8656" y="1712937"/>
            <a:ext cx="1828800" cy="6789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950" b="1" spc="-198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4950" dirty="0"/>
          </a:p>
        </p:txBody>
      </p:sp>
      <p:sp>
        <p:nvSpPr>
          <p:cNvPr id="16" name="Text 12"/>
          <p:cNvSpPr/>
          <p:nvPr/>
        </p:nvSpPr>
        <p:spPr>
          <a:xfrm>
            <a:off x="2525316" y="1716509"/>
            <a:ext cx="392906" cy="392906"/>
          </a:xfrm>
          <a:prstGeom prst="roundRect">
            <a:avLst>
              <a:gd name="adj" fmla="val 33939"/>
            </a:avLst>
          </a:prstGeom>
          <a:solidFill>
            <a:srgbClr val="F5F3EF">
              <a:alpha val="8000"/>
            </a:srgbClr>
          </a:solidFill>
          <a:ln w="7144">
            <a:solidFill>
              <a:srgbClr val="B8996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2566392" y="1757586"/>
            <a:ext cx="310753" cy="3107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9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➤</a:t>
            </a:r>
            <a:endParaRPr lang="en-US" sz="2109" dirty="0"/>
          </a:p>
        </p:txBody>
      </p:sp>
      <p:sp>
        <p:nvSpPr>
          <p:cNvPr id="18" name="Text 14"/>
          <p:cNvSpPr/>
          <p:nvPr/>
        </p:nvSpPr>
        <p:spPr>
          <a:xfrm>
            <a:off x="678656" y="2455887"/>
            <a:ext cx="2352866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spc="-17" kern="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patient envoie sa demande</a:t>
            </a:r>
            <a:endParaRPr lang="en-US" sz="1125" dirty="0"/>
          </a:p>
        </p:txBody>
      </p:sp>
      <p:sp>
        <p:nvSpPr>
          <p:cNvPr id="19" name="Text 15"/>
          <p:cNvSpPr/>
          <p:nvPr/>
        </p:nvSpPr>
        <p:spPr>
          <a:xfrm>
            <a:off x="678656" y="2691631"/>
            <a:ext cx="2243138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3"/>
              </a:lnSpc>
              <a:buNone/>
            </a:pPr>
            <a:r>
              <a:rPr lang="en-US" sz="80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patient écrit le nom du médicament et ajoute une photo s'il veut. En un clic, sa demande part à toutes les pharmacies de garde de sa zone.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678656" y="390941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84" dirty="0"/>
          </a:p>
        </p:txBody>
      </p:sp>
      <p:sp>
        <p:nvSpPr>
          <p:cNvPr id="21" name="Text 17"/>
          <p:cNvSpPr/>
          <p:nvPr/>
        </p:nvSpPr>
        <p:spPr>
          <a:xfrm>
            <a:off x="835819" y="3900488"/>
            <a:ext cx="2085975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62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 SEUL CLIC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3289697" y="1537915"/>
            <a:ext cx="2564606" cy="2655466"/>
          </a:xfrm>
          <a:prstGeom prst="roundRect">
            <a:avLst>
              <a:gd name="adj" fmla="val 6685"/>
            </a:avLst>
          </a:prstGeom>
          <a:solidFill>
            <a:srgbClr val="FFFFFF">
              <a:alpha val="3000"/>
            </a:srgbClr>
          </a:solidFill>
          <a:ln w="7144">
            <a:solidFill>
              <a:srgbClr val="F5F3E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3569" y="1970112"/>
            <a:ext cx="314325" cy="142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3450431" y="1712937"/>
            <a:ext cx="1828800" cy="6789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950" b="1" spc="-198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4950" dirty="0"/>
          </a:p>
        </p:txBody>
      </p:sp>
      <p:sp>
        <p:nvSpPr>
          <p:cNvPr id="25" name="Text 20"/>
          <p:cNvSpPr/>
          <p:nvPr/>
        </p:nvSpPr>
        <p:spPr>
          <a:xfrm>
            <a:off x="5297091" y="1716509"/>
            <a:ext cx="392906" cy="392906"/>
          </a:xfrm>
          <a:prstGeom prst="roundRect">
            <a:avLst>
              <a:gd name="adj" fmla="val 33939"/>
            </a:avLst>
          </a:prstGeom>
          <a:solidFill>
            <a:srgbClr val="F5F3EF">
              <a:alpha val="8000"/>
            </a:srgbClr>
          </a:solidFill>
          <a:ln w="7144">
            <a:solidFill>
              <a:srgbClr val="B8996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1"/>
          <p:cNvSpPr/>
          <p:nvPr/>
        </p:nvSpPr>
        <p:spPr>
          <a:xfrm>
            <a:off x="5338167" y="1757586"/>
            <a:ext cx="310753" cy="3107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9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◔</a:t>
            </a:r>
            <a:endParaRPr lang="en-US" sz="2109" dirty="0"/>
          </a:p>
        </p:txBody>
      </p:sp>
      <p:sp>
        <p:nvSpPr>
          <p:cNvPr id="27" name="Text 22"/>
          <p:cNvSpPr/>
          <p:nvPr/>
        </p:nvSpPr>
        <p:spPr>
          <a:xfrm>
            <a:off x="3450431" y="2455887"/>
            <a:ext cx="2243137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spc="-17" kern="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Les pharmacies répondent</a:t>
            </a:r>
            <a:endParaRPr lang="en-US" sz="1125" dirty="0"/>
          </a:p>
        </p:txBody>
      </p:sp>
      <p:sp>
        <p:nvSpPr>
          <p:cNvPr id="28" name="Text 23"/>
          <p:cNvSpPr/>
          <p:nvPr/>
        </p:nvSpPr>
        <p:spPr>
          <a:xfrm>
            <a:off x="3450431" y="2691631"/>
            <a:ext cx="2243138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3"/>
              </a:lnSpc>
              <a:buNone/>
            </a:pPr>
            <a:r>
              <a:rPr lang="en-US" sz="80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Les pharmaciens voient la demande arriver. Ils répondent : oui j'ai le médicament, voici le prix. Ou non, je n'ai pas. Le patient voit les réponses s'afficher en direct.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3450431" y="390941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⚡</a:t>
            </a:r>
            <a:endParaRPr lang="en-US" sz="984" dirty="0"/>
          </a:p>
        </p:txBody>
      </p:sp>
      <p:sp>
        <p:nvSpPr>
          <p:cNvPr id="30" name="Text 25"/>
          <p:cNvSpPr/>
          <p:nvPr/>
        </p:nvSpPr>
        <p:spPr>
          <a:xfrm>
            <a:off x="3607594" y="3900488"/>
            <a:ext cx="2085975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62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 TEMPS RÉEL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6061472" y="1537915"/>
            <a:ext cx="2564606" cy="2655466"/>
          </a:xfrm>
          <a:prstGeom prst="roundRect">
            <a:avLst>
              <a:gd name="adj" fmla="val 6685"/>
            </a:avLst>
          </a:prstGeom>
          <a:solidFill>
            <a:srgbClr val="FFFFFF">
              <a:alpha val="3000"/>
            </a:srgbClr>
          </a:solidFill>
          <a:ln w="7144">
            <a:solidFill>
              <a:srgbClr val="F5F3E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7"/>
          <p:cNvSpPr/>
          <p:nvPr/>
        </p:nvSpPr>
        <p:spPr>
          <a:xfrm>
            <a:off x="6222206" y="1712937"/>
            <a:ext cx="1828800" cy="6789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950" b="1" spc="-198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4950" dirty="0"/>
          </a:p>
        </p:txBody>
      </p:sp>
      <p:sp>
        <p:nvSpPr>
          <p:cNvPr id="33" name="Text 28"/>
          <p:cNvSpPr/>
          <p:nvPr/>
        </p:nvSpPr>
        <p:spPr>
          <a:xfrm>
            <a:off x="8068866" y="1716509"/>
            <a:ext cx="392906" cy="392906"/>
          </a:xfrm>
          <a:prstGeom prst="roundRect">
            <a:avLst>
              <a:gd name="adj" fmla="val 33939"/>
            </a:avLst>
          </a:prstGeom>
          <a:solidFill>
            <a:srgbClr val="F5F3EF">
              <a:alpha val="8000"/>
            </a:srgbClr>
          </a:solidFill>
          <a:ln w="7144">
            <a:solidFill>
              <a:srgbClr val="B8996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9"/>
          <p:cNvSpPr/>
          <p:nvPr/>
        </p:nvSpPr>
        <p:spPr>
          <a:xfrm>
            <a:off x="8109942" y="1757586"/>
            <a:ext cx="310753" cy="3107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9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◌</a:t>
            </a:r>
            <a:endParaRPr lang="en-US" sz="2109" dirty="0"/>
          </a:p>
        </p:txBody>
      </p:sp>
      <p:sp>
        <p:nvSpPr>
          <p:cNvPr id="35" name="Text 30"/>
          <p:cNvSpPr/>
          <p:nvPr/>
        </p:nvSpPr>
        <p:spPr>
          <a:xfrm>
            <a:off x="6222206" y="2455887"/>
            <a:ext cx="2352866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spc="-17" kern="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patient contacte la pharmacie</a:t>
            </a:r>
            <a:endParaRPr lang="en-US" sz="1125" dirty="0"/>
          </a:p>
        </p:txBody>
      </p:sp>
      <p:sp>
        <p:nvSpPr>
          <p:cNvPr id="36" name="Text 31"/>
          <p:cNvSpPr/>
          <p:nvPr/>
        </p:nvSpPr>
        <p:spPr>
          <a:xfrm>
            <a:off x="6222206" y="2691631"/>
            <a:ext cx="2243138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3"/>
              </a:lnSpc>
              <a:buNone/>
            </a:pPr>
            <a:r>
              <a:rPr lang="en-US" sz="80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patient clique sur WhatsApp ou Appeler pour joindre directement la pharmacie qui a son médicament. Il peut y aller, son traitement l'attend.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6222206" y="390941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◎</a:t>
            </a:r>
            <a:endParaRPr lang="en-US" sz="984" dirty="0"/>
          </a:p>
        </p:txBody>
      </p:sp>
      <p:sp>
        <p:nvSpPr>
          <p:cNvPr id="38" name="Text 33"/>
          <p:cNvSpPr/>
          <p:nvPr/>
        </p:nvSpPr>
        <p:spPr>
          <a:xfrm>
            <a:off x="6379369" y="3900488"/>
            <a:ext cx="2085975" cy="117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62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 SEUL DÉPLACEMENT</a:t>
            </a:r>
            <a:endParaRPr lang="en-US" sz="800" dirty="0"/>
          </a:p>
        </p:txBody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848" y="4396978"/>
            <a:ext cx="2790304" cy="346472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3180420" y="4400550"/>
            <a:ext cx="2783160" cy="339328"/>
          </a:xfrm>
          <a:prstGeom prst="roundRect">
            <a:avLst>
              <a:gd name="adj" fmla="val 2804212"/>
            </a:avLst>
          </a:prstGeom>
          <a:noFill/>
          <a:ln w="7144">
            <a:solidFill>
              <a:srgbClr val="B8996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3555467" y="4504134"/>
            <a:ext cx="5074183" cy="131159"/>
          </a:xfrm>
          <a:prstGeom prst="rect">
            <a:avLst/>
          </a:prstGeom>
          <a:noFill/>
          <a:ln/>
        </p:spPr>
        <p:txBody>
          <a:bodyPr wrap="none" lIns="171450" tIns="85725" rIns="171450" bIns="85725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8" kern="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Tout le parcours prend moins de 5 minutes</a:t>
            </a:r>
            <a:endParaRPr lang="en-US" sz="844" dirty="0"/>
          </a:p>
        </p:txBody>
      </p:sp>
      <p:sp>
        <p:nvSpPr>
          <p:cNvPr id="42" name="Text 36"/>
          <p:cNvSpPr/>
          <p:nvPr/>
        </p:nvSpPr>
        <p:spPr>
          <a:xfrm>
            <a:off x="3355442" y="450592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◔</a:t>
            </a:r>
            <a:endParaRPr lang="en-US" sz="12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24328" y="257175"/>
            <a:ext cx="2019672" cy="1697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75"/>
              </a:lnSpc>
              <a:buNone/>
            </a:pPr>
            <a:r>
              <a:rPr lang="en-US" sz="12375" b="1" spc="-619" kern="0" dirty="0">
                <a:solidFill>
                  <a:srgbClr val="B89968">
                    <a:alpha val="7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2375" dirty="0"/>
          </a:p>
        </p:txBody>
      </p:sp>
      <p:sp>
        <p:nvSpPr>
          <p:cNvPr id="3" name="Shape 1"/>
          <p:cNvSpPr/>
          <p:nvPr/>
        </p:nvSpPr>
        <p:spPr>
          <a:xfrm>
            <a:off x="514350" y="1705124"/>
            <a:ext cx="486913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79913" y="1701552"/>
            <a:ext cx="0" cy="680442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4350" y="2378422"/>
            <a:ext cx="486913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28638" y="1701552"/>
            <a:ext cx="0" cy="680442"/>
          </a:xfrm>
          <a:prstGeom prst="line">
            <a:avLst/>
          </a:prstGeom>
          <a:noFill/>
          <a:ln w="28575">
            <a:solidFill>
              <a:srgbClr val="0F513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4350" y="2457004"/>
            <a:ext cx="486913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79913" y="2453432"/>
            <a:ext cx="0" cy="680442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4350" y="3130302"/>
            <a:ext cx="486913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8638" y="2453432"/>
            <a:ext cx="0" cy="680442"/>
          </a:xfrm>
          <a:prstGeom prst="line">
            <a:avLst/>
          </a:prstGeom>
          <a:noFill/>
          <a:ln w="28575">
            <a:solidFill>
              <a:srgbClr val="0F513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4350" y="3208883"/>
            <a:ext cx="486913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79913" y="3205311"/>
            <a:ext cx="0" cy="818852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4350" y="4020592"/>
            <a:ext cx="486913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8638" y="3205311"/>
            <a:ext cx="0" cy="818852"/>
          </a:xfrm>
          <a:prstGeom prst="line">
            <a:avLst/>
          </a:prstGeom>
          <a:noFill/>
          <a:ln w="28575">
            <a:solidFill>
              <a:srgbClr val="B899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4350" y="4099173"/>
            <a:ext cx="486913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79913" y="4095601"/>
            <a:ext cx="0" cy="818852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4350" y="4910882"/>
            <a:ext cx="4869135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8638" y="4095601"/>
            <a:ext cx="0" cy="818852"/>
          </a:xfrm>
          <a:prstGeom prst="line">
            <a:avLst/>
          </a:prstGeom>
          <a:noFill/>
          <a:ln w="28575">
            <a:solidFill>
              <a:srgbClr val="B8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4350" y="400050"/>
            <a:ext cx="8629650" cy="254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b="1" spc="223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 / 06</a:t>
            </a:r>
            <a:endParaRPr lang="en-US" sz="1238" dirty="0"/>
          </a:p>
        </p:txBody>
      </p:sp>
      <p:sp>
        <p:nvSpPr>
          <p:cNvPr id="20" name="Text 18"/>
          <p:cNvSpPr/>
          <p:nvPr/>
        </p:nvSpPr>
        <p:spPr>
          <a:xfrm>
            <a:off x="514350" y="721519"/>
            <a:ext cx="8521065" cy="3563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99"/>
              </a:lnSpc>
              <a:buNone/>
            </a:pPr>
            <a:r>
              <a:rPr lang="en-US" sz="2475" b="1" spc="-4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Les outils qu'on utilise</a:t>
            </a:r>
            <a:endParaRPr lang="en-US" sz="2475" dirty="0"/>
          </a:p>
        </p:txBody>
      </p:sp>
      <p:sp>
        <p:nvSpPr>
          <p:cNvPr id="21" name="Text 19"/>
          <p:cNvSpPr/>
          <p:nvPr/>
        </p:nvSpPr>
        <p:spPr>
          <a:xfrm>
            <a:off x="514350" y="1206847"/>
            <a:ext cx="257175" cy="21431"/>
          </a:xfrm>
          <a:prstGeom prst="roundRect">
            <a:avLst>
              <a:gd name="adj" fmla="val 88890"/>
            </a:avLst>
          </a:prstGeom>
          <a:solidFill>
            <a:srgbClr val="B899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57250" y="1137196"/>
            <a:ext cx="777240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Des technologies modernes, pour un résultat fiable et rapide</a:t>
            </a:r>
            <a:endParaRPr lang="en-US" sz="844" dirty="0"/>
          </a:p>
        </p:txBody>
      </p:sp>
      <p:sp>
        <p:nvSpPr>
          <p:cNvPr id="23" name="Text 21"/>
          <p:cNvSpPr/>
          <p:nvPr/>
        </p:nvSpPr>
        <p:spPr>
          <a:xfrm>
            <a:off x="514350" y="149974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685800" y="1497955"/>
            <a:ext cx="469768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87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LES OUTILS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14350" y="1701552"/>
            <a:ext cx="4869135" cy="680442"/>
          </a:xfrm>
          <a:prstGeom prst="roundRect">
            <a:avLst>
              <a:gd name="adj" fmla="val 1679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13" y="1808708"/>
            <a:ext cx="271463" cy="271463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703659" y="1840855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1406" dirty="0"/>
          </a:p>
        </p:txBody>
      </p:sp>
      <p:sp>
        <p:nvSpPr>
          <p:cNvPr id="28" name="Text 25"/>
          <p:cNvSpPr/>
          <p:nvPr/>
        </p:nvSpPr>
        <p:spPr>
          <a:xfrm>
            <a:off x="1042988" y="1808708"/>
            <a:ext cx="4204767" cy="1618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-8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L'application web</a:t>
            </a:r>
            <a:endParaRPr lang="en-US" sz="844" dirty="0"/>
          </a:p>
        </p:txBody>
      </p:sp>
      <p:sp>
        <p:nvSpPr>
          <p:cNvPr id="29" name="Text 26"/>
          <p:cNvSpPr/>
          <p:nvPr/>
        </p:nvSpPr>
        <p:spPr>
          <a:xfrm>
            <a:off x="1042988" y="1998018"/>
            <a:ext cx="4204767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C'est le site internet que les patients et pharmaciens utilisent. Il s'ouvre dans n'importe quel navigateur (Chrome, Safari, Firefox) sur téléphone ou ordinateur. Pas besoin d'installer quoi que ce soit.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14350" y="2453432"/>
            <a:ext cx="4869135" cy="680442"/>
          </a:xfrm>
          <a:prstGeom prst="roundRect">
            <a:avLst>
              <a:gd name="adj" fmla="val 1679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13" y="2560588"/>
            <a:ext cx="271463" cy="271463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703659" y="2592735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406" dirty="0"/>
          </a:p>
        </p:txBody>
      </p:sp>
      <p:sp>
        <p:nvSpPr>
          <p:cNvPr id="33" name="Text 29"/>
          <p:cNvSpPr/>
          <p:nvPr/>
        </p:nvSpPr>
        <p:spPr>
          <a:xfrm>
            <a:off x="1042988" y="2560588"/>
            <a:ext cx="4204767" cy="1618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-8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 base de données</a:t>
            </a:r>
            <a:endParaRPr lang="en-US" sz="844" dirty="0"/>
          </a:p>
        </p:txBody>
      </p:sp>
      <p:sp>
        <p:nvSpPr>
          <p:cNvPr id="34" name="Text 30"/>
          <p:cNvSpPr/>
          <p:nvPr/>
        </p:nvSpPr>
        <p:spPr>
          <a:xfrm>
            <a:off x="1042988" y="2749897"/>
            <a:ext cx="4204767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C'est là qu'on stocke toutes les informations : les comptes utilisateurs, les pharmacies, les demandes, les réponses. C'est sécurisé et hébergé par un service professionnel spécialisé.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514350" y="3205311"/>
            <a:ext cx="4869135" cy="818852"/>
          </a:xfrm>
          <a:prstGeom prst="roundRect">
            <a:avLst>
              <a:gd name="adj" fmla="val 1395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13" y="3312468"/>
            <a:ext cx="271463" cy="271463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703659" y="3344614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406" dirty="0"/>
          </a:p>
        </p:txBody>
      </p:sp>
      <p:sp>
        <p:nvSpPr>
          <p:cNvPr id="38" name="Text 33"/>
          <p:cNvSpPr/>
          <p:nvPr/>
        </p:nvSpPr>
        <p:spPr>
          <a:xfrm>
            <a:off x="1042988" y="3312468"/>
            <a:ext cx="4204767" cy="1618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-8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stockage des photos</a:t>
            </a:r>
            <a:endParaRPr lang="en-US" sz="844" dirty="0"/>
          </a:p>
        </p:txBody>
      </p:sp>
      <p:sp>
        <p:nvSpPr>
          <p:cNvPr id="39" name="Text 34"/>
          <p:cNvSpPr/>
          <p:nvPr/>
        </p:nvSpPr>
        <p:spPr>
          <a:xfrm>
            <a:off x="1042988" y="3501777"/>
            <a:ext cx="4204767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Quand un patient envoie une photo, elle est gardée dans un coffre-fort numérique privé. Personne d'autre que le patient et les pharmaciens ne peut la voir. Et elle est supprimée automatiquement après quelques jours.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514350" y="4095601"/>
            <a:ext cx="4869135" cy="818852"/>
          </a:xfrm>
          <a:prstGeom prst="roundRect">
            <a:avLst>
              <a:gd name="adj" fmla="val 1395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13" y="4202757"/>
            <a:ext cx="271463" cy="271463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703659" y="4234904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↻</a:t>
            </a:r>
            <a:endParaRPr lang="en-US" sz="1406" dirty="0"/>
          </a:p>
        </p:txBody>
      </p:sp>
      <p:sp>
        <p:nvSpPr>
          <p:cNvPr id="43" name="Text 37"/>
          <p:cNvSpPr/>
          <p:nvPr/>
        </p:nvSpPr>
        <p:spPr>
          <a:xfrm>
            <a:off x="1042988" y="4202757"/>
            <a:ext cx="4204767" cy="1618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b="1" spc="-8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Les tâches automatiques</a:t>
            </a:r>
            <a:endParaRPr lang="en-US" sz="844" dirty="0"/>
          </a:p>
        </p:txBody>
      </p:sp>
      <p:sp>
        <p:nvSpPr>
          <p:cNvPr id="44" name="Text 38"/>
          <p:cNvSpPr/>
          <p:nvPr/>
        </p:nvSpPr>
        <p:spPr>
          <a:xfrm>
            <a:off x="1042988" y="4392067"/>
            <a:ext cx="4204767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2C3A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Tous les jours, le système fait le ménage tout seul : il supprime les anciennes photos, met à jour la liste des pharmacies de garde, et marque les vieilles demandes comme expirées. Personne n'a besoin de le faire à la main.</a:t>
            </a:r>
            <a:endParaRPr lang="en-US" sz="800" dirty="0"/>
          </a:p>
        </p:txBody>
      </p:sp>
      <p:sp>
        <p:nvSpPr>
          <p:cNvPr id="45" name="Text 39"/>
          <p:cNvSpPr/>
          <p:nvPr/>
        </p:nvSpPr>
        <p:spPr>
          <a:xfrm>
            <a:off x="5583510" y="149974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125" dirty="0"/>
          </a:p>
        </p:txBody>
      </p:sp>
      <p:sp>
        <p:nvSpPr>
          <p:cNvPr id="46" name="Text 40"/>
          <p:cNvSpPr/>
          <p:nvPr/>
        </p:nvSpPr>
        <p:spPr>
          <a:xfrm>
            <a:off x="5754960" y="1497955"/>
            <a:ext cx="287469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87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EN CHIFFRES</a:t>
            </a:r>
            <a:endParaRPr lang="en-US" sz="800" dirty="0"/>
          </a:p>
        </p:txBody>
      </p:sp>
      <p:sp>
        <p:nvSpPr>
          <p:cNvPr id="47" name="Text 41"/>
          <p:cNvSpPr/>
          <p:nvPr/>
        </p:nvSpPr>
        <p:spPr>
          <a:xfrm>
            <a:off x="5587082" y="1705124"/>
            <a:ext cx="1473064" cy="1616385"/>
          </a:xfrm>
          <a:prstGeom prst="roundRect">
            <a:avLst>
              <a:gd name="adj" fmla="val 9053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2"/>
          <p:cNvSpPr/>
          <p:nvPr/>
        </p:nvSpPr>
        <p:spPr>
          <a:xfrm>
            <a:off x="5704954" y="1837283"/>
            <a:ext cx="123732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spc="-40" kern="0" dirty="0">
                <a:solidFill>
                  <a:srgbClr val="0F51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2025" dirty="0"/>
          </a:p>
        </p:txBody>
      </p:sp>
      <p:sp>
        <p:nvSpPr>
          <p:cNvPr id="49" name="Text 43"/>
          <p:cNvSpPr/>
          <p:nvPr/>
        </p:nvSpPr>
        <p:spPr>
          <a:xfrm>
            <a:off x="5704954" y="3069357"/>
            <a:ext cx="1311559" cy="119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types d'informations stockées</a:t>
            </a:r>
            <a:endParaRPr lang="en-US" sz="800" dirty="0"/>
          </a:p>
        </p:txBody>
      </p:sp>
      <p:sp>
        <p:nvSpPr>
          <p:cNvPr id="50" name="Text 44"/>
          <p:cNvSpPr/>
          <p:nvPr/>
        </p:nvSpPr>
        <p:spPr>
          <a:xfrm>
            <a:off x="7153015" y="1705124"/>
            <a:ext cx="1473064" cy="1616385"/>
          </a:xfrm>
          <a:prstGeom prst="roundRect">
            <a:avLst>
              <a:gd name="adj" fmla="val 9053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5"/>
          <p:cNvSpPr/>
          <p:nvPr/>
        </p:nvSpPr>
        <p:spPr>
          <a:xfrm>
            <a:off x="7270886" y="1837283"/>
            <a:ext cx="123732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spc="-40" kern="0" dirty="0">
                <a:solidFill>
                  <a:srgbClr val="0F51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~100</a:t>
            </a:r>
            <a:endParaRPr lang="en-US" sz="2025" dirty="0"/>
          </a:p>
        </p:txBody>
      </p:sp>
      <p:sp>
        <p:nvSpPr>
          <p:cNvPr id="52" name="Text 46"/>
          <p:cNvSpPr/>
          <p:nvPr/>
        </p:nvSpPr>
        <p:spPr>
          <a:xfrm>
            <a:off x="7270886" y="2949364"/>
            <a:ext cx="1237320" cy="2399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pharmacies de garde participantes</a:t>
            </a:r>
            <a:endParaRPr lang="en-US" sz="800" dirty="0"/>
          </a:p>
        </p:txBody>
      </p:sp>
      <p:sp>
        <p:nvSpPr>
          <p:cNvPr id="53" name="Text 47"/>
          <p:cNvSpPr/>
          <p:nvPr/>
        </p:nvSpPr>
        <p:spPr>
          <a:xfrm>
            <a:off x="5587082" y="3414378"/>
            <a:ext cx="1473064" cy="1496504"/>
          </a:xfrm>
          <a:prstGeom prst="roundRect">
            <a:avLst>
              <a:gd name="adj" fmla="val 9053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8"/>
          <p:cNvSpPr/>
          <p:nvPr/>
        </p:nvSpPr>
        <p:spPr>
          <a:xfrm>
            <a:off x="5704954" y="3546537"/>
            <a:ext cx="123732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spc="-40" kern="0" dirty="0">
                <a:solidFill>
                  <a:srgbClr val="0F51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endParaRPr lang="en-US" sz="2025" dirty="0"/>
          </a:p>
        </p:txBody>
      </p:sp>
      <p:sp>
        <p:nvSpPr>
          <p:cNvPr id="55" name="Text 49"/>
          <p:cNvSpPr/>
          <p:nvPr/>
        </p:nvSpPr>
        <p:spPr>
          <a:xfrm>
            <a:off x="5704954" y="4658730"/>
            <a:ext cx="1311559" cy="119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villes togolaises couvertes</a:t>
            </a:r>
            <a:endParaRPr lang="en-US" sz="800" dirty="0"/>
          </a:p>
        </p:txBody>
      </p:sp>
      <p:sp>
        <p:nvSpPr>
          <p:cNvPr id="56" name="Text 50"/>
          <p:cNvSpPr/>
          <p:nvPr/>
        </p:nvSpPr>
        <p:spPr>
          <a:xfrm>
            <a:off x="7153015" y="3414378"/>
            <a:ext cx="1473064" cy="1496504"/>
          </a:xfrm>
          <a:prstGeom prst="roundRect">
            <a:avLst>
              <a:gd name="adj" fmla="val 9053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1"/>
          <p:cNvSpPr/>
          <p:nvPr/>
        </p:nvSpPr>
        <p:spPr>
          <a:xfrm>
            <a:off x="7270886" y="3546537"/>
            <a:ext cx="1237320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spc="-40" kern="0" dirty="0">
                <a:solidFill>
                  <a:srgbClr val="0F513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24/7</a:t>
            </a:r>
            <a:endParaRPr lang="en-US" sz="2025" dirty="0"/>
          </a:p>
        </p:txBody>
      </p:sp>
      <p:sp>
        <p:nvSpPr>
          <p:cNvPr id="58" name="Text 52"/>
          <p:cNvSpPr/>
          <p:nvPr/>
        </p:nvSpPr>
        <p:spPr>
          <a:xfrm>
            <a:off x="7270886" y="4658730"/>
            <a:ext cx="1237320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disponible jour et nuit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72375" y="-857250"/>
            <a:ext cx="2428875" cy="2428875"/>
          </a:xfrm>
          <a:prstGeom prst="ellipse">
            <a:avLst/>
          </a:prstGeom>
          <a:solidFill>
            <a:srgbClr val="B89968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400050"/>
            <a:ext cx="769918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108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09849" y="678656"/>
            <a:ext cx="44952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spc="79" kern="0" dirty="0">
                <a:solidFill>
                  <a:srgbClr val="6B7C7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/ 06</a:t>
            </a:r>
            <a:endParaRPr lang="en-US" sz="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1634" y="448270"/>
            <a:ext cx="300038" cy="2143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18822" y="400050"/>
            <a:ext cx="119429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11" kern="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CONFIDENTIALITÉ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14350" y="957263"/>
            <a:ext cx="8521065" cy="373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23"/>
              </a:lnSpc>
              <a:buNone/>
            </a:pPr>
            <a:r>
              <a:rPr lang="en-US" sz="2475" b="1" spc="-4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 sécurité avant tout</a:t>
            </a:r>
            <a:endParaRPr lang="en-US" sz="2475" dirty="0"/>
          </a:p>
        </p:txBody>
      </p:sp>
      <p:sp>
        <p:nvSpPr>
          <p:cNvPr id="8" name="Text 5"/>
          <p:cNvSpPr/>
          <p:nvPr/>
        </p:nvSpPr>
        <p:spPr>
          <a:xfrm>
            <a:off x="514350" y="1360103"/>
            <a:ext cx="8629650" cy="25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Vos informations sont protégées</a:t>
            </a:r>
            <a:endParaRPr lang="en-US" sz="1238" dirty="0"/>
          </a:p>
        </p:txBody>
      </p:sp>
      <p:sp>
        <p:nvSpPr>
          <p:cNvPr id="9" name="Text 6"/>
          <p:cNvSpPr/>
          <p:nvPr/>
        </p:nvSpPr>
        <p:spPr>
          <a:xfrm>
            <a:off x="517922" y="1742294"/>
            <a:ext cx="2621756" cy="1438015"/>
          </a:xfrm>
          <a:prstGeom prst="roundRect">
            <a:avLst>
              <a:gd name="adj" fmla="val 10598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35794" y="1860166"/>
            <a:ext cx="300038" cy="300038"/>
          </a:xfrm>
          <a:prstGeom prst="roundRect">
            <a:avLst>
              <a:gd name="adj" fmla="val 31746"/>
            </a:avLst>
          </a:prstGeom>
          <a:solidFill>
            <a:srgbClr val="0F5132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71870" y="1896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1547" dirty="0"/>
          </a:p>
        </p:txBody>
      </p:sp>
      <p:sp>
        <p:nvSpPr>
          <p:cNvPr id="12" name="Text 9"/>
          <p:cNvSpPr/>
          <p:nvPr/>
        </p:nvSpPr>
        <p:spPr>
          <a:xfrm>
            <a:off x="635794" y="2245928"/>
            <a:ext cx="238601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-18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Mots de passe protégés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35794" y="2431666"/>
            <a:ext cx="2386013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Vos mots de passe sont chiffrés. Même nous, nous ne pouvons pas les voir.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3261122" y="1742294"/>
            <a:ext cx="2621756" cy="1438015"/>
          </a:xfrm>
          <a:prstGeom prst="roundRect">
            <a:avLst>
              <a:gd name="adj" fmla="val 10598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3378994" y="1860166"/>
            <a:ext cx="300038" cy="300038"/>
          </a:xfrm>
          <a:prstGeom prst="roundRect">
            <a:avLst>
              <a:gd name="adj" fmla="val 31746"/>
            </a:avLst>
          </a:prstGeom>
          <a:solidFill>
            <a:srgbClr val="0F5132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3415070" y="1896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1547" dirty="0"/>
          </a:p>
        </p:txBody>
      </p:sp>
      <p:sp>
        <p:nvSpPr>
          <p:cNvPr id="17" name="Text 14"/>
          <p:cNvSpPr/>
          <p:nvPr/>
        </p:nvSpPr>
        <p:spPr>
          <a:xfrm>
            <a:off x="3378994" y="2245928"/>
            <a:ext cx="238601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-18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Connexion sécurisée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378994" y="2431666"/>
            <a:ext cx="2386013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Quand vous vous connectez, c'est chiffré de bout en bout. Personne ne peut intercepter vos informations.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000750" y="1738722"/>
            <a:ext cx="2628900" cy="1445158"/>
          </a:xfrm>
          <a:prstGeom prst="roundRect">
            <a:avLst>
              <a:gd name="adj" fmla="val 105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7"/>
          <p:cNvSpPr/>
          <p:nvPr/>
        </p:nvSpPr>
        <p:spPr>
          <a:xfrm>
            <a:off x="6000750" y="1742294"/>
            <a:ext cx="2628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26078" y="1738722"/>
            <a:ext cx="0" cy="1445158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000750" y="3180308"/>
            <a:ext cx="2628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11466" y="1738722"/>
            <a:ext cx="0" cy="1445158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36481" y="1860166"/>
            <a:ext cx="300038" cy="300038"/>
          </a:xfrm>
          <a:prstGeom prst="roundRect">
            <a:avLst>
              <a:gd name="adj" fmla="val 31746"/>
            </a:avLst>
          </a:prstGeom>
          <a:solidFill>
            <a:srgbClr val="B89968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172557" y="1896241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547" dirty="0"/>
          </a:p>
        </p:txBody>
      </p:sp>
      <p:sp>
        <p:nvSpPr>
          <p:cNvPr id="26" name="Text 23"/>
          <p:cNvSpPr/>
          <p:nvPr/>
        </p:nvSpPr>
        <p:spPr>
          <a:xfrm>
            <a:off x="6136481" y="2245928"/>
            <a:ext cx="23717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-18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Photos éphémères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136481" y="2431666"/>
            <a:ext cx="237172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Les photos que vous envoyez sont supprimées toutes seules après 72 heures (ou 7 jours si pas de réponse).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14350" y="3298180"/>
            <a:ext cx="2628900" cy="1445270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6"/>
          <p:cNvSpPr/>
          <p:nvPr/>
        </p:nvSpPr>
        <p:spPr>
          <a:xfrm>
            <a:off x="514350" y="3301752"/>
            <a:ext cx="2628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139678" y="3298180"/>
            <a:ext cx="0" cy="144527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14350" y="4739878"/>
            <a:ext cx="2628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5066" y="3298180"/>
            <a:ext cx="0" cy="1445270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50081" y="3419624"/>
            <a:ext cx="300038" cy="300038"/>
          </a:xfrm>
          <a:prstGeom prst="roundRect">
            <a:avLst>
              <a:gd name="adj" fmla="val 31746"/>
            </a:avLst>
          </a:prstGeom>
          <a:solidFill>
            <a:srgbClr val="B89968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86157" y="3455700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☁</a:t>
            </a:r>
            <a:endParaRPr lang="en-US" sz="1547" dirty="0"/>
          </a:p>
        </p:txBody>
      </p:sp>
      <p:sp>
        <p:nvSpPr>
          <p:cNvPr id="35" name="Text 32"/>
          <p:cNvSpPr/>
          <p:nvPr/>
        </p:nvSpPr>
        <p:spPr>
          <a:xfrm>
            <a:off x="650081" y="3805386"/>
            <a:ext cx="23717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-18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Photos privées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50081" y="3991124"/>
            <a:ext cx="237172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Vos photos sont dans un coffre-fort numérique. Seuls vous et les pharmaciens peuvent les voir.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3257550" y="3298180"/>
            <a:ext cx="2628900" cy="1445270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5"/>
          <p:cNvSpPr/>
          <p:nvPr/>
        </p:nvSpPr>
        <p:spPr>
          <a:xfrm>
            <a:off x="3257550" y="3301752"/>
            <a:ext cx="2628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882878" y="3298180"/>
            <a:ext cx="0" cy="144527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257550" y="4739878"/>
            <a:ext cx="2628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68266" y="3298180"/>
            <a:ext cx="0" cy="1445270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393281" y="3419624"/>
            <a:ext cx="300038" cy="300038"/>
          </a:xfrm>
          <a:prstGeom prst="roundRect">
            <a:avLst>
              <a:gd name="adj" fmla="val 31746"/>
            </a:avLst>
          </a:prstGeom>
          <a:solidFill>
            <a:srgbClr val="B89968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0"/>
          <p:cNvSpPr/>
          <p:nvPr/>
        </p:nvSpPr>
        <p:spPr>
          <a:xfrm>
            <a:off x="3429357" y="3455700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547" dirty="0"/>
          </a:p>
        </p:txBody>
      </p:sp>
      <p:sp>
        <p:nvSpPr>
          <p:cNvPr id="44" name="Text 41"/>
          <p:cNvSpPr/>
          <p:nvPr/>
        </p:nvSpPr>
        <p:spPr>
          <a:xfrm>
            <a:off x="3393281" y="3805386"/>
            <a:ext cx="23717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-18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Vérifications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3393281" y="3991124"/>
            <a:ext cx="237172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On vérifie chaque photo envoyée : sa taille, son type, pour éviter les fichiers dangereux.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6000750" y="3298180"/>
            <a:ext cx="2628900" cy="1445270"/>
          </a:xfrm>
          <a:prstGeom prst="roundRect">
            <a:avLst>
              <a:gd name="adj" fmla="val 1054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4"/>
          <p:cNvSpPr/>
          <p:nvPr/>
        </p:nvSpPr>
        <p:spPr>
          <a:xfrm>
            <a:off x="6000750" y="3301752"/>
            <a:ext cx="2628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626078" y="3298180"/>
            <a:ext cx="0" cy="144527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00750" y="4739878"/>
            <a:ext cx="26289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011466" y="3298180"/>
            <a:ext cx="0" cy="1445270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136481" y="3419624"/>
            <a:ext cx="300038" cy="300038"/>
          </a:xfrm>
          <a:prstGeom prst="roundRect">
            <a:avLst>
              <a:gd name="adj" fmla="val 31746"/>
            </a:avLst>
          </a:prstGeom>
          <a:solidFill>
            <a:srgbClr val="B89968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49"/>
          <p:cNvSpPr/>
          <p:nvPr/>
        </p:nvSpPr>
        <p:spPr>
          <a:xfrm>
            <a:off x="6172557" y="3455700"/>
            <a:ext cx="227886" cy="2278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547" dirty="0"/>
          </a:p>
        </p:txBody>
      </p:sp>
      <p:sp>
        <p:nvSpPr>
          <p:cNvPr id="53" name="Text 50"/>
          <p:cNvSpPr/>
          <p:nvPr/>
        </p:nvSpPr>
        <p:spPr>
          <a:xfrm>
            <a:off x="6136481" y="3805386"/>
            <a:ext cx="237172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-18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Connexion chiffrée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6136481" y="3991124"/>
            <a:ext cx="237172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site utilise une connexion chiffrée, comme les banques. Vos données voyagent en toute sécurité.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85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0" y="2857500"/>
            <a:ext cx="3429000" cy="3429000"/>
          </a:xfrm>
          <a:prstGeom prst="ellipse">
            <a:avLst/>
          </a:prstGeom>
          <a:solidFill>
            <a:srgbClr val="B89968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-1000125" y="-714375"/>
            <a:ext cx="2714625" cy="2714625"/>
          </a:xfrm>
          <a:prstGeom prst="ellipse">
            <a:avLst/>
          </a:prstGeom>
          <a:solidFill>
            <a:srgbClr val="0F5132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91490" y="244373"/>
            <a:ext cx="687206" cy="264919"/>
          </a:xfrm>
          <a:prstGeom prst="roundRect">
            <a:avLst>
              <a:gd name="adj" fmla="val 3591843"/>
            </a:avLst>
          </a:prstGeom>
          <a:solidFill>
            <a:srgbClr val="F5F3EF">
              <a:alpha val="10000"/>
            </a:srgbClr>
          </a:solidFill>
          <a:ln w="7144">
            <a:solidFill>
              <a:srgbClr val="F5F3E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514350" y="257175"/>
            <a:ext cx="641486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97"/>
              </a:lnSpc>
              <a:buNone/>
            </a:pPr>
            <a:r>
              <a:rPr lang="en-US" sz="800" b="1" spc="102" kern="0" dirty="0">
                <a:solidFill>
                  <a:srgbClr val="D4B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IMPACT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14350" y="567928"/>
            <a:ext cx="3610719" cy="330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81"/>
              </a:lnSpc>
              <a:buNone/>
            </a:pPr>
            <a:r>
              <a:rPr lang="en-US" sz="2363" b="1" spc="-47" kern="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L'impact pour les Togolais</a:t>
            </a:r>
            <a:endParaRPr lang="en-US" sz="2363" dirty="0"/>
          </a:p>
        </p:txBody>
      </p:sp>
      <p:sp>
        <p:nvSpPr>
          <p:cNvPr id="8" name="Text 5"/>
          <p:cNvSpPr/>
          <p:nvPr/>
        </p:nvSpPr>
        <p:spPr>
          <a:xfrm>
            <a:off x="514350" y="925785"/>
            <a:ext cx="3899577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Une solution pensée pour le terrain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7842275" y="323255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F5F3E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◯</a:t>
            </a:r>
            <a:endParaRPr lang="en-US" sz="984" dirty="0"/>
          </a:p>
        </p:txBody>
      </p:sp>
      <p:sp>
        <p:nvSpPr>
          <p:cNvPr id="10" name="Text 7"/>
          <p:cNvSpPr/>
          <p:nvPr/>
        </p:nvSpPr>
        <p:spPr>
          <a:xfrm>
            <a:off x="7999437" y="314325"/>
            <a:ext cx="82634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11" kern="0" dirty="0">
                <a:solidFill>
                  <a:srgbClr val="F5F3EF">
                    <a:alpha val="7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TOGO · 2026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14350" y="1268685"/>
            <a:ext cx="4000500" cy="1421495"/>
          </a:xfrm>
          <a:prstGeom prst="roundRect">
            <a:avLst>
              <a:gd name="adj" fmla="val 10721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514350" y="1272257"/>
            <a:ext cx="40005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11278" y="1268685"/>
            <a:ext cx="0" cy="1421495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14350" y="2686608"/>
            <a:ext cx="40005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5066" y="1268685"/>
            <a:ext cx="0" cy="1421495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1519" y="143299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◔</a:t>
            </a:r>
            <a:endParaRPr lang="en-US" sz="1266" dirty="0"/>
          </a:p>
        </p:txBody>
      </p:sp>
      <p:sp>
        <p:nvSpPr>
          <p:cNvPr id="17" name="Text 14"/>
          <p:cNvSpPr/>
          <p:nvPr/>
        </p:nvSpPr>
        <p:spPr>
          <a:xfrm>
            <a:off x="907256" y="1438349"/>
            <a:ext cx="34147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TEMPS GAGNÉ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21519" y="1561579"/>
            <a:ext cx="3600450" cy="62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725" b="1" spc="-142" kern="0" dirty="0">
                <a:solidFill>
                  <a:srgbClr val="1A6B4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−90%</a:t>
            </a:r>
            <a:endParaRPr lang="en-US" sz="4725" dirty="0"/>
          </a:p>
        </p:txBody>
      </p:sp>
      <p:sp>
        <p:nvSpPr>
          <p:cNvPr id="19" name="Text 16"/>
          <p:cNvSpPr/>
          <p:nvPr/>
        </p:nvSpPr>
        <p:spPr>
          <a:xfrm>
            <a:off x="721519" y="2218804"/>
            <a:ext cx="3710178" cy="149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Temps pour trouver une pharmacie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21519" y="2395947"/>
            <a:ext cx="3710178" cy="12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F5F3EF">
                    <a:alpha val="70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De 30 minutes à moins de 5 minutes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629150" y="1268685"/>
            <a:ext cx="4000500" cy="1421495"/>
          </a:xfrm>
          <a:prstGeom prst="roundRect">
            <a:avLst>
              <a:gd name="adj" fmla="val 10721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9"/>
          <p:cNvSpPr/>
          <p:nvPr/>
        </p:nvSpPr>
        <p:spPr>
          <a:xfrm>
            <a:off x="4629150" y="1272257"/>
            <a:ext cx="40005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26078" y="1268685"/>
            <a:ext cx="0" cy="1421495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629150" y="2686608"/>
            <a:ext cx="40005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639866" y="1268685"/>
            <a:ext cx="0" cy="1421495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836319" y="143299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24"/>
          <p:cNvSpPr/>
          <p:nvPr/>
        </p:nvSpPr>
        <p:spPr>
          <a:xfrm>
            <a:off x="5022056" y="1438349"/>
            <a:ext cx="34147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COUVERTURE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4836319" y="1561579"/>
            <a:ext cx="3600450" cy="62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725" b="1" spc="-142" kern="0" dirty="0">
                <a:solidFill>
                  <a:srgbClr val="1A6B4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100%</a:t>
            </a:r>
            <a:endParaRPr lang="en-US" sz="4725" dirty="0"/>
          </a:p>
        </p:txBody>
      </p:sp>
      <p:sp>
        <p:nvSpPr>
          <p:cNvPr id="29" name="Text 26"/>
          <p:cNvSpPr/>
          <p:nvPr/>
        </p:nvSpPr>
        <p:spPr>
          <a:xfrm>
            <a:off x="4836319" y="2218804"/>
            <a:ext cx="3710178" cy="149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Pharmacies de garde couvertes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836319" y="2395947"/>
            <a:ext cx="3710178" cy="12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une centaine de pharmacies couvertes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14350" y="2804480"/>
            <a:ext cx="4000500" cy="1421495"/>
          </a:xfrm>
          <a:prstGeom prst="roundRect">
            <a:avLst>
              <a:gd name="adj" fmla="val 10721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14350" y="2808052"/>
            <a:ext cx="40005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11278" y="2804480"/>
            <a:ext cx="0" cy="1421495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14350" y="4222403"/>
            <a:ext cx="40005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25066" y="2804480"/>
            <a:ext cx="0" cy="1421495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21519" y="296878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◎</a:t>
            </a:r>
            <a:endParaRPr lang="en-US" sz="1266" dirty="0"/>
          </a:p>
        </p:txBody>
      </p:sp>
      <p:sp>
        <p:nvSpPr>
          <p:cNvPr id="37" name="Text 34"/>
          <p:cNvSpPr/>
          <p:nvPr/>
        </p:nvSpPr>
        <p:spPr>
          <a:xfrm>
            <a:off x="907256" y="2974144"/>
            <a:ext cx="34147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TERRITOIRE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21519" y="3097374"/>
            <a:ext cx="3600450" cy="62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725" b="1" spc="-142" kern="0" dirty="0">
                <a:solidFill>
                  <a:srgbClr val="1A6B4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</a:t>
            </a:r>
            <a:endParaRPr lang="en-US" sz="4725" dirty="0"/>
          </a:p>
        </p:txBody>
      </p:sp>
      <p:sp>
        <p:nvSpPr>
          <p:cNvPr id="39" name="Text 36"/>
          <p:cNvSpPr/>
          <p:nvPr/>
        </p:nvSpPr>
        <p:spPr>
          <a:xfrm>
            <a:off x="721519" y="3754599"/>
            <a:ext cx="3710178" cy="149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Villes togolaises desservies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21519" y="3931741"/>
            <a:ext cx="3600450" cy="12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Lomé, Kara, Sokodé, Kpalimé, Atakpamé, Dapaong, Tsévié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4629150" y="2804480"/>
            <a:ext cx="4000500" cy="1421495"/>
          </a:xfrm>
          <a:prstGeom prst="roundRect">
            <a:avLst>
              <a:gd name="adj" fmla="val 10721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39"/>
          <p:cNvSpPr/>
          <p:nvPr/>
        </p:nvSpPr>
        <p:spPr>
          <a:xfrm>
            <a:off x="4629150" y="2808052"/>
            <a:ext cx="40005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626078" y="2804480"/>
            <a:ext cx="0" cy="1421495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629150" y="4222403"/>
            <a:ext cx="40005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639866" y="2804480"/>
            <a:ext cx="0" cy="1421495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836319" y="296878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1266" dirty="0"/>
          </a:p>
        </p:txBody>
      </p:sp>
      <p:sp>
        <p:nvSpPr>
          <p:cNvPr id="47" name="Text 44"/>
          <p:cNvSpPr/>
          <p:nvPr/>
        </p:nvSpPr>
        <p:spPr>
          <a:xfrm>
            <a:off x="5022056" y="2974144"/>
            <a:ext cx="34147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111" kern="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VIE PRIVÉE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4836319" y="3097374"/>
            <a:ext cx="3600450" cy="6297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725" b="1" spc="-142" kern="0" dirty="0">
                <a:solidFill>
                  <a:srgbClr val="1A6B4A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72h</a:t>
            </a:r>
            <a:endParaRPr lang="en-US" sz="4725" dirty="0"/>
          </a:p>
        </p:txBody>
      </p:sp>
      <p:sp>
        <p:nvSpPr>
          <p:cNvPr id="49" name="Text 46"/>
          <p:cNvSpPr/>
          <p:nvPr/>
        </p:nvSpPr>
        <p:spPr>
          <a:xfrm>
            <a:off x="4836319" y="3754599"/>
            <a:ext cx="3710178" cy="149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Photos supprimées automatiquement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4836319" y="3931741"/>
            <a:ext cx="3710178" cy="12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Votre vie privée est protégée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514350" y="4350544"/>
            <a:ext cx="8115300" cy="564356"/>
          </a:xfrm>
          <a:prstGeom prst="roundRect">
            <a:avLst>
              <a:gd name="adj" fmla="val 27004"/>
            </a:avLst>
          </a:prstGeom>
          <a:solidFill>
            <a:srgbClr val="FFFFFF">
              <a:alpha val="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49"/>
          <p:cNvSpPr/>
          <p:nvPr/>
        </p:nvSpPr>
        <p:spPr>
          <a:xfrm>
            <a:off x="514350" y="4354116"/>
            <a:ext cx="81153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626078" y="4350544"/>
            <a:ext cx="0" cy="564356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14350" y="4911328"/>
            <a:ext cx="8115300" cy="0"/>
          </a:xfrm>
          <a:prstGeom prst="line">
            <a:avLst/>
          </a:prstGeom>
          <a:noFill/>
          <a:ln w="7144">
            <a:solidFill>
              <a:srgbClr val="F5F3E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28638" y="4350544"/>
            <a:ext cx="0" cy="564356"/>
          </a:xfrm>
          <a:prstGeom prst="line">
            <a:avLst/>
          </a:prstGeom>
          <a:noFill/>
          <a:ln w="28575">
            <a:solidFill>
              <a:srgbClr val="B8996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00088" y="447198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88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“</a:t>
            </a:r>
            <a:endParaRPr lang="en-US" sz="1688" dirty="0"/>
          </a:p>
        </p:txBody>
      </p:sp>
      <p:sp>
        <p:nvSpPr>
          <p:cNvPr id="57" name="Text 54"/>
          <p:cNvSpPr/>
          <p:nvPr/>
        </p:nvSpPr>
        <p:spPr>
          <a:xfrm>
            <a:off x="957263" y="4471988"/>
            <a:ext cx="7508081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844" i="1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« MediTike montre qu'on peut créer une solution de santé simple et accessible, qui respecte les réalités du terrain togolais et qui fonctionne même avec une connexion modeste. »</a:t>
            </a:r>
            <a:endParaRPr lang="en-US" sz="84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29500" y="3571875"/>
            <a:ext cx="2428875" cy="2428875"/>
          </a:xfrm>
          <a:prstGeom prst="ellipse">
            <a:avLst/>
          </a:prstGeom>
          <a:solidFill>
            <a:srgbClr val="0F5132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14350" y="400050"/>
            <a:ext cx="769918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spc="-108" kern="0" dirty="0">
                <a:solidFill>
                  <a:srgbClr val="B8996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06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109849" y="678656"/>
            <a:ext cx="44952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spc="79" kern="0" dirty="0">
                <a:solidFill>
                  <a:srgbClr val="6B7C7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/ 06</a:t>
            </a:r>
            <a:endParaRPr lang="en-US" sz="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9454" y="448270"/>
            <a:ext cx="300038" cy="2143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6642" y="400050"/>
            <a:ext cx="11184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11" kern="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ÉTAT DU PROJET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14350" y="957263"/>
            <a:ext cx="8521065" cy="3733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23"/>
              </a:lnSpc>
              <a:buNone/>
            </a:pPr>
            <a:r>
              <a:rPr lang="en-US" sz="2475" b="1" spc="-49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Où en est le projet</a:t>
            </a:r>
            <a:endParaRPr lang="en-US" sz="2475" dirty="0"/>
          </a:p>
        </p:txBody>
      </p:sp>
      <p:sp>
        <p:nvSpPr>
          <p:cNvPr id="8" name="Text 5"/>
          <p:cNvSpPr/>
          <p:nvPr/>
        </p:nvSpPr>
        <p:spPr>
          <a:xfrm>
            <a:off x="514350" y="1360103"/>
            <a:ext cx="8629650" cy="254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6"/>
              </a:lnSpc>
              <a:buNone/>
            </a:pPr>
            <a:r>
              <a:rPr lang="en-US" sz="1238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Une application déjà en service</a:t>
            </a:r>
            <a:endParaRPr lang="en-US" sz="1238" dirty="0"/>
          </a:p>
        </p:txBody>
      </p:sp>
      <p:sp>
        <p:nvSpPr>
          <p:cNvPr id="9" name="Text 6"/>
          <p:cNvSpPr/>
          <p:nvPr/>
        </p:nvSpPr>
        <p:spPr>
          <a:xfrm>
            <a:off x="517922" y="1742294"/>
            <a:ext cx="3979069" cy="2997584"/>
          </a:xfrm>
          <a:prstGeom prst="roundRect">
            <a:avLst>
              <a:gd name="adj" fmla="val 5084"/>
            </a:avLst>
          </a:prstGeom>
          <a:solidFill>
            <a:srgbClr val="FFFFFF"/>
          </a:solidFill>
          <a:ln w="7144">
            <a:solidFill>
              <a:srgbClr val="E5E0D5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78656" y="1888741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0F5132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99730" y="1909815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2" name="Text 9"/>
          <p:cNvSpPr/>
          <p:nvPr/>
        </p:nvSpPr>
        <p:spPr>
          <a:xfrm>
            <a:off x="964406" y="1906600"/>
            <a:ext cx="3371850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-20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Ce qui est déjà fait</a:t>
            </a:r>
            <a:endParaRPr lang="en-US" sz="1013" dirty="0"/>
          </a:p>
        </p:txBody>
      </p:sp>
      <p:sp>
        <p:nvSpPr>
          <p:cNvPr id="13" name="Text 10"/>
          <p:cNvSpPr/>
          <p:nvPr/>
        </p:nvSpPr>
        <p:spPr>
          <a:xfrm>
            <a:off x="678656" y="2217353"/>
            <a:ext cx="3657600" cy="259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L'application est en ligne, accessible à tous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La base de données est opérationnelle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Le coffre-fort des photos est configuré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Le système fait le ménage tout seul chaque jour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La liste des pharmacies de garde est déjà importée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Des comptes de test sont prêts (patient, pharmacien, admin)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La documentation est complète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563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✓ La documentation est complète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643438" y="1738722"/>
            <a:ext cx="228600" cy="228600"/>
          </a:xfrm>
          <a:prstGeom prst="roundRect">
            <a:avLst>
              <a:gd name="adj" fmla="val 33333"/>
            </a:avLst>
          </a:prstGeom>
          <a:solidFill>
            <a:srgbClr val="B89968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664512" y="1759796"/>
            <a:ext cx="186452" cy="186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➤</a:t>
            </a:r>
            <a:endParaRPr lang="en-US" sz="1266" dirty="0"/>
          </a:p>
        </p:txBody>
      </p:sp>
      <p:sp>
        <p:nvSpPr>
          <p:cNvPr id="16" name="Text 13"/>
          <p:cNvSpPr/>
          <p:nvPr/>
        </p:nvSpPr>
        <p:spPr>
          <a:xfrm>
            <a:off x="4929188" y="1756581"/>
            <a:ext cx="370046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spc="-20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Ce qu'on veut faire ensuite</a:t>
            </a:r>
            <a:endParaRPr lang="en-US" sz="1013" dirty="0"/>
          </a:p>
        </p:txBody>
      </p:sp>
      <p:sp>
        <p:nvSpPr>
          <p:cNvPr id="17" name="Text 14"/>
          <p:cNvSpPr/>
          <p:nvPr/>
        </p:nvSpPr>
        <p:spPr>
          <a:xfrm>
            <a:off x="4643438" y="2038759"/>
            <a:ext cx="3986213" cy="867184"/>
          </a:xfrm>
          <a:prstGeom prst="roundRect">
            <a:avLst>
              <a:gd name="adj" fmla="val 1757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4643438" y="2042331"/>
            <a:ext cx="3986213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26078" y="2038759"/>
            <a:ext cx="0" cy="867184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43438" y="2902372"/>
            <a:ext cx="3986213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654153" y="2038759"/>
            <a:ext cx="0" cy="867184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79169" y="2145916"/>
            <a:ext cx="316691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spc="-16" kern="0" dirty="0">
                <a:solidFill>
                  <a:srgbClr val="1A2B2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Bientôt (3 mois)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7938456" y="2128913"/>
            <a:ext cx="591663" cy="184023"/>
          </a:xfrm>
          <a:prstGeom prst="roundRect">
            <a:avLst>
              <a:gd name="adj" fmla="val 5170807"/>
            </a:avLst>
          </a:prstGeom>
          <a:solidFill>
            <a:srgbClr val="B89968">
              <a:alpha val="12000"/>
            </a:srgbClr>
          </a:solidFill>
          <a:ln w="7144">
            <a:solidFill>
              <a:srgbClr val="B8996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7960370" y="2138772"/>
            <a:ext cx="547836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Court terme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779169" y="2360228"/>
            <a:ext cx="3729038" cy="515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Recevoir les réponses par WhatsApp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Application mobile installable (Android)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Voir les pharmacies sur une carte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643438" y="2991669"/>
            <a:ext cx="3986213" cy="867184"/>
          </a:xfrm>
          <a:prstGeom prst="roundRect">
            <a:avLst>
              <a:gd name="adj" fmla="val 1757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4"/>
          <p:cNvSpPr/>
          <p:nvPr/>
        </p:nvSpPr>
        <p:spPr>
          <a:xfrm>
            <a:off x="4643438" y="2995240"/>
            <a:ext cx="3986213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626078" y="2991669"/>
            <a:ext cx="0" cy="867184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643438" y="3855281"/>
            <a:ext cx="3986213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654153" y="2991669"/>
            <a:ext cx="0" cy="867184"/>
          </a:xfrm>
          <a:prstGeom prst="line">
            <a:avLst/>
          </a:prstGeom>
          <a:noFill/>
          <a:ln w="21431">
            <a:solidFill>
              <a:srgbClr val="0F513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779169" y="3098825"/>
            <a:ext cx="313119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spc="-16" kern="0" dirty="0">
                <a:solidFill>
                  <a:srgbClr val="1A2B2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Plus tard (6-12 mois)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901791" y="3081823"/>
            <a:ext cx="629275" cy="184023"/>
          </a:xfrm>
          <a:prstGeom prst="roundRect">
            <a:avLst>
              <a:gd name="adj" fmla="val 5170807"/>
            </a:avLst>
          </a:prstGeom>
          <a:solidFill>
            <a:srgbClr val="B89968">
              <a:alpha val="12000"/>
            </a:srgbClr>
          </a:solidFill>
          <a:ln w="7144">
            <a:solidFill>
              <a:srgbClr val="B8996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7924651" y="3091681"/>
            <a:ext cx="58355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Moyen terme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779169" y="3313137"/>
            <a:ext cx="3729038" cy="515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Payer ses médicaments avec Mobile Money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Discuter directement avec le pharmacien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Étendre le projet à d'autres pays d'Afrique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643438" y="3944578"/>
            <a:ext cx="3986213" cy="867184"/>
          </a:xfrm>
          <a:prstGeom prst="roundRect">
            <a:avLst>
              <a:gd name="adj" fmla="val 1757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3"/>
          <p:cNvSpPr/>
          <p:nvPr/>
        </p:nvSpPr>
        <p:spPr>
          <a:xfrm>
            <a:off x="4643438" y="3948150"/>
            <a:ext cx="3986213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626078" y="3944578"/>
            <a:ext cx="0" cy="867184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3438" y="4808190"/>
            <a:ext cx="3986213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654153" y="3944578"/>
            <a:ext cx="0" cy="867184"/>
          </a:xfrm>
          <a:prstGeom prst="line">
            <a:avLst/>
          </a:prstGeom>
          <a:noFill/>
          <a:ln w="21431">
            <a:solidFill>
              <a:srgbClr val="B8996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779169" y="4051734"/>
            <a:ext cx="335879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00" b="1" spc="-16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À long terme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138008" y="4034732"/>
            <a:ext cx="384436" cy="184023"/>
          </a:xfrm>
          <a:prstGeom prst="roundRect">
            <a:avLst>
              <a:gd name="adj" fmla="val 5170807"/>
            </a:avLst>
          </a:prstGeom>
          <a:solidFill>
            <a:srgbClr val="B89968">
              <a:alpha val="12000"/>
            </a:srgbClr>
          </a:solidFill>
          <a:ln w="7144">
            <a:solidFill>
              <a:srgbClr val="B8996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9"/>
          <p:cNvSpPr/>
          <p:nvPr/>
        </p:nvSpPr>
        <p:spPr>
          <a:xfrm>
            <a:off x="8152247" y="4044590"/>
            <a:ext cx="3559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Vision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4779169" y="4266047"/>
            <a:ext cx="3729038" cy="515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Avoir un historique de ses médicaments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Recevoir des rappels pour ses traitements</a:t>
            </a:r>
            <a:endParaRPr lang="en-US" sz="900" dirty="0"/>
          </a:p>
          <a:p>
            <a:pPr algn="l" marL="342900" indent="-342900">
              <a:lnSpc>
                <a:spcPts val="1350"/>
              </a:lnSpc>
              <a:spcAft>
                <a:spcPts val="338"/>
              </a:spcAft>
              <a:buSzPct val="100000"/>
              <a:buChar char="•"/>
            </a:pPr>
            <a:r>
              <a:rPr lang="en-US" sz="90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 Travailler avec l'Ordre des Pharmaciens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857250" y="1428750"/>
            <a:ext cx="2143125" cy="2143125"/>
          </a:xfrm>
          <a:prstGeom prst="ellipse">
            <a:avLst/>
          </a:prstGeom>
          <a:solidFill>
            <a:srgbClr val="0F5132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001000" y="714375"/>
            <a:ext cx="1857375" cy="1857375"/>
          </a:xfrm>
          <a:prstGeom prst="ellipse">
            <a:avLst/>
          </a:prstGeom>
          <a:solidFill>
            <a:srgbClr val="B89968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4350" y="448270"/>
            <a:ext cx="300038" cy="214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71538" y="400050"/>
            <a:ext cx="76181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spc="111" kern="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SYNTHÈSE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665" y="40005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781665" y="400050"/>
            <a:ext cx="26431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+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8081702" y="417909"/>
            <a:ext cx="70137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MediTike</a:t>
            </a:r>
            <a:endParaRPr lang="en-US" sz="1013" dirty="0"/>
          </a:p>
        </p:txBody>
      </p:sp>
      <p:sp>
        <p:nvSpPr>
          <p:cNvPr id="9" name="Text 5"/>
          <p:cNvSpPr/>
          <p:nvPr/>
        </p:nvSpPr>
        <p:spPr>
          <a:xfrm>
            <a:off x="514350" y="728663"/>
            <a:ext cx="8115300" cy="3140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51"/>
              </a:lnSpc>
              <a:buNone/>
            </a:pPr>
            <a:r>
              <a:rPr lang="en-US" sz="2138" b="1" spc="-43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Pourquoi MediTike est une bonne solution</a:t>
            </a:r>
            <a:endParaRPr lang="en-US" sz="2138" dirty="0"/>
          </a:p>
        </p:txBody>
      </p:sp>
      <p:sp>
        <p:nvSpPr>
          <p:cNvPr id="10" name="Text 6"/>
          <p:cNvSpPr/>
          <p:nvPr/>
        </p:nvSpPr>
        <p:spPr>
          <a:xfrm>
            <a:off x="514350" y="1070111"/>
            <a:ext cx="8521065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6B7C72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 points forts</a:t>
            </a:r>
            <a:endParaRPr lang="en-US" sz="1125" dirty="0"/>
          </a:p>
        </p:txBody>
      </p:sp>
      <p:sp>
        <p:nvSpPr>
          <p:cNvPr id="11" name="Text 7"/>
          <p:cNvSpPr/>
          <p:nvPr/>
        </p:nvSpPr>
        <p:spPr>
          <a:xfrm>
            <a:off x="514350" y="1413011"/>
            <a:ext cx="1953816" cy="2858951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8"/>
          <p:cNvSpPr/>
          <p:nvPr/>
        </p:nvSpPr>
        <p:spPr>
          <a:xfrm>
            <a:off x="514350" y="1427299"/>
            <a:ext cx="1953816" cy="0"/>
          </a:xfrm>
          <a:prstGeom prst="line">
            <a:avLst/>
          </a:prstGeom>
          <a:noFill/>
          <a:ln w="28575">
            <a:solidFill>
              <a:srgbClr val="0F513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464594" y="1413011"/>
            <a:ext cx="0" cy="2858951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14350" y="4268391"/>
            <a:ext cx="1953816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17922" y="1413011"/>
            <a:ext cx="0" cy="2858951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94" y="1570174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2584" y="1606964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♥</a:t>
            </a:r>
            <a:endParaRPr lang="en-US" sz="1828" dirty="0"/>
          </a:p>
        </p:txBody>
      </p:sp>
      <p:sp>
        <p:nvSpPr>
          <p:cNvPr id="18" name="Text 13"/>
          <p:cNvSpPr/>
          <p:nvPr/>
        </p:nvSpPr>
        <p:spPr>
          <a:xfrm>
            <a:off x="635794" y="2013086"/>
            <a:ext cx="1710928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b="1" spc="-25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Utile</a:t>
            </a:r>
            <a:endParaRPr lang="en-US" sz="1238" dirty="0"/>
          </a:p>
        </p:txBody>
      </p:sp>
      <p:sp>
        <p:nvSpPr>
          <p:cNvPr id="19" name="Text 14"/>
          <p:cNvSpPr/>
          <p:nvPr/>
        </p:nvSpPr>
        <p:spPr>
          <a:xfrm>
            <a:off x="635794" y="2198824"/>
            <a:ext cx="1710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50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POUR TOUT LE MONDE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635794" y="2402421"/>
            <a:ext cx="1710928" cy="1733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Tout le monde a besoin d'un médicament un jour. MediTike aide les patients à trouver plus vite, et les pharmaciens à mieux servir leurs clients. Le problème est réel, la solution est concrète.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2568178" y="1413011"/>
            <a:ext cx="1953816" cy="2858951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2568178" y="1427299"/>
            <a:ext cx="1953816" cy="0"/>
          </a:xfrm>
          <a:prstGeom prst="line">
            <a:avLst/>
          </a:prstGeom>
          <a:noFill/>
          <a:ln w="28575">
            <a:solidFill>
              <a:srgbClr val="B89968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518422" y="1413011"/>
            <a:ext cx="0" cy="2858951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2568178" y="4268391"/>
            <a:ext cx="1953816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2571750" y="1413011"/>
            <a:ext cx="0" cy="2858951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9622" y="1570174"/>
            <a:ext cx="342900" cy="3429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2726412" y="1606964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828" dirty="0"/>
          </a:p>
        </p:txBody>
      </p:sp>
      <p:sp>
        <p:nvSpPr>
          <p:cNvPr id="28" name="Text 22"/>
          <p:cNvSpPr/>
          <p:nvPr/>
        </p:nvSpPr>
        <p:spPr>
          <a:xfrm>
            <a:off x="2689622" y="2013086"/>
            <a:ext cx="1710928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b="1" spc="-25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Réel</a:t>
            </a:r>
            <a:endParaRPr lang="en-US" sz="1238" dirty="0"/>
          </a:p>
        </p:txBody>
      </p:sp>
      <p:sp>
        <p:nvSpPr>
          <p:cNvPr id="29" name="Text 23"/>
          <p:cNvSpPr/>
          <p:nvPr/>
        </p:nvSpPr>
        <p:spPr>
          <a:xfrm>
            <a:off x="2689622" y="2198824"/>
            <a:ext cx="1710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50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DÉJÀ EN SERVICE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2689622" y="2402421"/>
            <a:ext cx="1710928" cy="1733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Ce n'est pas juste une idée sur papier. L'application fonctionne, elle est en ligne, et les pharmacies de garde y sont déjà répertoriées. On peut l'utiliser dès aujourd'hui.</a:t>
            </a:r>
            <a:endParaRPr lang="en-US" sz="800" dirty="0"/>
          </a:p>
        </p:txBody>
      </p:sp>
      <p:sp>
        <p:nvSpPr>
          <p:cNvPr id="31" name="Text 25"/>
          <p:cNvSpPr/>
          <p:nvPr/>
        </p:nvSpPr>
        <p:spPr>
          <a:xfrm>
            <a:off x="4622006" y="1413011"/>
            <a:ext cx="1953816" cy="2858951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6"/>
          <p:cNvSpPr/>
          <p:nvPr/>
        </p:nvSpPr>
        <p:spPr>
          <a:xfrm>
            <a:off x="4622006" y="1427299"/>
            <a:ext cx="1953816" cy="0"/>
          </a:xfrm>
          <a:prstGeom prst="line">
            <a:avLst/>
          </a:prstGeom>
          <a:noFill/>
          <a:ln w="28575">
            <a:solidFill>
              <a:srgbClr val="0F5132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72250" y="1413011"/>
            <a:ext cx="0" cy="2858951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4622006" y="4268391"/>
            <a:ext cx="1953816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4625578" y="1413011"/>
            <a:ext cx="0" cy="2858951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3450" y="1570174"/>
            <a:ext cx="342900" cy="342900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4780240" y="1606964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0F51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✚</a:t>
            </a:r>
            <a:endParaRPr lang="en-US" sz="1828" dirty="0"/>
          </a:p>
        </p:txBody>
      </p:sp>
      <p:sp>
        <p:nvSpPr>
          <p:cNvPr id="38" name="Text 31"/>
          <p:cNvSpPr/>
          <p:nvPr/>
        </p:nvSpPr>
        <p:spPr>
          <a:xfrm>
            <a:off x="4743450" y="2013086"/>
            <a:ext cx="1710928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b="1" spc="-25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Bon pour la santé</a:t>
            </a:r>
            <a:endParaRPr lang="en-US" sz="1238" dirty="0"/>
          </a:p>
        </p:txBody>
      </p:sp>
      <p:sp>
        <p:nvSpPr>
          <p:cNvPr id="39" name="Text 32"/>
          <p:cNvSpPr/>
          <p:nvPr/>
        </p:nvSpPr>
        <p:spPr>
          <a:xfrm>
            <a:off x="4743450" y="2198824"/>
            <a:ext cx="1710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50" kern="0" dirty="0">
                <a:solidFill>
                  <a:srgbClr val="0F51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IMPACT RÉEL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4743450" y="2402421"/>
            <a:ext cx="1710928" cy="1733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Moins de temps perdu, c'est des traitements pris plus tôt. Surtout pour les maladies chroniques comme le diabète ou l'hypertension, où chaque heure compte.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6675834" y="1413011"/>
            <a:ext cx="1953816" cy="2858951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35"/>
          <p:cNvSpPr/>
          <p:nvPr/>
        </p:nvSpPr>
        <p:spPr>
          <a:xfrm>
            <a:off x="6675834" y="1427299"/>
            <a:ext cx="1953816" cy="0"/>
          </a:xfrm>
          <a:prstGeom prst="line">
            <a:avLst/>
          </a:prstGeom>
          <a:noFill/>
          <a:ln w="28575">
            <a:solidFill>
              <a:srgbClr val="B89968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8626078" y="1413011"/>
            <a:ext cx="0" cy="2858951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6675834" y="4268391"/>
            <a:ext cx="1953816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6679406" y="1413011"/>
            <a:ext cx="0" cy="2858951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pic>
        <p:nvPicPr>
          <p:cNvPr id="4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7278" y="1570174"/>
            <a:ext cx="342900" cy="34290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6834068" y="1606964"/>
            <a:ext cx="269319" cy="269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28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48" name="Text 40"/>
          <p:cNvSpPr/>
          <p:nvPr/>
        </p:nvSpPr>
        <p:spPr>
          <a:xfrm>
            <a:off x="6797278" y="2013086"/>
            <a:ext cx="1710928" cy="158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38"/>
              </a:lnSpc>
              <a:buNone/>
            </a:pPr>
            <a:r>
              <a:rPr lang="en-US" sz="1238" b="1" spc="-25" kern="0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Bien fait</a:t>
            </a:r>
            <a:endParaRPr lang="en-US" sz="1238" dirty="0"/>
          </a:p>
        </p:txBody>
      </p:sp>
      <p:sp>
        <p:nvSpPr>
          <p:cNvPr id="49" name="Text 41"/>
          <p:cNvSpPr/>
          <p:nvPr/>
        </p:nvSpPr>
        <p:spPr>
          <a:xfrm>
            <a:off x="6797278" y="2198824"/>
            <a:ext cx="1710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b="1" spc="50" kern="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SOBRE ET CLAIR</a:t>
            </a:r>
            <a:endParaRPr lang="en-US" sz="800" dirty="0"/>
          </a:p>
        </p:txBody>
      </p:sp>
      <p:sp>
        <p:nvSpPr>
          <p:cNvPr id="50" name="Text 42"/>
          <p:cNvSpPr/>
          <p:nvPr/>
        </p:nvSpPr>
        <p:spPr>
          <a:xfrm>
            <a:off x="6797278" y="2402421"/>
            <a:ext cx="1710928" cy="1733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90"/>
              </a:lnSpc>
              <a:buNone/>
            </a:pPr>
            <a:r>
              <a:rPr lang="en-US" sz="800" dirty="0">
                <a:solidFill>
                  <a:srgbClr val="6B7C7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 design est simple et propre. C'est facile à utiliser, même pour quelqu'un qui n'est pas à l'aise avec les téléphones. Les couleurs rappellent le Togo sans en faire trop.</a:t>
            </a:r>
            <a:endParaRPr lang="en-US" sz="800" dirty="0"/>
          </a:p>
        </p:txBody>
      </p:sp>
      <p:sp>
        <p:nvSpPr>
          <p:cNvPr id="51" name="Text 43"/>
          <p:cNvSpPr/>
          <p:nvPr/>
        </p:nvSpPr>
        <p:spPr>
          <a:xfrm>
            <a:off x="514350" y="4371975"/>
            <a:ext cx="8115300" cy="371475"/>
          </a:xfrm>
          <a:prstGeom prst="roundRect">
            <a:avLst>
              <a:gd name="adj" fmla="val 4102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44"/>
          <p:cNvSpPr/>
          <p:nvPr/>
        </p:nvSpPr>
        <p:spPr>
          <a:xfrm>
            <a:off x="514350" y="4375547"/>
            <a:ext cx="81153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53" name="Shape 45"/>
          <p:cNvSpPr/>
          <p:nvPr/>
        </p:nvSpPr>
        <p:spPr>
          <a:xfrm>
            <a:off x="8626078" y="4371975"/>
            <a:ext cx="0" cy="371475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54" name="Shape 46"/>
          <p:cNvSpPr/>
          <p:nvPr/>
        </p:nvSpPr>
        <p:spPr>
          <a:xfrm>
            <a:off x="514350" y="4739878"/>
            <a:ext cx="8115300" cy="0"/>
          </a:xfrm>
          <a:prstGeom prst="line">
            <a:avLst/>
          </a:prstGeom>
          <a:noFill/>
          <a:ln w="7144">
            <a:solidFill>
              <a:srgbClr val="E5E0D5"/>
            </a:solidFill>
            <a:prstDash val="solid"/>
          </a:ln>
        </p:spPr>
      </p:sp>
      <p:sp>
        <p:nvSpPr>
          <p:cNvPr id="55" name="Shape 47"/>
          <p:cNvSpPr/>
          <p:nvPr/>
        </p:nvSpPr>
        <p:spPr>
          <a:xfrm>
            <a:off x="528638" y="4371975"/>
            <a:ext cx="0" cy="371475"/>
          </a:xfrm>
          <a:prstGeom prst="line">
            <a:avLst/>
          </a:prstGeom>
          <a:noFill/>
          <a:ln w="28575">
            <a:solidFill>
              <a:srgbClr val="B89968"/>
            </a:solidFill>
            <a:prstDash val="solid"/>
          </a:ln>
        </p:spPr>
      </p:sp>
      <p:sp>
        <p:nvSpPr>
          <p:cNvPr id="56" name="Text 48"/>
          <p:cNvSpPr/>
          <p:nvPr/>
        </p:nvSpPr>
        <p:spPr>
          <a:xfrm>
            <a:off x="700088" y="44791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47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“</a:t>
            </a:r>
            <a:endParaRPr lang="en-US" sz="1547" dirty="0"/>
          </a:p>
        </p:txBody>
      </p:sp>
      <p:sp>
        <p:nvSpPr>
          <p:cNvPr id="57" name="Text 49"/>
          <p:cNvSpPr/>
          <p:nvPr/>
        </p:nvSpPr>
        <p:spPr>
          <a:xfrm>
            <a:off x="942975" y="4482703"/>
            <a:ext cx="7522369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1"/>
              </a:lnSpc>
              <a:buNone/>
            </a:pPr>
            <a:r>
              <a:rPr lang="en-US" sz="844" i="1" dirty="0">
                <a:solidFill>
                  <a:srgbClr val="1A2B2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« MediTike, c'est l'idée simple de mettre les gens en contact avec les pharmacies, avec les moyens d'aujourd'hui. »</a:t>
            </a:r>
            <a:endParaRPr lang="en-US" sz="844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28575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4925"/>
            <a:ext cx="9144000" cy="28575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-1285875" y="1000125"/>
            <a:ext cx="3143250" cy="3143250"/>
          </a:xfrm>
          <a:prstGeom prst="ellipse">
            <a:avLst/>
          </a:prstGeom>
          <a:solidFill>
            <a:srgbClr val="0F5132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1"/>
          <p:cNvSpPr/>
          <p:nvPr/>
        </p:nvSpPr>
        <p:spPr>
          <a:xfrm>
            <a:off x="7286625" y="1000125"/>
            <a:ext cx="3143250" cy="3143250"/>
          </a:xfrm>
          <a:prstGeom prst="ellipse">
            <a:avLst/>
          </a:prstGeom>
          <a:solidFill>
            <a:srgbClr val="B89968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951" y="1224483"/>
            <a:ext cx="228600" cy="2286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147951" y="1224483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+</a:t>
            </a:r>
            <a:endParaRPr lang="en-US" sz="900" dirty="0"/>
          </a:p>
        </p:txBody>
      </p:sp>
      <p:sp>
        <p:nvSpPr>
          <p:cNvPr id="8" name="Text 3"/>
          <p:cNvSpPr/>
          <p:nvPr/>
        </p:nvSpPr>
        <p:spPr>
          <a:xfrm>
            <a:off x="4371276" y="1242343"/>
            <a:ext cx="70137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19"/>
              </a:lnSpc>
              <a:buNone/>
            </a:pPr>
            <a:r>
              <a:rPr lang="en-US" sz="1013" b="1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MediTike</a:t>
            </a:r>
            <a:endParaRPr lang="en-US" sz="1013" dirty="0"/>
          </a:p>
        </p:txBody>
      </p:sp>
      <p:sp>
        <p:nvSpPr>
          <p:cNvPr id="9" name="Text 4"/>
          <p:cNvSpPr/>
          <p:nvPr/>
        </p:nvSpPr>
        <p:spPr>
          <a:xfrm>
            <a:off x="274320" y="1653108"/>
            <a:ext cx="8595248" cy="388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835"/>
              </a:lnSpc>
              <a:buNone/>
            </a:pPr>
            <a:r>
              <a:rPr lang="en-US" sz="2700" b="1" spc="-54" kern="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Merci de votre attention</a:t>
            </a:r>
            <a:endParaRPr lang="en-US" sz="2700" dirty="0"/>
          </a:p>
        </p:txBody>
      </p:sp>
      <p:sp>
        <p:nvSpPr>
          <p:cNvPr id="10" name="Text 5"/>
          <p:cNvSpPr/>
          <p:nvPr/>
        </p:nvSpPr>
        <p:spPr>
          <a:xfrm>
            <a:off x="274320" y="2084524"/>
            <a:ext cx="8595248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F5F3EF">
                    <a:alpha val="7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MediTike — La santé à portée de main</a:t>
            </a:r>
            <a:endParaRPr lang="en-US" sz="1125" dirty="0"/>
          </a:p>
        </p:txBody>
      </p:sp>
      <p:sp>
        <p:nvSpPr>
          <p:cNvPr id="11" name="Text 6"/>
          <p:cNvSpPr/>
          <p:nvPr/>
        </p:nvSpPr>
        <p:spPr>
          <a:xfrm>
            <a:off x="1914525" y="2455999"/>
            <a:ext cx="2000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69" dirty="0">
                <a:solidFill>
                  <a:srgbClr val="B8996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“</a:t>
            </a:r>
            <a:endParaRPr lang="en-US" sz="1969" dirty="0"/>
          </a:p>
        </p:txBody>
      </p:sp>
      <p:sp>
        <p:nvSpPr>
          <p:cNvPr id="12" name="Text 7"/>
          <p:cNvSpPr/>
          <p:nvPr/>
        </p:nvSpPr>
        <p:spPr>
          <a:xfrm>
            <a:off x="2071688" y="2513149"/>
            <a:ext cx="5000625" cy="430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9"/>
              </a:lnSpc>
              <a:buNone/>
            </a:pPr>
            <a:r>
              <a:rPr lang="en-US" sz="1013" i="1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« Avoir ses médicaments à temps, c'est un droit, pas un luxe. MediTike veut rendre ce droit plus simple pour tous les Togolais. »</a:t>
            </a:r>
            <a:endParaRPr lang="en-US" sz="1013" dirty="0"/>
          </a:p>
        </p:txBody>
      </p:sp>
      <p:sp>
        <p:nvSpPr>
          <p:cNvPr id="13" name="Text 8"/>
          <p:cNvSpPr/>
          <p:nvPr/>
        </p:nvSpPr>
        <p:spPr>
          <a:xfrm>
            <a:off x="2899023" y="315095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☎</a:t>
            </a:r>
            <a:endParaRPr lang="en-US" sz="1266" dirty="0"/>
          </a:p>
        </p:txBody>
      </p:sp>
      <p:sp>
        <p:nvSpPr>
          <p:cNvPr id="14" name="Text 9"/>
          <p:cNvSpPr/>
          <p:nvPr/>
        </p:nvSpPr>
        <p:spPr>
          <a:xfrm>
            <a:off x="2986297" y="3140236"/>
            <a:ext cx="97838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F5F3EF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+228 96 41 72 70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3956554" y="3140236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4099620" y="315095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✉</a:t>
            </a:r>
            <a:endParaRPr lang="en-US" sz="1266" dirty="0"/>
          </a:p>
        </p:txBody>
      </p:sp>
      <p:sp>
        <p:nvSpPr>
          <p:cNvPr id="17" name="Text 12"/>
          <p:cNvSpPr/>
          <p:nvPr/>
        </p:nvSpPr>
        <p:spPr>
          <a:xfrm>
            <a:off x="4200978" y="3140236"/>
            <a:ext cx="114990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contact@meditike.tg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5356840" y="3140236"/>
            <a:ext cx="91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B8996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5499906" y="315095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◎</a:t>
            </a:r>
            <a:endParaRPr lang="en-US" sz="1266" dirty="0"/>
          </a:p>
        </p:txBody>
      </p:sp>
      <p:sp>
        <p:nvSpPr>
          <p:cNvPr id="20" name="Text 15"/>
          <p:cNvSpPr/>
          <p:nvPr/>
        </p:nvSpPr>
        <p:spPr>
          <a:xfrm>
            <a:off x="5637541" y="3140236"/>
            <a:ext cx="65553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81"/>
              </a:lnSpc>
              <a:buNone/>
            </a:pPr>
            <a:r>
              <a:rPr lang="en-US" sz="800" dirty="0">
                <a:solidFill>
                  <a:srgbClr val="F5F3E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Lomé, Togo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2867791" y="3491766"/>
            <a:ext cx="1174433" cy="268491"/>
          </a:xfrm>
          <a:prstGeom prst="roundRect">
            <a:avLst>
              <a:gd name="adj" fmla="val 3544057"/>
            </a:avLst>
          </a:prstGeom>
          <a:solidFill>
            <a:srgbClr val="F5F3EF">
              <a:alpha val="10000"/>
            </a:srgbClr>
          </a:solidFill>
          <a:ln w="7144">
            <a:solidFill>
              <a:srgbClr val="F5F3E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3154970" y="3576005"/>
            <a:ext cx="742950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D4B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Solution togolaise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3012095" y="3576005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984" dirty="0"/>
          </a:p>
        </p:txBody>
      </p:sp>
      <p:sp>
        <p:nvSpPr>
          <p:cNvPr id="24" name="Text 19"/>
          <p:cNvSpPr/>
          <p:nvPr/>
        </p:nvSpPr>
        <p:spPr>
          <a:xfrm>
            <a:off x="4067941" y="3491766"/>
            <a:ext cx="1098419" cy="268491"/>
          </a:xfrm>
          <a:prstGeom prst="roundRect">
            <a:avLst>
              <a:gd name="adj" fmla="val 3544057"/>
            </a:avLst>
          </a:prstGeom>
          <a:solidFill>
            <a:srgbClr val="F5F3EF">
              <a:alpha val="10000"/>
            </a:srgbClr>
          </a:solidFill>
          <a:ln w="7144">
            <a:solidFill>
              <a:srgbClr val="F5F3E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4355120" y="3576005"/>
            <a:ext cx="666936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D4B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Projet individuel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4212245" y="3576005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☻</a:t>
            </a:r>
            <a:endParaRPr lang="en-US" sz="984" dirty="0"/>
          </a:p>
        </p:txBody>
      </p:sp>
      <p:sp>
        <p:nvSpPr>
          <p:cNvPr id="27" name="Text 22"/>
          <p:cNvSpPr/>
          <p:nvPr/>
        </p:nvSpPr>
        <p:spPr>
          <a:xfrm>
            <a:off x="5192078" y="3491766"/>
            <a:ext cx="1084019" cy="268491"/>
          </a:xfrm>
          <a:prstGeom prst="roundRect">
            <a:avLst>
              <a:gd name="adj" fmla="val 3544057"/>
            </a:avLst>
          </a:prstGeom>
          <a:solidFill>
            <a:srgbClr val="F5F3EF">
              <a:alpha val="10000"/>
            </a:srgbClr>
          </a:solidFill>
          <a:ln w="7144">
            <a:solidFill>
              <a:srgbClr val="F5F3E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3"/>
          <p:cNvSpPr/>
          <p:nvPr/>
        </p:nvSpPr>
        <p:spPr>
          <a:xfrm>
            <a:off x="5479256" y="3576005"/>
            <a:ext cx="652537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D4B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Santé pour tous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5336381" y="3576005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D4B88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♥</a:t>
            </a:r>
            <a:endParaRPr lang="en-US" sz="98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2026-07-06T00:11:56Z</dcterms:created>
  <dcterms:modified xsi:type="dcterms:W3CDTF">2026-07-06T00:11:56Z</dcterms:modified>
</cp:coreProperties>
</file>