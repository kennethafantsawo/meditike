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Présenter MediTike en une phrase : une application qui met les patients en contact avec les pharmacies de garde au Togo.
- Insister sur la simplicité : même la nuit ou le week-end, on trouve son médicament.
- Donner le contact pour les questions : +228 96 41 72 70, contact@meditike.tg, Lomé.
- Rappeler que c'est une solution 100 % togolaise, pensée pour le terrain.
- Garder un ton chaleureux, rassurant, institutionnel.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Décrire la situation vécue par les patients sans jargon technique.
- Insister sur le temps perdu : appeler plusieurs pharmacies, tomber sur le répondeur.
- Rappeler que la liste officielle existe mais est difficile à trouver.
- Souligner les 3 chiffres : 1348 pharmacies, 26 semaines, plus de 30 minutes en moyenne.
- Préparer la transition vers l'idée MediTike.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Présenter l'idée simplement : une demande, plusieurs réponses, un seul déplacement.
- Insister sur le gain de temps : 30 minutes à moins de 5 minutes.
- Lister les 4 objectifs concrets, un par un, sans jargon.
- Mentionner la protection de la vie privée (photos supprimées automatiquement).
- Souligner que l'outil reste gratuit et accessible même avec une connexion lente.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Présenter les 3 rôles simplement : le patient demande, le pharmacien répond, l'administrateur gère.
- Insister sur la simplicité du circuit : une demande part à plusieurs pharmacies.
- Détailler le rôle du patient : numéro de téléphone, photo, demande.
- Détailler le rôle du pharmacien : recevoir, répondre en un clic, donner le prix.
- Expliquer le rôle de l'administrateur : inscrire les pharmacies, importer la liste de garde.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Décrire les 3 étapes du parcours en insistant sur la simplicité.
- Étape 1 : le patient envoie une seule demande à toutes les pharmacies de garde.
- Étape 2 : les pharmaciens répondent en direct, avec le prix.
- Étape 3 : le patient contacte la pharmacie par WhatsApp ou appel.
- Insister sur le timing : moins de 5 minutes pour tout le parcours.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Expliquer chaque outil simplement, comme à quelqu'un qui ne connaît rien à l'informatique.
- Outil 1 : l'application web = un site internet, sans installation.
- Outil 2 : la base de données = un coffre sécurisé pour toutes les informations.
- Outil 3 : le stockage des photos = un coffre-fort privé, avec suppression automatique.
- Outil 4 : les tâches automatiques = le système fait le ménage tout seul chaque jour.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Insister sur l'auto-suppression des photos après 72 heures ou 7 jours.
- Rassurer : même l'équipe MediTike ne peut pas voir les mots de passe.
- Mentionner que la connexion est chiffrée comme pour les banques.
- Expliquer que l'accès administrateur est caché et que tout est enregistré.
- Conclure : confidentialité et sécurité sont au cœur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Mettre en avant l'impact concret pour les gens, pas la technique.
- Insister sur le passage de 30 minutes à moins de 5 minutes pour trouver une pharmacie.
- Rappeler que les 1348 pharmacies officielles sont toutes couvertes.
- Mentionner les 7 villes desservies et la suppression automatique des photos.
- Conclure avec la citation : solution simple et accessible, même avec une connexion modeste.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Insister sur le fait que l'application est déjà en service, pas juste une idée.
- Énumérer ce qui est fait : en ligne, photos sécurisées, ménage automatique, 1348 pharmacies.
- Présenter la feuille de route en 3 horizons : 3 mois, 6-12 mois, long terme.
- Mettre en avant WhatsApp, Mobile Money et l'extension à d'autres pays.
- Conclure : MediTike est concret aujourd'hui, et a une vision pour demain.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Présenter les 4 points forts simplement : utile, réel, bon pour la santé, bien fait.
- Insister sur le fait que ce n'est pas une idée, c'est déjà en service.
- Mettre en avant l'impact santé pour les maladies chroniques (diabète, hypertension).
- Souligner la simplicité d'usage, même pour les moins à l'aise avec les téléphones.
- Conclure avec la citation : une idée simple, avec les moyens d'aujourd'hui.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Remercier l'audience pour son attention.
- Rappeler la phrase clé : avoir ses médicaments à temps est un droit, pas un luxe.
- Donner le contact : téléphone, email, localisation à Lomé.
- Mettre en avant les badges : solution togolaise, projet individuel, santé pour tous.
- Laisser une impression positive et chaleureuse, ouvrir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0" y="2857500"/>
            <a:ext cx="3714750" cy="3714750"/>
          </a:xfrm>
          <a:prstGeom prst="ellipse">
            <a:avLst/>
          </a:prstGeom>
          <a:solidFill>
            <a:srgbClr val="B89968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-714375" y="428625"/>
            <a:ext cx="2000250" cy="2000250"/>
          </a:xfrm>
          <a:prstGeom prst="ellipse">
            <a:avLst/>
          </a:prstGeom>
          <a:solidFill>
            <a:srgbClr val="0F5132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91490" y="467616"/>
            <a:ext cx="1412409" cy="264919"/>
          </a:xfrm>
          <a:prstGeom prst="roundRect">
            <a:avLst>
              <a:gd name="adj" fmla="val 3591843"/>
            </a:avLst>
          </a:prstGeom>
          <a:solidFill>
            <a:srgbClr val="B89968">
              <a:alpha val="12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4381" y="544711"/>
            <a:ext cx="10095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Santé pour tous · Togo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21506" y="55006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984" dirty="0"/>
          </a:p>
        </p:txBody>
      </p:sp>
      <p:sp>
        <p:nvSpPr>
          <p:cNvPr id="8" name="Text 5"/>
          <p:cNvSpPr/>
          <p:nvPr/>
        </p:nvSpPr>
        <p:spPr>
          <a:xfrm>
            <a:off x="7393924" y="455414"/>
            <a:ext cx="74995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25" b="1" spc="-23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MediTike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7430012" y="626864"/>
            <a:ext cx="7138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LOMÉ · TOGO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00050"/>
            <a:ext cx="400050" cy="400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63890" y="434340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514350" y="1376288"/>
            <a:ext cx="285750" cy="14288"/>
          </a:xfrm>
          <a:prstGeom prst="rect">
            <a:avLst/>
          </a:prstGeom>
          <a:solidFill>
            <a:srgbClr val="B899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914400" y="1313780"/>
            <a:ext cx="77152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3" kern="0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UNE SOLUTION TOGOLAISE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14350" y="1595958"/>
            <a:ext cx="8629650" cy="762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8"/>
              </a:lnSpc>
              <a:buNone/>
            </a:pPr>
            <a:r>
              <a:rPr lang="en-US" sz="5850" b="1" spc="-205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MediTike</a:t>
            </a:r>
            <a:endParaRPr lang="en-US" sz="5850" dirty="0"/>
          </a:p>
        </p:txBody>
      </p:sp>
      <p:sp>
        <p:nvSpPr>
          <p:cNvPr id="15" name="Text 11"/>
          <p:cNvSpPr/>
          <p:nvPr/>
        </p:nvSpPr>
        <p:spPr>
          <a:xfrm>
            <a:off x="514350" y="2473189"/>
            <a:ext cx="8629650" cy="638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spc="-30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Trouvez vos médicaments facilement,</a:t>
            </a:r>
            <a:endParaRPr lang="en-US" sz="2025" dirty="0"/>
          </a:p>
          <a:p>
            <a:pPr algn="l" indent="0" marL="0">
              <a:lnSpc>
                <a:spcPts val="2329"/>
              </a:lnSpc>
              <a:buNone/>
            </a:pPr>
            <a:r>
              <a:rPr lang="en-US" sz="2025" spc="-30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même la nuit ou le week-end.</a:t>
            </a:r>
            <a:endParaRPr lang="en-US" sz="2025" dirty="0"/>
          </a:p>
        </p:txBody>
      </p:sp>
      <p:sp>
        <p:nvSpPr>
          <p:cNvPr id="16" name="Text 12"/>
          <p:cNvSpPr/>
          <p:nvPr/>
        </p:nvSpPr>
        <p:spPr>
          <a:xfrm>
            <a:off x="514350" y="3236007"/>
            <a:ext cx="4572000" cy="432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8"/>
              </a:lnSpc>
              <a:buNone/>
            </a:pPr>
            <a:r>
              <a:rPr lang="en-US" sz="956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Une application simple qui met les patients en contact direct avec les pharmacies de garde, partout au Togo.</a:t>
            </a:r>
            <a:endParaRPr lang="en-US" sz="956" dirty="0"/>
          </a:p>
        </p:txBody>
      </p:sp>
      <p:sp>
        <p:nvSpPr>
          <p:cNvPr id="17" name="Text 13"/>
          <p:cNvSpPr/>
          <p:nvPr/>
        </p:nvSpPr>
        <p:spPr>
          <a:xfrm>
            <a:off x="514350" y="41612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266" dirty="0"/>
          </a:p>
        </p:txBody>
      </p:sp>
      <p:sp>
        <p:nvSpPr>
          <p:cNvPr id="18" name="Text 14"/>
          <p:cNvSpPr/>
          <p:nvPr/>
        </p:nvSpPr>
        <p:spPr>
          <a:xfrm>
            <a:off x="728663" y="4150519"/>
            <a:ext cx="12061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A2B2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+228 96 41 72 70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14350" y="43826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266" dirty="0"/>
          </a:p>
        </p:txBody>
      </p:sp>
      <p:sp>
        <p:nvSpPr>
          <p:cNvPr id="20" name="Text 16"/>
          <p:cNvSpPr/>
          <p:nvPr/>
        </p:nvSpPr>
        <p:spPr>
          <a:xfrm>
            <a:off x="728663" y="4371975"/>
            <a:ext cx="10636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contact@meditike.tg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14350" y="46041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266" dirty="0"/>
          </a:p>
        </p:txBody>
      </p:sp>
      <p:sp>
        <p:nvSpPr>
          <p:cNvPr id="22" name="Text 18"/>
          <p:cNvSpPr/>
          <p:nvPr/>
        </p:nvSpPr>
        <p:spPr>
          <a:xfrm>
            <a:off x="728663" y="4593431"/>
            <a:ext cx="9634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Lomé, Togo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178483" y="4457700"/>
            <a:ext cx="2451167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NOTRE PROMESSE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510729" y="4604147"/>
            <a:ext cx="21189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Une solution togolaise pour la santé de tous »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4328" y="257175"/>
            <a:ext cx="2019672" cy="169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75"/>
              </a:lnSpc>
              <a:buNone/>
            </a:pPr>
            <a:r>
              <a:rPr lang="en-US" sz="12375" b="1" spc="-619" kern="0" dirty="0">
                <a:solidFill>
                  <a:srgbClr val="B89968">
                    <a:alpha val="7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2375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862965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223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06</a:t>
            </a:r>
            <a:endParaRPr lang="en-US" sz="1238" dirty="0"/>
          </a:p>
        </p:txBody>
      </p:sp>
      <p:sp>
        <p:nvSpPr>
          <p:cNvPr id="4" name="Text 2"/>
          <p:cNvSpPr/>
          <p:nvPr/>
        </p:nvSpPr>
        <p:spPr>
          <a:xfrm>
            <a:off x="514350" y="750094"/>
            <a:ext cx="8629650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49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problème</a:t>
            </a:r>
            <a:endParaRPr lang="en-US" sz="2475" dirty="0"/>
          </a:p>
        </p:txBody>
      </p:sp>
      <p:sp>
        <p:nvSpPr>
          <p:cNvPr id="5" name="Text 3"/>
          <p:cNvSpPr/>
          <p:nvPr/>
        </p:nvSpPr>
        <p:spPr>
          <a:xfrm>
            <a:off x="514350" y="1265002"/>
            <a:ext cx="257175" cy="21431"/>
          </a:xfrm>
          <a:prstGeom prst="roundRect">
            <a:avLst>
              <a:gd name="adj" fmla="val 88890"/>
            </a:avLst>
          </a:prstGeom>
          <a:solidFill>
            <a:srgbClr val="B899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1165771"/>
            <a:ext cx="7772400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Trouver un médicament urgent au Togo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514350" y="16197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☾</a:t>
            </a:r>
            <a:endParaRPr lang="en-US" sz="1266" dirty="0"/>
          </a:p>
        </p:txBody>
      </p:sp>
      <p:sp>
        <p:nvSpPr>
          <p:cNvPr id="8" name="Text 6"/>
          <p:cNvSpPr/>
          <p:nvPr/>
        </p:nvSpPr>
        <p:spPr>
          <a:xfrm>
            <a:off x="700088" y="1614376"/>
            <a:ext cx="3729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8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SITUATION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4350" y="1839404"/>
            <a:ext cx="3914775" cy="1016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872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Quand on a besoin d'un médicament urgent — la nuit, le week-end, ou quand on ne connaît pas bien le quartier — c'est souvent compliqué. Il faut appeler une pharmacie après l'autre pour savoir si elle a le médicament qu'on cherche. Parfois, on tombe sur le répondeur. Parfois, la pharmacie n'a pas le produit. On perd un temps précieux.</a:t>
            </a:r>
            <a:endParaRPr lang="en-US" sz="872" dirty="0"/>
          </a:p>
        </p:txBody>
      </p:sp>
      <p:sp>
        <p:nvSpPr>
          <p:cNvPr id="10" name="Text 8"/>
          <p:cNvSpPr/>
          <p:nvPr/>
        </p:nvSpPr>
        <p:spPr>
          <a:xfrm>
            <a:off x="4714875" y="16197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4900613" y="1614376"/>
            <a:ext cx="37290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8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L'INFORMATION EXISTE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14875" y="1839404"/>
            <a:ext cx="3914775" cy="81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872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Pourtant, le Ministère de la Santé publie chaque semaine la liste des pharmacies de garde. Le problème, c'est que cette liste est difficile à trouver quand on en a vraiment besoin. Les gens ne savent pas où la chercher, et encore moins comment contacter directement la bonne pharmacie.</a:t>
            </a:r>
            <a:endParaRPr lang="en-US" sz="872" dirty="0"/>
          </a:p>
        </p:txBody>
      </p:sp>
      <p:sp>
        <p:nvSpPr>
          <p:cNvPr id="13" name="Text 11"/>
          <p:cNvSpPr/>
          <p:nvPr/>
        </p:nvSpPr>
        <p:spPr>
          <a:xfrm>
            <a:off x="517922" y="3677692"/>
            <a:ext cx="2602669" cy="1062186"/>
          </a:xfrm>
          <a:prstGeom prst="roundRect">
            <a:avLst>
              <a:gd name="adj" fmla="val 14348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2944" y="3838426"/>
            <a:ext cx="2081175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94" kern="0" dirty="0">
                <a:solidFill>
                  <a:srgbClr val="0F51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1348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2788407" y="383842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692944" y="4309914"/>
            <a:ext cx="225262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pharmacies de garde répertoriées dans le fichier officiel 2026-2027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70610" y="3677692"/>
            <a:ext cx="2602669" cy="1062186"/>
          </a:xfrm>
          <a:prstGeom prst="roundRect">
            <a:avLst>
              <a:gd name="adj" fmla="val 14348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45632" y="3838426"/>
            <a:ext cx="2081175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94" kern="0" dirty="0">
                <a:solidFill>
                  <a:srgbClr val="0F51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5541094" y="383842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0" name="Text 18"/>
          <p:cNvSpPr/>
          <p:nvPr/>
        </p:nvSpPr>
        <p:spPr>
          <a:xfrm>
            <a:off x="3445632" y="4309914"/>
            <a:ext cx="2362353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semaines de garde programmées chaque année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23297" y="3677692"/>
            <a:ext cx="2602781" cy="1062186"/>
          </a:xfrm>
          <a:prstGeom prst="roundRect">
            <a:avLst>
              <a:gd name="adj" fmla="val 14348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98319" y="3838426"/>
            <a:ext cx="2081287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94" kern="0" dirty="0">
                <a:solidFill>
                  <a:srgbClr val="0F51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&gt;30 min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8293894" y="383842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⧖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6198319" y="4309914"/>
            <a:ext cx="225273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temps moyen pour trouver une pharmacie qui a le médicament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4328" y="257175"/>
            <a:ext cx="2019672" cy="169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75"/>
              </a:lnSpc>
              <a:buNone/>
            </a:pPr>
            <a:r>
              <a:rPr lang="en-US" sz="12375" b="1" spc="-619" kern="0" dirty="0">
                <a:solidFill>
                  <a:srgbClr val="B89968">
                    <a:alpha val="7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2375" dirty="0"/>
          </a:p>
        </p:txBody>
      </p:sp>
      <p:sp>
        <p:nvSpPr>
          <p:cNvPr id="3" name="Shape 1"/>
          <p:cNvSpPr/>
          <p:nvPr/>
        </p:nvSpPr>
        <p:spPr>
          <a:xfrm>
            <a:off x="514350" y="1726555"/>
            <a:ext cx="394335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54128" y="1722983"/>
            <a:ext cx="0" cy="3020467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4350" y="4739878"/>
            <a:ext cx="394335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8638" y="1722983"/>
            <a:ext cx="0" cy="3020467"/>
          </a:xfrm>
          <a:prstGeom prst="line">
            <a:avLst/>
          </a:prstGeom>
          <a:noFill/>
          <a:ln w="28575">
            <a:solidFill>
              <a:srgbClr val="B89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350" y="400050"/>
            <a:ext cx="862965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223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06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514350" y="721519"/>
            <a:ext cx="8629650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49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Notre idée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514350" y="1206847"/>
            <a:ext cx="257175" cy="21431"/>
          </a:xfrm>
          <a:prstGeom prst="roundRect">
            <a:avLst>
              <a:gd name="adj" fmla="val 88890"/>
            </a:avLst>
          </a:prstGeom>
          <a:solidFill>
            <a:srgbClr val="B899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7250" y="1137196"/>
            <a:ext cx="77724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Une seule demande, plusieurs réponses, un seul déplacement.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514350" y="15033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700088" y="1497955"/>
            <a:ext cx="37576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8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L'IDÉE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4350" y="1722983"/>
            <a:ext cx="3943350" cy="3020467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7150" dir="5400000">
              <a:srgbClr val="0F513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54971" y="1844427"/>
            <a:ext cx="181273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3375" dirty="0">
                <a:solidFill>
                  <a:srgbClr val="B89968">
                    <a:alpha val="1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</a:t>
            </a:r>
            <a:endParaRPr lang="en-US" sz="3375" dirty="0"/>
          </a:p>
        </p:txBody>
      </p:sp>
      <p:sp>
        <p:nvSpPr>
          <p:cNvPr id="15" name="Text 13"/>
          <p:cNvSpPr/>
          <p:nvPr/>
        </p:nvSpPr>
        <p:spPr>
          <a:xfrm>
            <a:off x="757238" y="1930152"/>
            <a:ext cx="347900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L'idée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757238" y="2208758"/>
            <a:ext cx="3479006" cy="811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872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Et si on pouvait, depuis son téléphone, envoyer une seule demande de médicament à toutes les pharmacies de garde en même temps ? Les pharmaciens voient la demande, répondent directement, et le patient sait tout de suite où aller.</a:t>
            </a:r>
            <a:endParaRPr lang="en-US" sz="872" dirty="0"/>
          </a:p>
        </p:txBody>
      </p:sp>
      <p:sp>
        <p:nvSpPr>
          <p:cNvPr id="17" name="Text 15"/>
          <p:cNvSpPr/>
          <p:nvPr/>
        </p:nvSpPr>
        <p:spPr>
          <a:xfrm>
            <a:off x="757238" y="3047256"/>
            <a:ext cx="3479006" cy="406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872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Plus besoin d'appeler 5 ou 10 pharmacies : </a:t>
            </a:r>
            <a:pPr algn="l" indent="0" marL="0">
              <a:lnSpc>
                <a:spcPts val="1482"/>
              </a:lnSpc>
              <a:buNone/>
            </a:pPr>
            <a:r>
              <a:rPr lang="en-US" sz="872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une demande, plusieurs réponses, un seul déplacement.</a:t>
            </a:r>
            <a:endParaRPr lang="en-US" sz="872" dirty="0"/>
          </a:p>
        </p:txBody>
      </p:sp>
      <p:sp>
        <p:nvSpPr>
          <p:cNvPr id="18" name="Text 16"/>
          <p:cNvSpPr/>
          <p:nvPr/>
        </p:nvSpPr>
        <p:spPr>
          <a:xfrm>
            <a:off x="757238" y="441483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28688" y="4407694"/>
            <a:ext cx="330755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UNE IDÉE SIMPLE, POUR UN PROBLÈME RÉEL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86300" y="15033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4872038" y="1497955"/>
            <a:ext cx="37576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8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 QU'ON VEUT ACCOMPLIR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86300" y="1722983"/>
            <a:ext cx="414051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 qu'on veut accomplir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4689872" y="2005161"/>
            <a:ext cx="3936206" cy="496491"/>
          </a:xfrm>
          <a:prstGeom prst="roundRect">
            <a:avLst>
              <a:gd name="adj" fmla="val 23022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2031" y="2117675"/>
            <a:ext cx="271463" cy="271463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822031" y="2117675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207794" y="2108746"/>
            <a:ext cx="328612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Passer de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51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 minutes à moins de 5 minutes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pour trouver une pharmacie qui a le médicament.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689872" y="2580233"/>
            <a:ext cx="3936206" cy="496491"/>
          </a:xfrm>
          <a:prstGeom prst="roundRect">
            <a:avLst>
              <a:gd name="adj" fmla="val 23022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031" y="2692747"/>
            <a:ext cx="271463" cy="271463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822031" y="2692747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207794" y="2683818"/>
            <a:ext cx="328612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Rendre la liste officielle des pharmacies de garde accessible à tout le monde,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 temps réel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689872" y="3155305"/>
            <a:ext cx="3936206" cy="496491"/>
          </a:xfrm>
          <a:prstGeom prst="roundRect">
            <a:avLst>
              <a:gd name="adj" fmla="val 23022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031" y="3267819"/>
            <a:ext cx="271463" cy="271463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822031" y="3267819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5207794" y="3258889"/>
            <a:ext cx="328612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Protéger la vie privée des patients : leurs photos sont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supprimées automatiquement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après quelques jours.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4689872" y="3730377"/>
            <a:ext cx="3936206" cy="496491"/>
          </a:xfrm>
          <a:prstGeom prst="roundRect">
            <a:avLst>
              <a:gd name="adj" fmla="val 23022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3842891"/>
            <a:ext cx="271463" cy="271463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822031" y="3842891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5207794" y="3833961"/>
            <a:ext cx="328612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 outil simple, gratuit, qui marche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même avec une connexion internet lente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223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06</a:t>
            </a:r>
            <a:endParaRPr lang="en-US" sz="1238" dirty="0"/>
          </a:p>
        </p:txBody>
      </p:sp>
      <p:sp>
        <p:nvSpPr>
          <p:cNvPr id="3" name="Text 1"/>
          <p:cNvSpPr/>
          <p:nvPr/>
        </p:nvSpPr>
        <p:spPr>
          <a:xfrm>
            <a:off x="514350" y="721519"/>
            <a:ext cx="3134454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49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Comment ça marche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221470"/>
            <a:ext cx="257175" cy="21431"/>
          </a:xfrm>
          <a:prstGeom prst="roundRect">
            <a:avLst>
              <a:gd name="adj" fmla="val 88890"/>
            </a:avLst>
          </a:prstGeom>
          <a:solidFill>
            <a:srgbClr val="B899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137196"/>
            <a:ext cx="2642295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Trois personnes, un circuit simple</a:t>
            </a:r>
            <a:endParaRPr lang="en-US" sz="1069" dirty="0"/>
          </a:p>
        </p:txBody>
      </p:sp>
      <p:sp>
        <p:nvSpPr>
          <p:cNvPr id="6" name="Text 4"/>
          <p:cNvSpPr/>
          <p:nvPr/>
        </p:nvSpPr>
        <p:spPr>
          <a:xfrm>
            <a:off x="7072982" y="121287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984" dirty="0"/>
          </a:p>
        </p:txBody>
      </p:sp>
      <p:sp>
        <p:nvSpPr>
          <p:cNvPr id="7" name="Text 5"/>
          <p:cNvSpPr/>
          <p:nvPr/>
        </p:nvSpPr>
        <p:spPr>
          <a:xfrm>
            <a:off x="7230145" y="1198587"/>
            <a:ext cx="16339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6B7C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RÔLES COMPLÉMENTAIRES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7922" y="1530772"/>
            <a:ext cx="2602669" cy="3209106"/>
          </a:xfrm>
          <a:prstGeom prst="roundRect">
            <a:avLst>
              <a:gd name="adj" fmla="val 6587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944" y="1720081"/>
            <a:ext cx="371475" cy="3714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3663" y="1760800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969" dirty="0"/>
          </a:p>
        </p:txBody>
      </p:sp>
      <p:sp>
        <p:nvSpPr>
          <p:cNvPr id="11" name="Text 8"/>
          <p:cNvSpPr/>
          <p:nvPr/>
        </p:nvSpPr>
        <p:spPr>
          <a:xfrm>
            <a:off x="692944" y="2205856"/>
            <a:ext cx="225262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A6B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RÔLE 01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92944" y="2366590"/>
            <a:ext cx="225262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9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patient</a:t>
            </a:r>
            <a:endParaRPr lang="en-US" sz="1238" dirty="0"/>
          </a:p>
        </p:txBody>
      </p:sp>
      <p:sp>
        <p:nvSpPr>
          <p:cNvPr id="13" name="Text 10"/>
          <p:cNvSpPr/>
          <p:nvPr/>
        </p:nvSpPr>
        <p:spPr>
          <a:xfrm>
            <a:off x="692944" y="2673772"/>
            <a:ext cx="2252625" cy="702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patient décrit le médicament qu'il cherche. Il peut ajouter une photo (une ordonnance, la boîte vide). Sa demande part à toutes les pharmacies de garde en une seule fois.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92944" y="3562052"/>
            <a:ext cx="2252625" cy="1047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60"/>
              </a:lnSpc>
              <a:buSzPct val="100000"/>
              <a:buChar char="•"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✓Crée un compte avec son numéro de téléphone</a:t>
            </a:r>
            <a:endParaRPr lang="en-US" sz="800" dirty="0"/>
          </a:p>
          <a:p>
            <a:pPr algn="l" marL="342900" indent="-342900">
              <a:lnSpc>
                <a:spcPts val="1060"/>
              </a:lnSpc>
              <a:buSzPct val="100000"/>
              <a:buChar char="•"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✓Écrit le nom du médicament</a:t>
            </a:r>
            <a:endParaRPr lang="en-US" sz="800" dirty="0"/>
          </a:p>
          <a:p>
            <a:pPr algn="l" marL="342900" indent="-342900">
              <a:lnSpc>
                <a:spcPts val="1060"/>
              </a:lnSpc>
              <a:buSzPct val="100000"/>
              <a:buChar char="•"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✓Ajoute une photo si besoin (jusqu'à 3 photos)</a:t>
            </a:r>
            <a:endParaRPr lang="en-US" sz="800" dirty="0"/>
          </a:p>
          <a:p>
            <a:pPr algn="l" marL="342900" indent="-342900">
              <a:lnSpc>
                <a:spcPts val="1060"/>
              </a:lnSpc>
              <a:buSzPct val="100000"/>
              <a:buChar char="•"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✓Attend les réponses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270610" y="1530772"/>
            <a:ext cx="2602669" cy="3209106"/>
          </a:xfrm>
          <a:prstGeom prst="roundRect">
            <a:avLst>
              <a:gd name="adj" fmla="val 6587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632" y="1720081"/>
            <a:ext cx="371475" cy="3714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86351" y="1760800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969" dirty="0"/>
          </a:p>
        </p:txBody>
      </p:sp>
      <p:sp>
        <p:nvSpPr>
          <p:cNvPr id="18" name="Text 14"/>
          <p:cNvSpPr/>
          <p:nvPr/>
        </p:nvSpPr>
        <p:spPr>
          <a:xfrm>
            <a:off x="3445632" y="2205856"/>
            <a:ext cx="225262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RÔLE 02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445632" y="2366590"/>
            <a:ext cx="225262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9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pharmacien</a:t>
            </a:r>
            <a:endParaRPr lang="en-US" sz="1238" dirty="0"/>
          </a:p>
        </p:txBody>
      </p:sp>
      <p:sp>
        <p:nvSpPr>
          <p:cNvPr id="20" name="Text 16"/>
          <p:cNvSpPr/>
          <p:nvPr/>
        </p:nvSpPr>
        <p:spPr>
          <a:xfrm>
            <a:off x="3445632" y="2673772"/>
            <a:ext cx="2252625" cy="526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pharmacien reçoit la demande immédiatement. Il répond en un clic : oui ou non, le prix, et un petit mot si besoin.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445632" y="3562052"/>
            <a:ext cx="2252625" cy="1047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60"/>
              </a:lnSpc>
              <a:buSzPct val="100000"/>
              <a:buChar char="•"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✓Voit la demande arriver en direct</a:t>
            </a:r>
            <a:endParaRPr lang="en-US" sz="800" dirty="0"/>
          </a:p>
          <a:p>
            <a:pPr algn="l" marL="342900" indent="-342900">
              <a:lnSpc>
                <a:spcPts val="1060"/>
              </a:lnSpc>
              <a:buSzPct val="100000"/>
              <a:buChar char="•"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✓Répond : disponible ou non</a:t>
            </a:r>
            <a:endParaRPr lang="en-US" sz="800" dirty="0"/>
          </a:p>
          <a:p>
            <a:pPr algn="l" marL="342900" indent="-342900">
              <a:lnSpc>
                <a:spcPts val="1060"/>
              </a:lnSpc>
              <a:buSzPct val="100000"/>
              <a:buChar char="•"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✓Indique le prix en FCFA</a:t>
            </a:r>
            <a:endParaRPr lang="en-US" sz="800" dirty="0"/>
          </a:p>
          <a:p>
            <a:pPr algn="l" marL="342900" indent="-342900">
              <a:lnSpc>
                <a:spcPts val="1060"/>
              </a:lnSpc>
              <a:buSzPct val="100000"/>
              <a:buChar char="•"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✓Le patient est notifié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023297" y="1530772"/>
            <a:ext cx="2602781" cy="3209106"/>
          </a:xfrm>
          <a:prstGeom prst="roundRect">
            <a:avLst>
              <a:gd name="adj" fmla="val 6587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319" y="1720081"/>
            <a:ext cx="371475" cy="3714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39039" y="1760800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25" name="Text 20"/>
          <p:cNvSpPr/>
          <p:nvPr/>
        </p:nvSpPr>
        <p:spPr>
          <a:xfrm>
            <a:off x="6198319" y="2205856"/>
            <a:ext cx="2252737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RÔLE 03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6198319" y="2366590"/>
            <a:ext cx="225273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9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L'administrateur</a:t>
            </a:r>
            <a:endParaRPr lang="en-US" sz="1238" dirty="0"/>
          </a:p>
        </p:txBody>
      </p:sp>
      <p:sp>
        <p:nvSpPr>
          <p:cNvPr id="27" name="Text 22"/>
          <p:cNvSpPr/>
          <p:nvPr/>
        </p:nvSpPr>
        <p:spPr>
          <a:xfrm>
            <a:off x="6198319" y="2673772"/>
            <a:ext cx="2252737" cy="526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L'administrateur gère tout : il inscrit les pharmacies, importe la liste de garde, et surveille que tout fonctionne bien.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198319" y="3562052"/>
            <a:ext cx="2252737" cy="1047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60"/>
              </a:lnSpc>
              <a:buSzPct val="100000"/>
              <a:buChar char="•"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✓Inscrit les pharmacies partenaires</a:t>
            </a:r>
            <a:endParaRPr lang="en-US" sz="800" dirty="0"/>
          </a:p>
          <a:p>
            <a:pPr algn="l" marL="342900" indent="-342900">
              <a:lnSpc>
                <a:spcPts val="1060"/>
              </a:lnSpc>
              <a:buSzPct val="100000"/>
              <a:buChar char="•"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✓Importe la liste hebdomadaire</a:t>
            </a:r>
            <a:endParaRPr lang="en-US" sz="800" dirty="0"/>
          </a:p>
          <a:p>
            <a:pPr algn="l" marL="342900" indent="-342900">
              <a:lnSpc>
                <a:spcPts val="1060"/>
              </a:lnSpc>
              <a:buSzPct val="100000"/>
              <a:buChar char="•"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✓Voit les statistiques</a:t>
            </a:r>
            <a:endParaRPr lang="en-US" sz="800" dirty="0"/>
          </a:p>
          <a:p>
            <a:pPr algn="l" marL="342900" indent="-342900">
              <a:lnSpc>
                <a:spcPts val="1060"/>
              </a:lnSpc>
              <a:buSzPct val="100000"/>
              <a:buChar char="•"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✓Garde une trace de toutes les actions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25" y="-1428750"/>
            <a:ext cx="4286250" cy="4286250"/>
          </a:xfrm>
          <a:prstGeom prst="ellipse">
            <a:avLst/>
          </a:prstGeom>
          <a:solidFill>
            <a:srgbClr val="B89968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-857250" y="3500438"/>
            <a:ext cx="2714625" cy="2714625"/>
          </a:xfrm>
          <a:prstGeom prst="ellipse">
            <a:avLst/>
          </a:prstGeom>
          <a:solidFill>
            <a:srgbClr val="0F5132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78656" y="3811191"/>
            <a:ext cx="2243138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50431" y="3811191"/>
            <a:ext cx="2243138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22206" y="3811191"/>
            <a:ext cx="2243138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49291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685800" y="485775"/>
            <a:ext cx="79438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22" kern="0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PARCOURS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4350" y="700088"/>
            <a:ext cx="8521065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49" kern="0" dirty="0">
                <a:solidFill>
                  <a:srgbClr val="F5F3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 parcours en 3 étapes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514350" y="1200038"/>
            <a:ext cx="257175" cy="21431"/>
          </a:xfrm>
          <a:prstGeom prst="roundRect">
            <a:avLst>
              <a:gd name="adj" fmla="val 88890"/>
            </a:avLst>
          </a:prstGeom>
          <a:solidFill>
            <a:srgbClr val="B899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57250" y="1115764"/>
            <a:ext cx="7772400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 secondes pour le patient, des réponses en quelques minutes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517922" y="1537915"/>
            <a:ext cx="2564606" cy="2655466"/>
          </a:xfrm>
          <a:prstGeom prst="roundRect">
            <a:avLst>
              <a:gd name="adj" fmla="val 6685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5F3E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794" y="1970112"/>
            <a:ext cx="314325" cy="142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8656" y="1712937"/>
            <a:ext cx="1828800" cy="67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950" b="1" spc="-198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4950" dirty="0"/>
          </a:p>
        </p:txBody>
      </p:sp>
      <p:sp>
        <p:nvSpPr>
          <p:cNvPr id="16" name="Text 12"/>
          <p:cNvSpPr/>
          <p:nvPr/>
        </p:nvSpPr>
        <p:spPr>
          <a:xfrm>
            <a:off x="2525316" y="1716509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F5F3EF">
              <a:alpha val="8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566392" y="1757586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2109" dirty="0"/>
          </a:p>
        </p:txBody>
      </p:sp>
      <p:sp>
        <p:nvSpPr>
          <p:cNvPr id="18" name="Text 14"/>
          <p:cNvSpPr/>
          <p:nvPr/>
        </p:nvSpPr>
        <p:spPr>
          <a:xfrm>
            <a:off x="678656" y="2455887"/>
            <a:ext cx="235286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spc="-17" kern="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patient envoie sa demande</a:t>
            </a:r>
            <a:endParaRPr lang="en-US" sz="1125" dirty="0"/>
          </a:p>
        </p:txBody>
      </p:sp>
      <p:sp>
        <p:nvSpPr>
          <p:cNvPr id="19" name="Text 15"/>
          <p:cNvSpPr/>
          <p:nvPr/>
        </p:nvSpPr>
        <p:spPr>
          <a:xfrm>
            <a:off x="678656" y="2691631"/>
            <a:ext cx="224313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patient écrit le nom du médicament et ajoute une photo s'il veut. En un clic, sa demande part à toutes les pharmacies de garde de sa zone.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78656" y="39094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☞</a:t>
            </a:r>
            <a:endParaRPr lang="en-US" sz="984" dirty="0"/>
          </a:p>
        </p:txBody>
      </p:sp>
      <p:sp>
        <p:nvSpPr>
          <p:cNvPr id="21" name="Text 17"/>
          <p:cNvSpPr/>
          <p:nvPr/>
        </p:nvSpPr>
        <p:spPr>
          <a:xfrm>
            <a:off x="835819" y="3900488"/>
            <a:ext cx="20859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 SEUL CLIC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289697" y="1537915"/>
            <a:ext cx="2564606" cy="2655466"/>
          </a:xfrm>
          <a:prstGeom prst="roundRect">
            <a:avLst>
              <a:gd name="adj" fmla="val 6685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5F3E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569" y="1970112"/>
            <a:ext cx="314325" cy="142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450431" y="1712937"/>
            <a:ext cx="1828800" cy="67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950" b="1" spc="-198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4950" dirty="0"/>
          </a:p>
        </p:txBody>
      </p:sp>
      <p:sp>
        <p:nvSpPr>
          <p:cNvPr id="25" name="Text 20"/>
          <p:cNvSpPr/>
          <p:nvPr/>
        </p:nvSpPr>
        <p:spPr>
          <a:xfrm>
            <a:off x="5297091" y="1716509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F5F3EF">
              <a:alpha val="8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5338167" y="1757586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2109" dirty="0"/>
          </a:p>
        </p:txBody>
      </p:sp>
      <p:sp>
        <p:nvSpPr>
          <p:cNvPr id="27" name="Text 22"/>
          <p:cNvSpPr/>
          <p:nvPr/>
        </p:nvSpPr>
        <p:spPr>
          <a:xfrm>
            <a:off x="3450431" y="2455887"/>
            <a:ext cx="22431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spc="-17" kern="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pharmacies répondent</a:t>
            </a:r>
            <a:endParaRPr lang="en-US" sz="1125" dirty="0"/>
          </a:p>
        </p:txBody>
      </p:sp>
      <p:sp>
        <p:nvSpPr>
          <p:cNvPr id="28" name="Text 23"/>
          <p:cNvSpPr/>
          <p:nvPr/>
        </p:nvSpPr>
        <p:spPr>
          <a:xfrm>
            <a:off x="3450431" y="2691631"/>
            <a:ext cx="2243138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pharmaciens voient la demande arriver. Ils répondent : oui j'ai le médicament, voici le prix. Ou non, je n'ai pas. Le patient voit les réponses s'afficher en direct.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3450431" y="39094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30" name="Text 25"/>
          <p:cNvSpPr/>
          <p:nvPr/>
        </p:nvSpPr>
        <p:spPr>
          <a:xfrm>
            <a:off x="3607594" y="3900488"/>
            <a:ext cx="20859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 TEMPS RÉEL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6061472" y="1537915"/>
            <a:ext cx="2564606" cy="2655466"/>
          </a:xfrm>
          <a:prstGeom prst="roundRect">
            <a:avLst>
              <a:gd name="adj" fmla="val 6685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5F3E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6222206" y="1712937"/>
            <a:ext cx="1828800" cy="67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950" b="1" spc="-198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4950" dirty="0"/>
          </a:p>
        </p:txBody>
      </p:sp>
      <p:sp>
        <p:nvSpPr>
          <p:cNvPr id="33" name="Text 28"/>
          <p:cNvSpPr/>
          <p:nvPr/>
        </p:nvSpPr>
        <p:spPr>
          <a:xfrm>
            <a:off x="8068866" y="1716509"/>
            <a:ext cx="392906" cy="392906"/>
          </a:xfrm>
          <a:prstGeom prst="roundRect">
            <a:avLst>
              <a:gd name="adj" fmla="val 33939"/>
            </a:avLst>
          </a:prstGeom>
          <a:solidFill>
            <a:srgbClr val="F5F3EF">
              <a:alpha val="8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8109942" y="1757586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2109" dirty="0"/>
          </a:p>
        </p:txBody>
      </p:sp>
      <p:sp>
        <p:nvSpPr>
          <p:cNvPr id="35" name="Text 30"/>
          <p:cNvSpPr/>
          <p:nvPr/>
        </p:nvSpPr>
        <p:spPr>
          <a:xfrm>
            <a:off x="6222206" y="2455887"/>
            <a:ext cx="235286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spc="-17" kern="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patient contacte la pharmacie</a:t>
            </a:r>
            <a:endParaRPr lang="en-US" sz="1125" dirty="0"/>
          </a:p>
        </p:txBody>
      </p:sp>
      <p:sp>
        <p:nvSpPr>
          <p:cNvPr id="36" name="Text 31"/>
          <p:cNvSpPr/>
          <p:nvPr/>
        </p:nvSpPr>
        <p:spPr>
          <a:xfrm>
            <a:off x="6222206" y="2691631"/>
            <a:ext cx="224313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patient clique sur WhatsApp ou Appeler pour joindre directement la pharmacie qui a son médicament. Il peut y aller, son traitement l'attend.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6222206" y="39094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984" dirty="0"/>
          </a:p>
        </p:txBody>
      </p:sp>
      <p:sp>
        <p:nvSpPr>
          <p:cNvPr id="38" name="Text 33"/>
          <p:cNvSpPr/>
          <p:nvPr/>
        </p:nvSpPr>
        <p:spPr>
          <a:xfrm>
            <a:off x="6379369" y="3900488"/>
            <a:ext cx="20859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 SEUL DÉPLACEMENT</a:t>
            </a:r>
            <a:endParaRPr lang="en-US" sz="8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848" y="4396978"/>
            <a:ext cx="2790304" cy="34647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3180420" y="4400550"/>
            <a:ext cx="2783160" cy="339328"/>
          </a:xfrm>
          <a:prstGeom prst="roundRect">
            <a:avLst>
              <a:gd name="adj" fmla="val 2804212"/>
            </a:avLst>
          </a:prstGeom>
          <a:noFill/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3555467" y="4504134"/>
            <a:ext cx="5074183" cy="131159"/>
          </a:xfrm>
          <a:prstGeom prst="rect">
            <a:avLst/>
          </a:prstGeom>
          <a:noFill/>
          <a:ln/>
        </p:spPr>
        <p:txBody>
          <a:bodyPr wrap="none" lIns="171450" tIns="85725" rIns="171450" bIns="85725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8" kern="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Tout le parcours prend moins de 5 minutes</a:t>
            </a:r>
            <a:endParaRPr lang="en-US" sz="844" dirty="0"/>
          </a:p>
        </p:txBody>
      </p:sp>
      <p:sp>
        <p:nvSpPr>
          <p:cNvPr id="42" name="Text 36"/>
          <p:cNvSpPr/>
          <p:nvPr/>
        </p:nvSpPr>
        <p:spPr>
          <a:xfrm>
            <a:off x="3355442" y="450592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4328" y="257175"/>
            <a:ext cx="2019672" cy="169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75"/>
              </a:lnSpc>
              <a:buNone/>
            </a:pPr>
            <a:r>
              <a:rPr lang="en-US" sz="12375" b="1" spc="-619" kern="0" dirty="0">
                <a:solidFill>
                  <a:srgbClr val="B89968">
                    <a:alpha val="7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2375" dirty="0"/>
          </a:p>
        </p:txBody>
      </p:sp>
      <p:sp>
        <p:nvSpPr>
          <p:cNvPr id="3" name="Shape 1"/>
          <p:cNvSpPr/>
          <p:nvPr/>
        </p:nvSpPr>
        <p:spPr>
          <a:xfrm>
            <a:off x="514350" y="1705124"/>
            <a:ext cx="486913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79913" y="1701552"/>
            <a:ext cx="0" cy="680442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4350" y="2378422"/>
            <a:ext cx="486913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8638" y="1701552"/>
            <a:ext cx="0" cy="680442"/>
          </a:xfrm>
          <a:prstGeom prst="line">
            <a:avLst/>
          </a:prstGeom>
          <a:noFill/>
          <a:ln w="28575">
            <a:solidFill>
              <a:srgbClr val="0F51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" y="2457004"/>
            <a:ext cx="486913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79913" y="2453432"/>
            <a:ext cx="0" cy="680442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3130302"/>
            <a:ext cx="486913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8638" y="2453432"/>
            <a:ext cx="0" cy="680442"/>
          </a:xfrm>
          <a:prstGeom prst="line">
            <a:avLst/>
          </a:prstGeom>
          <a:noFill/>
          <a:ln w="28575">
            <a:solidFill>
              <a:srgbClr val="0F51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" y="3208883"/>
            <a:ext cx="486913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79913" y="3205311"/>
            <a:ext cx="0" cy="818852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4350" y="4020592"/>
            <a:ext cx="486913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8638" y="3205311"/>
            <a:ext cx="0" cy="818852"/>
          </a:xfrm>
          <a:prstGeom prst="line">
            <a:avLst/>
          </a:prstGeom>
          <a:noFill/>
          <a:ln w="28575">
            <a:solidFill>
              <a:srgbClr val="B899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4350" y="4099173"/>
            <a:ext cx="486913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9913" y="4095601"/>
            <a:ext cx="0" cy="818852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4350" y="4910882"/>
            <a:ext cx="4869135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638" y="4095601"/>
            <a:ext cx="0" cy="818852"/>
          </a:xfrm>
          <a:prstGeom prst="line">
            <a:avLst/>
          </a:prstGeom>
          <a:noFill/>
          <a:ln w="28575">
            <a:solidFill>
              <a:srgbClr val="B899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350" y="400050"/>
            <a:ext cx="862965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223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06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514350" y="721519"/>
            <a:ext cx="8521065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49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outils qu'on utilise</a:t>
            </a:r>
            <a:endParaRPr lang="en-US" sz="2475" dirty="0"/>
          </a:p>
        </p:txBody>
      </p:sp>
      <p:sp>
        <p:nvSpPr>
          <p:cNvPr id="21" name="Text 19"/>
          <p:cNvSpPr/>
          <p:nvPr/>
        </p:nvSpPr>
        <p:spPr>
          <a:xfrm>
            <a:off x="514350" y="1206847"/>
            <a:ext cx="257175" cy="21431"/>
          </a:xfrm>
          <a:prstGeom prst="roundRect">
            <a:avLst>
              <a:gd name="adj" fmla="val 88890"/>
            </a:avLst>
          </a:prstGeom>
          <a:solidFill>
            <a:srgbClr val="B899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57250" y="1137196"/>
            <a:ext cx="77724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 technologies modernes, pour un résultat fiable et rapide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514350" y="149974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85800" y="1497955"/>
            <a:ext cx="46976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OUTILS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4350" y="1701552"/>
            <a:ext cx="4869135" cy="680442"/>
          </a:xfrm>
          <a:prstGeom prst="roundRect">
            <a:avLst>
              <a:gd name="adj" fmla="val 167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13" y="1808708"/>
            <a:ext cx="271463" cy="271463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03659" y="184085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06" dirty="0"/>
          </a:p>
        </p:txBody>
      </p:sp>
      <p:sp>
        <p:nvSpPr>
          <p:cNvPr id="28" name="Text 25"/>
          <p:cNvSpPr/>
          <p:nvPr/>
        </p:nvSpPr>
        <p:spPr>
          <a:xfrm>
            <a:off x="1042988" y="1808708"/>
            <a:ext cx="4204767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L'application web</a:t>
            </a:r>
            <a:endParaRPr lang="en-US" sz="844" dirty="0"/>
          </a:p>
        </p:txBody>
      </p:sp>
      <p:sp>
        <p:nvSpPr>
          <p:cNvPr id="29" name="Text 26"/>
          <p:cNvSpPr/>
          <p:nvPr/>
        </p:nvSpPr>
        <p:spPr>
          <a:xfrm>
            <a:off x="1042988" y="1998018"/>
            <a:ext cx="4204767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C'est le site internet que les patients et pharmaciens utilisent. Il s'ouvre dans n'importe quel navigateur (Chrome, Safari, Firefox) sur téléphone ou ordinateur. Pas besoin d'installer quoi que ce soit.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4350" y="2453432"/>
            <a:ext cx="4869135" cy="680442"/>
          </a:xfrm>
          <a:prstGeom prst="roundRect">
            <a:avLst>
              <a:gd name="adj" fmla="val 167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2560588"/>
            <a:ext cx="271463" cy="271463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03659" y="259273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33" name="Text 29"/>
          <p:cNvSpPr/>
          <p:nvPr/>
        </p:nvSpPr>
        <p:spPr>
          <a:xfrm>
            <a:off x="1042988" y="2560588"/>
            <a:ext cx="4204767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base de données</a:t>
            </a:r>
            <a:endParaRPr lang="en-US" sz="844" dirty="0"/>
          </a:p>
        </p:txBody>
      </p:sp>
      <p:sp>
        <p:nvSpPr>
          <p:cNvPr id="34" name="Text 30"/>
          <p:cNvSpPr/>
          <p:nvPr/>
        </p:nvSpPr>
        <p:spPr>
          <a:xfrm>
            <a:off x="1042988" y="2749897"/>
            <a:ext cx="4204767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C'est là qu'on stocke toutes les informations : les comptes utilisateurs, les pharmacies, les demandes, les réponses. C'est sécurisé et hébergé par un service professionnel spécialisé.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514350" y="3205311"/>
            <a:ext cx="4869135" cy="818852"/>
          </a:xfrm>
          <a:prstGeom prst="roundRect">
            <a:avLst>
              <a:gd name="adj" fmla="val 139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3312468"/>
            <a:ext cx="271463" cy="271463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03659" y="334461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38" name="Text 33"/>
          <p:cNvSpPr/>
          <p:nvPr/>
        </p:nvSpPr>
        <p:spPr>
          <a:xfrm>
            <a:off x="1042988" y="3312468"/>
            <a:ext cx="4204767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stockage des photos</a:t>
            </a:r>
            <a:endParaRPr lang="en-US" sz="844" dirty="0"/>
          </a:p>
        </p:txBody>
      </p:sp>
      <p:sp>
        <p:nvSpPr>
          <p:cNvPr id="39" name="Text 34"/>
          <p:cNvSpPr/>
          <p:nvPr/>
        </p:nvSpPr>
        <p:spPr>
          <a:xfrm>
            <a:off x="1042988" y="3501777"/>
            <a:ext cx="4204767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Quand un patient envoie une photo, elle est gardée dans un coffre-fort numérique privé. Personne d'autre que le patient et les pharmaciens ne peut la voir. Et elle est supprimée automatiquement après quelques jours.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514350" y="4095601"/>
            <a:ext cx="4869135" cy="818852"/>
          </a:xfrm>
          <a:prstGeom prst="roundRect">
            <a:avLst>
              <a:gd name="adj" fmla="val 139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4202757"/>
            <a:ext cx="271463" cy="271463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03659" y="423490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406" dirty="0"/>
          </a:p>
        </p:txBody>
      </p:sp>
      <p:sp>
        <p:nvSpPr>
          <p:cNvPr id="43" name="Text 37"/>
          <p:cNvSpPr/>
          <p:nvPr/>
        </p:nvSpPr>
        <p:spPr>
          <a:xfrm>
            <a:off x="1042988" y="4202757"/>
            <a:ext cx="4204767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8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tâches automatiques</a:t>
            </a:r>
            <a:endParaRPr lang="en-US" sz="844" dirty="0"/>
          </a:p>
        </p:txBody>
      </p:sp>
      <p:sp>
        <p:nvSpPr>
          <p:cNvPr id="44" name="Text 38"/>
          <p:cNvSpPr/>
          <p:nvPr/>
        </p:nvSpPr>
        <p:spPr>
          <a:xfrm>
            <a:off x="1042988" y="4392067"/>
            <a:ext cx="4204767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Tous les jours, le système fait le ménage tout seul : il supprime les anciennes photos, met à jour la liste des pharmacies de garde, et marque les vieilles demandes comme expirées. Personne n'a besoin de le faire à la main.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5583510" y="149974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46" name="Text 40"/>
          <p:cNvSpPr/>
          <p:nvPr/>
        </p:nvSpPr>
        <p:spPr>
          <a:xfrm>
            <a:off x="5754960" y="1497955"/>
            <a:ext cx="28746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 CHIFFRES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5587082" y="1705124"/>
            <a:ext cx="1473064" cy="1556445"/>
          </a:xfrm>
          <a:prstGeom prst="roundRect">
            <a:avLst>
              <a:gd name="adj" fmla="val 9053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5704954" y="1837283"/>
            <a:ext cx="123732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0F51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2025" dirty="0"/>
          </a:p>
        </p:txBody>
      </p:sp>
      <p:sp>
        <p:nvSpPr>
          <p:cNvPr id="49" name="Text 43"/>
          <p:cNvSpPr/>
          <p:nvPr/>
        </p:nvSpPr>
        <p:spPr>
          <a:xfrm>
            <a:off x="5704954" y="3009416"/>
            <a:ext cx="1311559" cy="1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types d'informations stockées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7153015" y="1705124"/>
            <a:ext cx="1473064" cy="1556445"/>
          </a:xfrm>
          <a:prstGeom prst="roundRect">
            <a:avLst>
              <a:gd name="adj" fmla="val 9053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7270886" y="1837283"/>
            <a:ext cx="123732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0F51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1348</a:t>
            </a:r>
            <a:endParaRPr lang="en-US" sz="2025" dirty="0"/>
          </a:p>
        </p:txBody>
      </p:sp>
      <p:sp>
        <p:nvSpPr>
          <p:cNvPr id="52" name="Text 46"/>
          <p:cNvSpPr/>
          <p:nvPr/>
        </p:nvSpPr>
        <p:spPr>
          <a:xfrm>
            <a:off x="7270886" y="3009416"/>
            <a:ext cx="1311559" cy="1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pharmacies de garde importées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5587082" y="3354437"/>
            <a:ext cx="1473064" cy="1556445"/>
          </a:xfrm>
          <a:prstGeom prst="roundRect">
            <a:avLst>
              <a:gd name="adj" fmla="val 9053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5704954" y="3486596"/>
            <a:ext cx="123732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0F51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025" dirty="0"/>
          </a:p>
        </p:txBody>
      </p:sp>
      <p:sp>
        <p:nvSpPr>
          <p:cNvPr id="55" name="Text 49"/>
          <p:cNvSpPr/>
          <p:nvPr/>
        </p:nvSpPr>
        <p:spPr>
          <a:xfrm>
            <a:off x="5704954" y="4658730"/>
            <a:ext cx="1311559" cy="1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villes togolaises couvertes</a:t>
            </a:r>
            <a:endParaRPr lang="en-US" sz="800" dirty="0"/>
          </a:p>
        </p:txBody>
      </p:sp>
      <p:sp>
        <p:nvSpPr>
          <p:cNvPr id="56" name="Text 50"/>
          <p:cNvSpPr/>
          <p:nvPr/>
        </p:nvSpPr>
        <p:spPr>
          <a:xfrm>
            <a:off x="7153015" y="3354437"/>
            <a:ext cx="1473064" cy="1556445"/>
          </a:xfrm>
          <a:prstGeom prst="roundRect">
            <a:avLst>
              <a:gd name="adj" fmla="val 9053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1"/>
          <p:cNvSpPr/>
          <p:nvPr/>
        </p:nvSpPr>
        <p:spPr>
          <a:xfrm>
            <a:off x="7270886" y="3486596"/>
            <a:ext cx="123732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0F51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24/7</a:t>
            </a:r>
            <a:endParaRPr lang="en-US" sz="2025" dirty="0"/>
          </a:p>
        </p:txBody>
      </p:sp>
      <p:sp>
        <p:nvSpPr>
          <p:cNvPr id="58" name="Text 52"/>
          <p:cNvSpPr/>
          <p:nvPr/>
        </p:nvSpPr>
        <p:spPr>
          <a:xfrm>
            <a:off x="7270886" y="4658730"/>
            <a:ext cx="123732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disponible jour et nuit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2375" y="-857250"/>
            <a:ext cx="2428875" cy="2428875"/>
          </a:xfrm>
          <a:prstGeom prst="ellipse">
            <a:avLst/>
          </a:prstGeom>
          <a:solidFill>
            <a:srgbClr val="B89968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76991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08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09849" y="678656"/>
            <a:ext cx="4495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79" kern="0" dirty="0">
                <a:solidFill>
                  <a:srgbClr val="6B7C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06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1634" y="448270"/>
            <a:ext cx="300038" cy="214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18822" y="400050"/>
            <a:ext cx="11942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CONFIDENTIALITÉ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957263"/>
            <a:ext cx="8521065" cy="37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49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sécurité avant tout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514350" y="1360103"/>
            <a:ext cx="862965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Vos informations sont protégées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517922" y="1742294"/>
            <a:ext cx="1946672" cy="1445158"/>
          </a:xfrm>
          <a:prstGeom prst="roundRect">
            <a:avLst>
              <a:gd name="adj" fmla="val 10546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5794" y="1860166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F513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71870" y="189624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547" dirty="0"/>
          </a:p>
        </p:txBody>
      </p:sp>
      <p:sp>
        <p:nvSpPr>
          <p:cNvPr id="12" name="Text 9"/>
          <p:cNvSpPr/>
          <p:nvPr/>
        </p:nvSpPr>
        <p:spPr>
          <a:xfrm>
            <a:off x="635794" y="2245928"/>
            <a:ext cx="171092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spc="-18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Mots de passe protégés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5794" y="2431666"/>
            <a:ext cx="1710928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Vos mots de passe sont chiffrés. Même nous, nous ne pouvons pas les voir.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71750" y="1742294"/>
            <a:ext cx="1946672" cy="1445158"/>
          </a:xfrm>
          <a:prstGeom prst="roundRect">
            <a:avLst>
              <a:gd name="adj" fmla="val 10546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689622" y="1860166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F513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725698" y="189624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547" dirty="0"/>
          </a:p>
        </p:txBody>
      </p:sp>
      <p:sp>
        <p:nvSpPr>
          <p:cNvPr id="17" name="Text 14"/>
          <p:cNvSpPr/>
          <p:nvPr/>
        </p:nvSpPr>
        <p:spPr>
          <a:xfrm>
            <a:off x="2689622" y="2245928"/>
            <a:ext cx="171092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spc="-18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Connexion sécurisée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689622" y="2431666"/>
            <a:ext cx="1710928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Quand vous vous connectez, c'est chiffré de bout en bout. Personne ne peut intercepter vos informations.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622006" y="1738722"/>
            <a:ext cx="1953816" cy="1452302"/>
          </a:xfrm>
          <a:prstGeom prst="roundRect">
            <a:avLst>
              <a:gd name="adj" fmla="val 1049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622006" y="1742294"/>
            <a:ext cx="195381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72250" y="1738722"/>
            <a:ext cx="0" cy="1452302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22006" y="3187452"/>
            <a:ext cx="195381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2722" y="1738722"/>
            <a:ext cx="0" cy="1452302"/>
          </a:xfrm>
          <a:prstGeom prst="line">
            <a:avLst/>
          </a:prstGeom>
          <a:noFill/>
          <a:ln w="21431">
            <a:solidFill>
              <a:srgbClr val="B8996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7738" y="1860166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B89968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93813" y="189624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547" dirty="0"/>
          </a:p>
        </p:txBody>
      </p:sp>
      <p:sp>
        <p:nvSpPr>
          <p:cNvPr id="26" name="Text 23"/>
          <p:cNvSpPr/>
          <p:nvPr/>
        </p:nvSpPr>
        <p:spPr>
          <a:xfrm>
            <a:off x="4757738" y="2245928"/>
            <a:ext cx="169664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spc="-18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Photos éphémères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757738" y="2431666"/>
            <a:ext cx="169664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photos que vous envoyez sont supprimées toutes seules après 72 heures (ou 7 jours si pas de réponse).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675834" y="1738722"/>
            <a:ext cx="1953816" cy="1452302"/>
          </a:xfrm>
          <a:prstGeom prst="roundRect">
            <a:avLst>
              <a:gd name="adj" fmla="val 1049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6675834" y="1742294"/>
            <a:ext cx="195381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26078" y="1738722"/>
            <a:ext cx="0" cy="1452302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675834" y="3187452"/>
            <a:ext cx="195381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86550" y="1738722"/>
            <a:ext cx="0" cy="1452302"/>
          </a:xfrm>
          <a:prstGeom prst="line">
            <a:avLst/>
          </a:prstGeom>
          <a:noFill/>
          <a:ln w="21431">
            <a:solidFill>
              <a:srgbClr val="B8996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11566" y="1860166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B89968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847642" y="189624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547" dirty="0"/>
          </a:p>
        </p:txBody>
      </p:sp>
      <p:sp>
        <p:nvSpPr>
          <p:cNvPr id="35" name="Text 32"/>
          <p:cNvSpPr/>
          <p:nvPr/>
        </p:nvSpPr>
        <p:spPr>
          <a:xfrm>
            <a:off x="6811566" y="2245928"/>
            <a:ext cx="169664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spc="-18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Photos privées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811566" y="2431666"/>
            <a:ext cx="169664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Vos photos sont dans un coffre-fort numérique. Seuls vous et les pharmaciens peuvent les voir.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17922" y="3294608"/>
            <a:ext cx="1946672" cy="1445270"/>
          </a:xfrm>
          <a:prstGeom prst="roundRect">
            <a:avLst>
              <a:gd name="adj" fmla="val 10545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35794" y="3412480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F513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71870" y="344855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40" name="Text 37"/>
          <p:cNvSpPr/>
          <p:nvPr/>
        </p:nvSpPr>
        <p:spPr>
          <a:xfrm>
            <a:off x="635794" y="3798243"/>
            <a:ext cx="171092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spc="-18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 secret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35794" y="3983980"/>
            <a:ext cx="1710928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L'accès administrateur est caché derrière une adresse secrète que personne ne peut deviner.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2571750" y="3294608"/>
            <a:ext cx="1946672" cy="1445270"/>
          </a:xfrm>
          <a:prstGeom prst="roundRect">
            <a:avLst>
              <a:gd name="adj" fmla="val 10545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2689622" y="3412480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0F513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2725698" y="344855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45" name="Text 42"/>
          <p:cNvSpPr/>
          <p:nvPr/>
        </p:nvSpPr>
        <p:spPr>
          <a:xfrm>
            <a:off x="2689622" y="3798243"/>
            <a:ext cx="171092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spc="-18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Tout est tracé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2689622" y="3983980"/>
            <a:ext cx="1710928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Chaque action de l'administrateur est enregistrée. On sait qui a fait quoi et quand.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622006" y="3291036"/>
            <a:ext cx="1953816" cy="1452414"/>
          </a:xfrm>
          <a:prstGeom prst="roundRect">
            <a:avLst>
              <a:gd name="adj" fmla="val 104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5"/>
          <p:cNvSpPr/>
          <p:nvPr/>
        </p:nvSpPr>
        <p:spPr>
          <a:xfrm>
            <a:off x="4622006" y="3294608"/>
            <a:ext cx="195381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572250" y="3291036"/>
            <a:ext cx="0" cy="1452414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622006" y="4739878"/>
            <a:ext cx="195381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632722" y="3291036"/>
            <a:ext cx="0" cy="1452414"/>
          </a:xfrm>
          <a:prstGeom prst="line">
            <a:avLst/>
          </a:prstGeom>
          <a:noFill/>
          <a:ln w="21431">
            <a:solidFill>
              <a:srgbClr val="B8996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757738" y="3412480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B89968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4793813" y="344855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54" name="Text 51"/>
          <p:cNvSpPr/>
          <p:nvPr/>
        </p:nvSpPr>
        <p:spPr>
          <a:xfrm>
            <a:off x="4757738" y="3798243"/>
            <a:ext cx="169664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spc="-18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Vérifications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4757738" y="3983980"/>
            <a:ext cx="169664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 vérifie chaque photo envoyée : sa taille, son type, pour éviter les fichiers dangereux.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675834" y="3291036"/>
            <a:ext cx="1953816" cy="1452414"/>
          </a:xfrm>
          <a:prstGeom prst="roundRect">
            <a:avLst>
              <a:gd name="adj" fmla="val 104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6675834" y="3294608"/>
            <a:ext cx="195381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626078" y="3291036"/>
            <a:ext cx="0" cy="1452414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675834" y="4739878"/>
            <a:ext cx="195381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686550" y="3291036"/>
            <a:ext cx="0" cy="1452414"/>
          </a:xfrm>
          <a:prstGeom prst="line">
            <a:avLst/>
          </a:prstGeom>
          <a:noFill/>
          <a:ln w="21431">
            <a:solidFill>
              <a:srgbClr val="B8996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811566" y="3412480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B89968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6847642" y="344855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63" name="Text 60"/>
          <p:cNvSpPr/>
          <p:nvPr/>
        </p:nvSpPr>
        <p:spPr>
          <a:xfrm>
            <a:off x="6811566" y="3798243"/>
            <a:ext cx="169664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spc="-18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Connexion chiffrée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6811566" y="3983980"/>
            <a:ext cx="169664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site utilise une connexion chiffrée, comme les banques. Vos données voyagent en toute sécurité.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0" y="2857500"/>
            <a:ext cx="3429000" cy="3429000"/>
          </a:xfrm>
          <a:prstGeom prst="ellipse">
            <a:avLst/>
          </a:prstGeom>
          <a:solidFill>
            <a:srgbClr val="B89968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-1000125" y="-714375"/>
            <a:ext cx="2714625" cy="2714625"/>
          </a:xfrm>
          <a:prstGeom prst="ellipse">
            <a:avLst/>
          </a:prstGeom>
          <a:solidFill>
            <a:srgbClr val="0F5132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91490" y="244373"/>
            <a:ext cx="687206" cy="264919"/>
          </a:xfrm>
          <a:prstGeom prst="roundRect">
            <a:avLst>
              <a:gd name="adj" fmla="val 3591843"/>
            </a:avLst>
          </a:prstGeom>
          <a:solidFill>
            <a:srgbClr val="F5F3EF">
              <a:alpha val="10000"/>
            </a:srgbClr>
          </a:solidFill>
          <a:ln w="7144">
            <a:solidFill>
              <a:srgbClr val="F5F3E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14350" y="257175"/>
            <a:ext cx="64148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102" kern="0" dirty="0">
                <a:solidFill>
                  <a:srgbClr val="D4B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567928"/>
            <a:ext cx="3610719" cy="330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1"/>
              </a:lnSpc>
              <a:buNone/>
            </a:pPr>
            <a:r>
              <a:rPr lang="en-US" sz="2363" b="1" spc="-47" kern="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L'impact pour les Togolais</a:t>
            </a:r>
            <a:endParaRPr lang="en-US" sz="2363" dirty="0"/>
          </a:p>
        </p:txBody>
      </p:sp>
      <p:sp>
        <p:nvSpPr>
          <p:cNvPr id="8" name="Text 5"/>
          <p:cNvSpPr/>
          <p:nvPr/>
        </p:nvSpPr>
        <p:spPr>
          <a:xfrm>
            <a:off x="514350" y="925785"/>
            <a:ext cx="3899577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Une solution pensée pour le terrain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7842275" y="32325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5F3E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7999437" y="314325"/>
            <a:ext cx="8263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F5F3E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TOGO ·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14350" y="1268685"/>
            <a:ext cx="4000500" cy="1421495"/>
          </a:xfrm>
          <a:prstGeom prst="roundRect">
            <a:avLst>
              <a:gd name="adj" fmla="val 1072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14350" y="1272257"/>
            <a:ext cx="4000500" cy="0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11278" y="1268685"/>
            <a:ext cx="0" cy="1421495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4350" y="2686608"/>
            <a:ext cx="4000500" cy="0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5066" y="1268685"/>
            <a:ext cx="0" cy="1421495"/>
          </a:xfrm>
          <a:prstGeom prst="line">
            <a:avLst/>
          </a:prstGeom>
          <a:noFill/>
          <a:ln w="21431">
            <a:solidFill>
              <a:srgbClr val="B899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1519" y="143299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907256" y="1438349"/>
            <a:ext cx="34147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TEMPS GAGNÉ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21519" y="1561579"/>
            <a:ext cx="3600450" cy="629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725" b="1" spc="-142" kern="0" dirty="0">
                <a:solidFill>
                  <a:srgbClr val="1A6B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−90%</a:t>
            </a:r>
            <a:endParaRPr lang="en-US" sz="4725" dirty="0"/>
          </a:p>
        </p:txBody>
      </p:sp>
      <p:sp>
        <p:nvSpPr>
          <p:cNvPr id="19" name="Text 16"/>
          <p:cNvSpPr/>
          <p:nvPr/>
        </p:nvSpPr>
        <p:spPr>
          <a:xfrm>
            <a:off x="721519" y="2218804"/>
            <a:ext cx="3710178" cy="1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Temps pour trouver une pharmacie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21519" y="2395947"/>
            <a:ext cx="3710178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5F3E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 30 minutes à moins de 5 minutes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629150" y="1268685"/>
            <a:ext cx="4000500" cy="1421495"/>
          </a:xfrm>
          <a:prstGeom prst="roundRect">
            <a:avLst>
              <a:gd name="adj" fmla="val 1072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629150" y="1272257"/>
            <a:ext cx="4000500" cy="0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26078" y="1268685"/>
            <a:ext cx="0" cy="1421495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29150" y="2686608"/>
            <a:ext cx="4000500" cy="0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39866" y="1268685"/>
            <a:ext cx="0" cy="1421495"/>
          </a:xfrm>
          <a:prstGeom prst="line">
            <a:avLst/>
          </a:prstGeom>
          <a:noFill/>
          <a:ln w="21431">
            <a:solidFill>
              <a:srgbClr val="B899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36319" y="143299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022056" y="1438349"/>
            <a:ext cx="34147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COUVERTURE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36319" y="1561579"/>
            <a:ext cx="3600450" cy="629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725" b="1" spc="-142" kern="0" dirty="0">
                <a:solidFill>
                  <a:srgbClr val="1A6B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4725" dirty="0"/>
          </a:p>
        </p:txBody>
      </p:sp>
      <p:sp>
        <p:nvSpPr>
          <p:cNvPr id="29" name="Text 26"/>
          <p:cNvSpPr/>
          <p:nvPr/>
        </p:nvSpPr>
        <p:spPr>
          <a:xfrm>
            <a:off x="4836319" y="2218804"/>
            <a:ext cx="3710178" cy="1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Pharmacies de garde couvertes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36319" y="2395947"/>
            <a:ext cx="3710178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5F3E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1348 pharmacies du fichier officiel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4350" y="2804480"/>
            <a:ext cx="4000500" cy="1421495"/>
          </a:xfrm>
          <a:prstGeom prst="roundRect">
            <a:avLst>
              <a:gd name="adj" fmla="val 1072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514350" y="2808052"/>
            <a:ext cx="4000500" cy="0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11278" y="2804480"/>
            <a:ext cx="0" cy="1421495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14350" y="4222403"/>
            <a:ext cx="4000500" cy="0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25066" y="2804480"/>
            <a:ext cx="0" cy="1421495"/>
          </a:xfrm>
          <a:prstGeom prst="line">
            <a:avLst/>
          </a:prstGeom>
          <a:noFill/>
          <a:ln w="21431">
            <a:solidFill>
              <a:srgbClr val="B8996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21519" y="29687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907256" y="2974144"/>
            <a:ext cx="34147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TERRITOIRE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21519" y="3097374"/>
            <a:ext cx="3600450" cy="629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725" b="1" spc="-142" kern="0" dirty="0">
                <a:solidFill>
                  <a:srgbClr val="1A6B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4725" dirty="0"/>
          </a:p>
        </p:txBody>
      </p:sp>
      <p:sp>
        <p:nvSpPr>
          <p:cNvPr id="39" name="Text 36"/>
          <p:cNvSpPr/>
          <p:nvPr/>
        </p:nvSpPr>
        <p:spPr>
          <a:xfrm>
            <a:off x="721519" y="3754599"/>
            <a:ext cx="3710178" cy="1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Villes togolaises desservies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21519" y="3931741"/>
            <a:ext cx="3600450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Lomé, Kara, Sokodé, Kpalimé, Atakpamé, Dapaong, Tsévié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629150" y="2804480"/>
            <a:ext cx="4000500" cy="1421495"/>
          </a:xfrm>
          <a:prstGeom prst="roundRect">
            <a:avLst>
              <a:gd name="adj" fmla="val 1072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4629150" y="2808052"/>
            <a:ext cx="4000500" cy="0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626078" y="2804480"/>
            <a:ext cx="0" cy="1421495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629150" y="4222403"/>
            <a:ext cx="4000500" cy="0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639866" y="2804480"/>
            <a:ext cx="0" cy="1421495"/>
          </a:xfrm>
          <a:prstGeom prst="line">
            <a:avLst/>
          </a:prstGeom>
          <a:noFill/>
          <a:ln w="21431">
            <a:solidFill>
              <a:srgbClr val="B8996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36319" y="29687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47" name="Text 44"/>
          <p:cNvSpPr/>
          <p:nvPr/>
        </p:nvSpPr>
        <p:spPr>
          <a:xfrm>
            <a:off x="5022056" y="2974144"/>
            <a:ext cx="34147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VIE PRIVÉE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836319" y="3097374"/>
            <a:ext cx="3600450" cy="629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725" b="1" spc="-142" kern="0" dirty="0">
                <a:solidFill>
                  <a:srgbClr val="1A6B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72h</a:t>
            </a:r>
            <a:endParaRPr lang="en-US" sz="4725" dirty="0"/>
          </a:p>
        </p:txBody>
      </p:sp>
      <p:sp>
        <p:nvSpPr>
          <p:cNvPr id="49" name="Text 46"/>
          <p:cNvSpPr/>
          <p:nvPr/>
        </p:nvSpPr>
        <p:spPr>
          <a:xfrm>
            <a:off x="4836319" y="3754599"/>
            <a:ext cx="3710178" cy="1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Photos supprimées automatiquement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836319" y="3931741"/>
            <a:ext cx="3710178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Votre vie privée est protégée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14350" y="4350544"/>
            <a:ext cx="8115300" cy="564356"/>
          </a:xfrm>
          <a:prstGeom prst="roundRect">
            <a:avLst>
              <a:gd name="adj" fmla="val 2700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49"/>
          <p:cNvSpPr/>
          <p:nvPr/>
        </p:nvSpPr>
        <p:spPr>
          <a:xfrm>
            <a:off x="514350" y="4354116"/>
            <a:ext cx="8115300" cy="0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626078" y="4350544"/>
            <a:ext cx="0" cy="564356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14350" y="4911328"/>
            <a:ext cx="8115300" cy="0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28638" y="4350544"/>
            <a:ext cx="0" cy="564356"/>
          </a:xfrm>
          <a:prstGeom prst="line">
            <a:avLst/>
          </a:prstGeom>
          <a:noFill/>
          <a:ln w="28575">
            <a:solidFill>
              <a:srgbClr val="B8996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00088" y="44719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688" dirty="0"/>
          </a:p>
        </p:txBody>
      </p:sp>
      <p:sp>
        <p:nvSpPr>
          <p:cNvPr id="57" name="Text 54"/>
          <p:cNvSpPr/>
          <p:nvPr/>
        </p:nvSpPr>
        <p:spPr>
          <a:xfrm>
            <a:off x="957263" y="4471988"/>
            <a:ext cx="750808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i="1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MediTike montre qu'on peut créer une solution de santé simple et accessible, qui respecte les réalités du terrain togolais et qui fonctionne même avec une connexion modeste. »</a:t>
            </a:r>
            <a:endParaRPr lang="en-US" sz="84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0" y="3571875"/>
            <a:ext cx="2428875" cy="2428875"/>
          </a:xfrm>
          <a:prstGeom prst="ellipse">
            <a:avLst/>
          </a:prstGeom>
          <a:solidFill>
            <a:srgbClr val="0F5132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76991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08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09849" y="678656"/>
            <a:ext cx="4495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79" kern="0" dirty="0">
                <a:solidFill>
                  <a:srgbClr val="6B7C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06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9454" y="448270"/>
            <a:ext cx="300038" cy="214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6642" y="400050"/>
            <a:ext cx="11184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ÉTAT DU PROJET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957263"/>
            <a:ext cx="8521065" cy="37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49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Où en est le projet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514350" y="1360103"/>
            <a:ext cx="862965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Une application déjà en service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517922" y="1742294"/>
            <a:ext cx="3979069" cy="2997584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78656" y="1888741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0F513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9730" y="190981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12" name="Text 9"/>
          <p:cNvSpPr/>
          <p:nvPr/>
        </p:nvSpPr>
        <p:spPr>
          <a:xfrm>
            <a:off x="964406" y="1906600"/>
            <a:ext cx="337185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20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 qui est déjà fait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678656" y="2217353"/>
            <a:ext cx="3657600" cy="259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L'application est en ligne, accessible à tous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La base de données est opérationnelle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Le coffre-fort des photos est configuré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Le système fait le ménage tout seul chaque jour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1348 pharmacies de garde sont déjà importées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Des comptes de test sont prêts (patient, pharmacien, admin)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Le code source est public sur GitHub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La documentation est complète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43438" y="1738722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B89968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664512" y="175979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266" dirty="0"/>
          </a:p>
        </p:txBody>
      </p:sp>
      <p:sp>
        <p:nvSpPr>
          <p:cNvPr id="16" name="Text 13"/>
          <p:cNvSpPr/>
          <p:nvPr/>
        </p:nvSpPr>
        <p:spPr>
          <a:xfrm>
            <a:off x="4929188" y="1756581"/>
            <a:ext cx="37004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20" kern="0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 qu'on veut faire ensuite</a:t>
            </a:r>
            <a:endParaRPr lang="en-US" sz="1013" dirty="0"/>
          </a:p>
        </p:txBody>
      </p:sp>
      <p:sp>
        <p:nvSpPr>
          <p:cNvPr id="17" name="Text 14"/>
          <p:cNvSpPr/>
          <p:nvPr/>
        </p:nvSpPr>
        <p:spPr>
          <a:xfrm>
            <a:off x="4643438" y="2038759"/>
            <a:ext cx="3986213" cy="867184"/>
          </a:xfrm>
          <a:prstGeom prst="roundRect">
            <a:avLst>
              <a:gd name="adj" fmla="val 175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43438" y="2042331"/>
            <a:ext cx="3986213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26078" y="2038759"/>
            <a:ext cx="0" cy="867184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43438" y="2902372"/>
            <a:ext cx="3986213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54153" y="2038759"/>
            <a:ext cx="0" cy="867184"/>
          </a:xfrm>
          <a:prstGeom prst="line">
            <a:avLst/>
          </a:prstGeom>
          <a:noFill/>
          <a:ln w="21431">
            <a:solidFill>
              <a:srgbClr val="B8996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9169" y="2145916"/>
            <a:ext cx="31669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16" kern="0" dirty="0">
                <a:solidFill>
                  <a:srgbClr val="1A2B2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Bientôt (3 mois)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938456" y="2128913"/>
            <a:ext cx="591663" cy="184023"/>
          </a:xfrm>
          <a:prstGeom prst="roundRect">
            <a:avLst>
              <a:gd name="adj" fmla="val 5170807"/>
            </a:avLst>
          </a:prstGeom>
          <a:solidFill>
            <a:srgbClr val="B89968">
              <a:alpha val="12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960370" y="2138772"/>
            <a:ext cx="54783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Court terme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779169" y="2360228"/>
            <a:ext cx="3729038" cy="51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Recevoir les réponses par WhatsApp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Application mobile installable (Android)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Voir les pharmacies sur une carte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643438" y="2991669"/>
            <a:ext cx="3986213" cy="867184"/>
          </a:xfrm>
          <a:prstGeom prst="roundRect">
            <a:avLst>
              <a:gd name="adj" fmla="val 175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643438" y="2995240"/>
            <a:ext cx="3986213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626078" y="2991669"/>
            <a:ext cx="0" cy="867184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43438" y="3855281"/>
            <a:ext cx="3986213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54153" y="2991669"/>
            <a:ext cx="0" cy="867184"/>
          </a:xfrm>
          <a:prstGeom prst="line">
            <a:avLst/>
          </a:prstGeom>
          <a:noFill/>
          <a:ln w="21431">
            <a:solidFill>
              <a:srgbClr val="0F51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79169" y="3098825"/>
            <a:ext cx="31311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16" kern="0" dirty="0">
                <a:solidFill>
                  <a:srgbClr val="1A2B2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Plus tard (6-12 mois)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901791" y="3081823"/>
            <a:ext cx="629275" cy="184023"/>
          </a:xfrm>
          <a:prstGeom prst="roundRect">
            <a:avLst>
              <a:gd name="adj" fmla="val 5170807"/>
            </a:avLst>
          </a:prstGeom>
          <a:solidFill>
            <a:srgbClr val="B89968">
              <a:alpha val="12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7924651" y="3091681"/>
            <a:ext cx="58355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Moyen terme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779169" y="3313137"/>
            <a:ext cx="3729038" cy="51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Payer ses médicaments avec Mobile Money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Discuter directement avec le pharmacien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Étendre le projet à d'autres pays d'Afrique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643438" y="3944578"/>
            <a:ext cx="3986213" cy="867184"/>
          </a:xfrm>
          <a:prstGeom prst="roundRect">
            <a:avLst>
              <a:gd name="adj" fmla="val 175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4643438" y="3948150"/>
            <a:ext cx="3986213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626078" y="3944578"/>
            <a:ext cx="0" cy="867184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43438" y="4808190"/>
            <a:ext cx="3986213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54153" y="3944578"/>
            <a:ext cx="0" cy="867184"/>
          </a:xfrm>
          <a:prstGeom prst="line">
            <a:avLst/>
          </a:prstGeom>
          <a:noFill/>
          <a:ln w="21431">
            <a:solidFill>
              <a:srgbClr val="B8996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79169" y="4051734"/>
            <a:ext cx="33587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-16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À long terme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138008" y="4034732"/>
            <a:ext cx="384436" cy="184023"/>
          </a:xfrm>
          <a:prstGeom prst="roundRect">
            <a:avLst>
              <a:gd name="adj" fmla="val 5170807"/>
            </a:avLst>
          </a:prstGeom>
          <a:solidFill>
            <a:srgbClr val="B89968">
              <a:alpha val="12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8152247" y="4044590"/>
            <a:ext cx="35596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Vision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779169" y="4266047"/>
            <a:ext cx="3729038" cy="51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Avoir un historique de ses médicaments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Recevoir des rappels pour ses traitements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Travailler avec l'Ordre des Pharmaciens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857250" y="1428750"/>
            <a:ext cx="2143125" cy="2143125"/>
          </a:xfrm>
          <a:prstGeom prst="ellipse">
            <a:avLst/>
          </a:prstGeom>
          <a:solidFill>
            <a:srgbClr val="0F5132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01000" y="714375"/>
            <a:ext cx="1857375" cy="1857375"/>
          </a:xfrm>
          <a:prstGeom prst="ellipse">
            <a:avLst/>
          </a:prstGeom>
          <a:solidFill>
            <a:srgbClr val="B89968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448270"/>
            <a:ext cx="300038" cy="214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1538" y="400050"/>
            <a:ext cx="7618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SYNTHÈSE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665" y="40005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81665" y="400050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081702" y="417909"/>
            <a:ext cx="70137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MediTike</a:t>
            </a:r>
            <a:endParaRPr lang="en-US" sz="1013" dirty="0"/>
          </a:p>
        </p:txBody>
      </p:sp>
      <p:sp>
        <p:nvSpPr>
          <p:cNvPr id="9" name="Text 5"/>
          <p:cNvSpPr/>
          <p:nvPr/>
        </p:nvSpPr>
        <p:spPr>
          <a:xfrm>
            <a:off x="514350" y="728663"/>
            <a:ext cx="8115300" cy="314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spc="-43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Pourquoi MediTike est une bonne solution</a:t>
            </a:r>
            <a:endParaRPr lang="en-US" sz="2138" dirty="0"/>
          </a:p>
        </p:txBody>
      </p:sp>
      <p:sp>
        <p:nvSpPr>
          <p:cNvPr id="10" name="Text 6"/>
          <p:cNvSpPr/>
          <p:nvPr/>
        </p:nvSpPr>
        <p:spPr>
          <a:xfrm>
            <a:off x="514350" y="1070111"/>
            <a:ext cx="852106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6B7C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points forts</a:t>
            </a:r>
            <a:endParaRPr lang="en-US" sz="1125" dirty="0"/>
          </a:p>
        </p:txBody>
      </p:sp>
      <p:sp>
        <p:nvSpPr>
          <p:cNvPr id="11" name="Text 7"/>
          <p:cNvSpPr/>
          <p:nvPr/>
        </p:nvSpPr>
        <p:spPr>
          <a:xfrm>
            <a:off x="514350" y="1413011"/>
            <a:ext cx="1953816" cy="2858951"/>
          </a:xfrm>
          <a:prstGeom prst="roundRect">
            <a:avLst>
              <a:gd name="adj" fmla="val 78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14350" y="1427299"/>
            <a:ext cx="1953816" cy="0"/>
          </a:xfrm>
          <a:prstGeom prst="line">
            <a:avLst/>
          </a:prstGeom>
          <a:noFill/>
          <a:ln w="28575">
            <a:solidFill>
              <a:srgbClr val="0F513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464594" y="1413011"/>
            <a:ext cx="0" cy="2858951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14350" y="4268391"/>
            <a:ext cx="195381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17922" y="1413011"/>
            <a:ext cx="0" cy="2858951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94" y="1570174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584" y="1606964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828" dirty="0"/>
          </a:p>
        </p:txBody>
      </p:sp>
      <p:sp>
        <p:nvSpPr>
          <p:cNvPr id="18" name="Text 13"/>
          <p:cNvSpPr/>
          <p:nvPr/>
        </p:nvSpPr>
        <p:spPr>
          <a:xfrm>
            <a:off x="635794" y="2013086"/>
            <a:ext cx="17109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Utile</a:t>
            </a:r>
            <a:endParaRPr lang="en-US" sz="1238" dirty="0"/>
          </a:p>
        </p:txBody>
      </p:sp>
      <p:sp>
        <p:nvSpPr>
          <p:cNvPr id="19" name="Text 14"/>
          <p:cNvSpPr/>
          <p:nvPr/>
        </p:nvSpPr>
        <p:spPr>
          <a:xfrm>
            <a:off x="635794" y="2198824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POUR TOUT LE MONDE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635794" y="2402421"/>
            <a:ext cx="1710928" cy="173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Tout le monde a besoin d'un médicament un jour. MediTike aide les patients à trouver plus vite, et les pharmaciens à mieux servir leurs clients. Le problème est réel, la solution est concrète.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568178" y="1413011"/>
            <a:ext cx="1953816" cy="2858951"/>
          </a:xfrm>
          <a:prstGeom prst="roundRect">
            <a:avLst>
              <a:gd name="adj" fmla="val 78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2568178" y="1427299"/>
            <a:ext cx="1953816" cy="0"/>
          </a:xfrm>
          <a:prstGeom prst="line">
            <a:avLst/>
          </a:prstGeom>
          <a:noFill/>
          <a:ln w="28575">
            <a:solidFill>
              <a:srgbClr val="B8996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18422" y="1413011"/>
            <a:ext cx="0" cy="2858951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568178" y="4268391"/>
            <a:ext cx="195381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571750" y="1413011"/>
            <a:ext cx="0" cy="2858951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622" y="1570174"/>
            <a:ext cx="342900" cy="3429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726412" y="1606964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828" dirty="0"/>
          </a:p>
        </p:txBody>
      </p:sp>
      <p:sp>
        <p:nvSpPr>
          <p:cNvPr id="28" name="Text 22"/>
          <p:cNvSpPr/>
          <p:nvPr/>
        </p:nvSpPr>
        <p:spPr>
          <a:xfrm>
            <a:off x="2689622" y="2013086"/>
            <a:ext cx="17109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Réel</a:t>
            </a:r>
            <a:endParaRPr lang="en-US" sz="1238" dirty="0"/>
          </a:p>
        </p:txBody>
      </p:sp>
      <p:sp>
        <p:nvSpPr>
          <p:cNvPr id="29" name="Text 23"/>
          <p:cNvSpPr/>
          <p:nvPr/>
        </p:nvSpPr>
        <p:spPr>
          <a:xfrm>
            <a:off x="2689622" y="2198824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DÉJÀ EN SERVICE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2689622" y="2402421"/>
            <a:ext cx="1710928" cy="173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 n'est pas juste une idée sur papier. L'application fonctionne, elle est en ligne, et 1348 pharmacies de garde y sont déjà répertoriées. On peut l'utiliser dès aujourd'hui.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4622006" y="1413011"/>
            <a:ext cx="1953816" cy="2858951"/>
          </a:xfrm>
          <a:prstGeom prst="roundRect">
            <a:avLst>
              <a:gd name="adj" fmla="val 78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6"/>
          <p:cNvSpPr/>
          <p:nvPr/>
        </p:nvSpPr>
        <p:spPr>
          <a:xfrm>
            <a:off x="4622006" y="1427299"/>
            <a:ext cx="1953816" cy="0"/>
          </a:xfrm>
          <a:prstGeom prst="line">
            <a:avLst/>
          </a:prstGeom>
          <a:noFill/>
          <a:ln w="28575">
            <a:solidFill>
              <a:srgbClr val="0F5132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572250" y="1413011"/>
            <a:ext cx="0" cy="2858951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622006" y="4268391"/>
            <a:ext cx="195381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625578" y="1413011"/>
            <a:ext cx="0" cy="2858951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1570174"/>
            <a:ext cx="342900" cy="3429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780240" y="1606964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828" dirty="0"/>
          </a:p>
        </p:txBody>
      </p:sp>
      <p:sp>
        <p:nvSpPr>
          <p:cNvPr id="38" name="Text 31"/>
          <p:cNvSpPr/>
          <p:nvPr/>
        </p:nvSpPr>
        <p:spPr>
          <a:xfrm>
            <a:off x="4743450" y="2013086"/>
            <a:ext cx="17109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Bon pour la santé</a:t>
            </a:r>
            <a:endParaRPr lang="en-US" sz="1238" dirty="0"/>
          </a:p>
        </p:txBody>
      </p:sp>
      <p:sp>
        <p:nvSpPr>
          <p:cNvPr id="39" name="Text 32"/>
          <p:cNvSpPr/>
          <p:nvPr/>
        </p:nvSpPr>
        <p:spPr>
          <a:xfrm>
            <a:off x="4743450" y="2198824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 RÉEL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4743450" y="2402421"/>
            <a:ext cx="1710928" cy="173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Moins de temps perdu, c'est des traitements pris plus tôt. Surtout pour les maladies chroniques comme le diabète ou l'hypertension, où chaque heure compte.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6675834" y="1413011"/>
            <a:ext cx="1953816" cy="2858951"/>
          </a:xfrm>
          <a:prstGeom prst="roundRect">
            <a:avLst>
              <a:gd name="adj" fmla="val 78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5"/>
          <p:cNvSpPr/>
          <p:nvPr/>
        </p:nvSpPr>
        <p:spPr>
          <a:xfrm>
            <a:off x="6675834" y="1427299"/>
            <a:ext cx="1953816" cy="0"/>
          </a:xfrm>
          <a:prstGeom prst="line">
            <a:avLst/>
          </a:prstGeom>
          <a:noFill/>
          <a:ln w="28575">
            <a:solidFill>
              <a:srgbClr val="B89968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8626078" y="1413011"/>
            <a:ext cx="0" cy="2858951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675834" y="4268391"/>
            <a:ext cx="1953816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6679406" y="1413011"/>
            <a:ext cx="0" cy="2858951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7278" y="1570174"/>
            <a:ext cx="342900" cy="3429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6834068" y="1606964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48" name="Text 40"/>
          <p:cNvSpPr/>
          <p:nvPr/>
        </p:nvSpPr>
        <p:spPr>
          <a:xfrm>
            <a:off x="6797278" y="2013086"/>
            <a:ext cx="1710928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25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Bien fait</a:t>
            </a:r>
            <a:endParaRPr lang="en-US" sz="1238" dirty="0"/>
          </a:p>
        </p:txBody>
      </p:sp>
      <p:sp>
        <p:nvSpPr>
          <p:cNvPr id="49" name="Text 41"/>
          <p:cNvSpPr/>
          <p:nvPr/>
        </p:nvSpPr>
        <p:spPr>
          <a:xfrm>
            <a:off x="6797278" y="2198824"/>
            <a:ext cx="1710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SOBRE ET CLAIR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6797278" y="2402421"/>
            <a:ext cx="1710928" cy="173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design est simple et propre. C'est facile à utiliser, même pour quelqu'un qui n'est pas à l'aise avec les téléphones. Les couleurs rappellent le Togo sans en faire trop.</a:t>
            </a:r>
            <a:endParaRPr lang="en-US" sz="800" dirty="0"/>
          </a:p>
        </p:txBody>
      </p:sp>
      <p:sp>
        <p:nvSpPr>
          <p:cNvPr id="51" name="Text 43"/>
          <p:cNvSpPr/>
          <p:nvPr/>
        </p:nvSpPr>
        <p:spPr>
          <a:xfrm>
            <a:off x="514350" y="4371975"/>
            <a:ext cx="8115300" cy="371475"/>
          </a:xfrm>
          <a:prstGeom prst="roundRect">
            <a:avLst>
              <a:gd name="adj" fmla="val 410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44"/>
          <p:cNvSpPr/>
          <p:nvPr/>
        </p:nvSpPr>
        <p:spPr>
          <a:xfrm>
            <a:off x="514350" y="4375547"/>
            <a:ext cx="811530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8626078" y="4371975"/>
            <a:ext cx="0" cy="371475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514350" y="4739878"/>
            <a:ext cx="811530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528638" y="4371975"/>
            <a:ext cx="0" cy="371475"/>
          </a:xfrm>
          <a:prstGeom prst="line">
            <a:avLst/>
          </a:prstGeom>
          <a:noFill/>
          <a:ln w="28575">
            <a:solidFill>
              <a:srgbClr val="B89968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700088" y="447913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547" dirty="0"/>
          </a:p>
        </p:txBody>
      </p:sp>
      <p:sp>
        <p:nvSpPr>
          <p:cNvPr id="57" name="Text 49"/>
          <p:cNvSpPr/>
          <p:nvPr/>
        </p:nvSpPr>
        <p:spPr>
          <a:xfrm>
            <a:off x="942975" y="4482703"/>
            <a:ext cx="752236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i="1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MediTike, c'est l'idée simple de mettre les gens en contact avec les pharmacies, avec les moyens d'aujourd'hui. »</a:t>
            </a:r>
            <a:endParaRPr lang="en-US" sz="84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4925"/>
            <a:ext cx="9144000" cy="285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1285875" y="1000125"/>
            <a:ext cx="3143250" cy="3143250"/>
          </a:xfrm>
          <a:prstGeom prst="ellipse">
            <a:avLst/>
          </a:prstGeom>
          <a:solidFill>
            <a:srgbClr val="0F5132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286625" y="1000125"/>
            <a:ext cx="3143250" cy="3143250"/>
          </a:xfrm>
          <a:prstGeom prst="ellipse">
            <a:avLst/>
          </a:prstGeom>
          <a:solidFill>
            <a:srgbClr val="B89968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951" y="1165547"/>
            <a:ext cx="228600" cy="228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147951" y="116554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4371276" y="1183407"/>
            <a:ext cx="70137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MediTike</a:t>
            </a:r>
            <a:endParaRPr lang="en-US" sz="1013" dirty="0"/>
          </a:p>
        </p:txBody>
      </p:sp>
      <p:sp>
        <p:nvSpPr>
          <p:cNvPr id="9" name="Text 4"/>
          <p:cNvSpPr/>
          <p:nvPr/>
        </p:nvSpPr>
        <p:spPr>
          <a:xfrm>
            <a:off x="274320" y="1594172"/>
            <a:ext cx="8595248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35"/>
              </a:lnSpc>
              <a:buNone/>
            </a:pPr>
            <a:r>
              <a:rPr lang="en-US" sz="2700" b="1" spc="-54" kern="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Merci de votre attention</a:t>
            </a:r>
            <a:endParaRPr lang="en-US" sz="2700" dirty="0"/>
          </a:p>
        </p:txBody>
      </p:sp>
      <p:sp>
        <p:nvSpPr>
          <p:cNvPr id="10" name="Text 5"/>
          <p:cNvSpPr/>
          <p:nvPr/>
        </p:nvSpPr>
        <p:spPr>
          <a:xfrm>
            <a:off x="274320" y="2025588"/>
            <a:ext cx="8595248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MediTike — La santé à portée de main</a:t>
            </a:r>
            <a:endParaRPr lang="en-US" sz="1125" dirty="0"/>
          </a:p>
        </p:txBody>
      </p:sp>
      <p:sp>
        <p:nvSpPr>
          <p:cNvPr id="11" name="Text 6"/>
          <p:cNvSpPr/>
          <p:nvPr/>
        </p:nvSpPr>
        <p:spPr>
          <a:xfrm>
            <a:off x="1914525" y="23970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969" dirty="0"/>
          </a:p>
        </p:txBody>
      </p:sp>
      <p:sp>
        <p:nvSpPr>
          <p:cNvPr id="12" name="Text 7"/>
          <p:cNvSpPr/>
          <p:nvPr/>
        </p:nvSpPr>
        <p:spPr>
          <a:xfrm>
            <a:off x="2071688" y="2454213"/>
            <a:ext cx="5000625" cy="43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9"/>
              </a:lnSpc>
              <a:buNone/>
            </a:pPr>
            <a:r>
              <a:rPr lang="en-US" sz="1013" i="1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Avoir ses médicaments à temps, c'est un droit, pas un luxe. MediTike veut rendre ce droit plus simple pour tous les Togolais. »</a:t>
            </a:r>
            <a:endParaRPr lang="en-US" sz="1013" dirty="0"/>
          </a:p>
        </p:txBody>
      </p:sp>
      <p:sp>
        <p:nvSpPr>
          <p:cNvPr id="13" name="Text 8"/>
          <p:cNvSpPr/>
          <p:nvPr/>
        </p:nvSpPr>
        <p:spPr>
          <a:xfrm>
            <a:off x="2899023" y="309201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266" dirty="0"/>
          </a:p>
        </p:txBody>
      </p:sp>
      <p:sp>
        <p:nvSpPr>
          <p:cNvPr id="14" name="Text 9"/>
          <p:cNvSpPr/>
          <p:nvPr/>
        </p:nvSpPr>
        <p:spPr>
          <a:xfrm>
            <a:off x="2986297" y="3081300"/>
            <a:ext cx="9783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5F3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+228 96 41 72 70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3956554" y="308130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099620" y="309201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266" dirty="0"/>
          </a:p>
        </p:txBody>
      </p:sp>
      <p:sp>
        <p:nvSpPr>
          <p:cNvPr id="17" name="Text 12"/>
          <p:cNvSpPr/>
          <p:nvPr/>
        </p:nvSpPr>
        <p:spPr>
          <a:xfrm>
            <a:off x="4200978" y="3081300"/>
            <a:ext cx="11499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contact@meditike.tg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5356840" y="308130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5499906" y="309201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266" dirty="0"/>
          </a:p>
        </p:txBody>
      </p:sp>
      <p:sp>
        <p:nvSpPr>
          <p:cNvPr id="20" name="Text 15"/>
          <p:cNvSpPr/>
          <p:nvPr/>
        </p:nvSpPr>
        <p:spPr>
          <a:xfrm>
            <a:off x="5637541" y="3081300"/>
            <a:ext cx="6555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Lomé, Togo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867791" y="3432830"/>
            <a:ext cx="1174433" cy="268491"/>
          </a:xfrm>
          <a:prstGeom prst="roundRect">
            <a:avLst>
              <a:gd name="adj" fmla="val 3544057"/>
            </a:avLst>
          </a:prstGeom>
          <a:solidFill>
            <a:srgbClr val="F5F3EF">
              <a:alpha val="10000"/>
            </a:srgbClr>
          </a:solidFill>
          <a:ln w="7144">
            <a:solidFill>
              <a:srgbClr val="F5F3E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3154970" y="3517069"/>
            <a:ext cx="7429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D4B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togolaise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3012095" y="351706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84" dirty="0"/>
          </a:p>
        </p:txBody>
      </p:sp>
      <p:sp>
        <p:nvSpPr>
          <p:cNvPr id="24" name="Text 19"/>
          <p:cNvSpPr/>
          <p:nvPr/>
        </p:nvSpPr>
        <p:spPr>
          <a:xfrm>
            <a:off x="4067941" y="3432830"/>
            <a:ext cx="1098419" cy="268491"/>
          </a:xfrm>
          <a:prstGeom prst="roundRect">
            <a:avLst>
              <a:gd name="adj" fmla="val 3544057"/>
            </a:avLst>
          </a:prstGeom>
          <a:solidFill>
            <a:srgbClr val="F5F3EF">
              <a:alpha val="10000"/>
            </a:srgbClr>
          </a:solidFill>
          <a:ln w="7144">
            <a:solidFill>
              <a:srgbClr val="F5F3E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355120" y="3517069"/>
            <a:ext cx="66693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D4B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Projet individuel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212245" y="351706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984" dirty="0"/>
          </a:p>
        </p:txBody>
      </p:sp>
      <p:sp>
        <p:nvSpPr>
          <p:cNvPr id="27" name="Text 22"/>
          <p:cNvSpPr/>
          <p:nvPr/>
        </p:nvSpPr>
        <p:spPr>
          <a:xfrm>
            <a:off x="5192078" y="3432830"/>
            <a:ext cx="1084019" cy="268491"/>
          </a:xfrm>
          <a:prstGeom prst="roundRect">
            <a:avLst>
              <a:gd name="adj" fmla="val 3544057"/>
            </a:avLst>
          </a:prstGeom>
          <a:solidFill>
            <a:srgbClr val="F5F3EF">
              <a:alpha val="10000"/>
            </a:srgbClr>
          </a:solidFill>
          <a:ln w="7144">
            <a:solidFill>
              <a:srgbClr val="F5F3E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5479256" y="3517069"/>
            <a:ext cx="65253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D4B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Santé pour tous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5336381" y="351706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984" dirty="0"/>
          </a:p>
        </p:txBody>
      </p:sp>
      <p:sp>
        <p:nvSpPr>
          <p:cNvPr id="30" name="Text 25"/>
          <p:cNvSpPr/>
          <p:nvPr/>
        </p:nvSpPr>
        <p:spPr>
          <a:xfrm>
            <a:off x="3482690" y="387604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F5F3E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31" name="Text 26"/>
          <p:cNvSpPr/>
          <p:nvPr/>
        </p:nvSpPr>
        <p:spPr>
          <a:xfrm>
            <a:off x="3611277" y="3859969"/>
            <a:ext cx="20500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source : github.com/kennethafantsawo/MediTike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2026-07-05T23:43:55Z</dcterms:created>
  <dcterms:modified xsi:type="dcterms:W3CDTF">2026-07-05T23:43:55Z</dcterms:modified>
</cp:coreProperties>
</file>